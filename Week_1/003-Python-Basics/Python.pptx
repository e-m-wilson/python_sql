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Roboto"/>
      <p:regular r:id="rId76"/>
      <p:bold r:id="rId77"/>
      <p:italic r:id="rId78"/>
      <p:boldItalic r:id="rId79"/>
    </p:embeddedFont>
    <p:embeddedFont>
      <p:font typeface="Roboto Mono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8AFE3-7D0E-41A7-8BD2-033B97035924}">
  <a:tblStyle styleId="{60F8AFE3-7D0E-41A7-8BD2-033B970359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RobotoMono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Mono-regular.fntdata"/><Relationship Id="rId82" Type="http://schemas.openxmlformats.org/officeDocument/2006/relationships/font" Target="fonts/RobotoMono-italic.fntdata"/><Relationship Id="rId81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Roboto-bold.fntdata"/><Relationship Id="rId32" Type="http://schemas.openxmlformats.org/officeDocument/2006/relationships/slide" Target="slides/slide26.xml"/><Relationship Id="rId76" Type="http://schemas.openxmlformats.org/officeDocument/2006/relationships/font" Target="fonts/Roboto-regular.fntdata"/><Relationship Id="rId35" Type="http://schemas.openxmlformats.org/officeDocument/2006/relationships/slide" Target="slides/slide29.xml"/><Relationship Id="rId79" Type="http://schemas.openxmlformats.org/officeDocument/2006/relationships/font" Target="fonts/Roboto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095174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095174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90951741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9095174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095174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9095174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62d7c206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962d7c206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095174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9095174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3dbf586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93dbf586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038acd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038acd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038acd2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7038acd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2cd79c1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2cd79c1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72cd79c1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72cd79c1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3dbf5868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93dbf586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2cd79c1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2cd79c1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962d7c206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962d7c206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72cd79c1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72cd79c1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2cd79c1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2cd79c1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962d7c2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962d7c2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c23204a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8c23204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038acd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038acd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90951741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90951741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72cd79c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72cd79c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962d7c206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962d7c206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962d7c206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962d7c206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962d7c206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962d7c206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962d7c206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962d7c206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858363c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858363c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858363c2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858363c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858363c2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858363c2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858363c2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858363c2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858363c2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b858363c2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858363c2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858363c2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858363c2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858363c2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858363c2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858363c2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858363c2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858363c2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962d7c206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962d7c206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72cd79c1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72cd79c1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72cd79c1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72cd79c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72cd79c1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72cd79c1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72cd79c1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72cd79c1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72cd79c1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72cd79c1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9095174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9095174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858363c2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858363c2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962d7c206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962d7c206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72cd79c1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72cd79c1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858363c2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858363c2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858363c2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b858363c2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858363c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858363c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858363c2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b858363c2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858363c2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b858363c2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858363c2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858363c2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8c23204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b8c23204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8c23204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8c23204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8c23204a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8c23204a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b962d7c20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b962d7c20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962d7c20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b962d7c20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962d7c206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b962d7c206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962d7c206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962d7c206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962d7c206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b962d7c206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962d7c206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b962d7c206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962d7c206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b962d7c206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962d7c206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962d7c206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962d7c206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962d7c206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962d7c206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962d7c20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962d7c206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b962d7c206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962d7c206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b962d7c206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962d7c206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962d7c206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47.png"/><Relationship Id="rId5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Relationship Id="rId4" Type="http://schemas.openxmlformats.org/officeDocument/2006/relationships/image" Target="../media/image74.png"/><Relationship Id="rId5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Relationship Id="rId4" Type="http://schemas.openxmlformats.org/officeDocument/2006/relationships/image" Target="../media/image63.png"/><Relationship Id="rId5" Type="http://schemas.openxmlformats.org/officeDocument/2006/relationships/image" Target="../media/image67.png"/><Relationship Id="rId6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Relationship Id="rId5" Type="http://schemas.openxmlformats.org/officeDocument/2006/relationships/image" Target="../media/image66.png"/><Relationship Id="rId6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Relationship Id="rId4" Type="http://schemas.openxmlformats.org/officeDocument/2006/relationships/image" Target="../media/image71.png"/><Relationship Id="rId5" Type="http://schemas.openxmlformats.org/officeDocument/2006/relationships/image" Target="../media/image78.png"/><Relationship Id="rId6" Type="http://schemas.openxmlformats.org/officeDocument/2006/relationships/image" Target="../media/image6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1.png"/><Relationship Id="rId4" Type="http://schemas.openxmlformats.org/officeDocument/2006/relationships/image" Target="../media/image60.png"/><Relationship Id="rId5" Type="http://schemas.openxmlformats.org/officeDocument/2006/relationships/image" Target="../media/image7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9.png"/><Relationship Id="rId4" Type="http://schemas.openxmlformats.org/officeDocument/2006/relationships/image" Target="../media/image73.png"/><Relationship Id="rId5" Type="http://schemas.openxmlformats.org/officeDocument/2006/relationships/image" Target="../media/image75.png"/><Relationship Id="rId6" Type="http://schemas.openxmlformats.org/officeDocument/2006/relationships/image" Target="../media/image80.png"/><Relationship Id="rId7" Type="http://schemas.openxmlformats.org/officeDocument/2006/relationships/image" Target="../media/image7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6.png"/><Relationship Id="rId4" Type="http://schemas.openxmlformats.org/officeDocument/2006/relationships/image" Target="../media/image82.png"/><Relationship Id="rId5" Type="http://schemas.openxmlformats.org/officeDocument/2006/relationships/image" Target="../media/image85.png"/><Relationship Id="rId6" Type="http://schemas.openxmlformats.org/officeDocument/2006/relationships/image" Target="../media/image9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1.png"/><Relationship Id="rId4" Type="http://schemas.openxmlformats.org/officeDocument/2006/relationships/image" Target="../media/image83.png"/><Relationship Id="rId5" Type="http://schemas.openxmlformats.org/officeDocument/2006/relationships/image" Target="../media/image8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4.png"/><Relationship Id="rId4" Type="http://schemas.openxmlformats.org/officeDocument/2006/relationships/image" Target="../media/image10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6.png"/><Relationship Id="rId4" Type="http://schemas.openxmlformats.org/officeDocument/2006/relationships/image" Target="../media/image94.png"/><Relationship Id="rId5" Type="http://schemas.openxmlformats.org/officeDocument/2006/relationships/image" Target="../media/image87.png"/><Relationship Id="rId6" Type="http://schemas.openxmlformats.org/officeDocument/2006/relationships/image" Target="../media/image104.png"/><Relationship Id="rId7" Type="http://schemas.openxmlformats.org/officeDocument/2006/relationships/image" Target="../media/image9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0.png"/><Relationship Id="rId4" Type="http://schemas.openxmlformats.org/officeDocument/2006/relationships/image" Target="../media/image88.png"/><Relationship Id="rId5" Type="http://schemas.openxmlformats.org/officeDocument/2006/relationships/image" Target="../media/image99.png"/><Relationship Id="rId6" Type="http://schemas.openxmlformats.org/officeDocument/2006/relationships/image" Target="../media/image9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118.png"/><Relationship Id="rId7" Type="http://schemas.openxmlformats.org/officeDocument/2006/relationships/image" Target="../media/image109.png"/><Relationship Id="rId8" Type="http://schemas.openxmlformats.org/officeDocument/2006/relationships/image" Target="../media/image10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6.png"/><Relationship Id="rId4" Type="http://schemas.openxmlformats.org/officeDocument/2006/relationships/image" Target="../media/image117.png"/><Relationship Id="rId5" Type="http://schemas.openxmlformats.org/officeDocument/2006/relationships/image" Target="../media/image98.png"/><Relationship Id="rId6" Type="http://schemas.openxmlformats.org/officeDocument/2006/relationships/image" Target="../media/image10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8.png"/><Relationship Id="rId4" Type="http://schemas.openxmlformats.org/officeDocument/2006/relationships/image" Target="../media/image123.png"/><Relationship Id="rId5" Type="http://schemas.openxmlformats.org/officeDocument/2006/relationships/image" Target="../media/image107.png"/><Relationship Id="rId6" Type="http://schemas.openxmlformats.org/officeDocument/2006/relationships/image" Target="../media/image1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4.png"/><Relationship Id="rId4" Type="http://schemas.openxmlformats.org/officeDocument/2006/relationships/image" Target="../media/image131.png"/><Relationship Id="rId5" Type="http://schemas.openxmlformats.org/officeDocument/2006/relationships/image" Target="../media/image12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0.png"/><Relationship Id="rId4" Type="http://schemas.openxmlformats.org/officeDocument/2006/relationships/image" Target="../media/image113.png"/><Relationship Id="rId5" Type="http://schemas.openxmlformats.org/officeDocument/2006/relationships/image" Target="../media/image115.png"/><Relationship Id="rId6" Type="http://schemas.openxmlformats.org/officeDocument/2006/relationships/image" Target="../media/image1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5.png"/><Relationship Id="rId4" Type="http://schemas.openxmlformats.org/officeDocument/2006/relationships/image" Target="../media/image1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9.png"/><Relationship Id="rId4" Type="http://schemas.openxmlformats.org/officeDocument/2006/relationships/image" Target="../media/image13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4.png"/><Relationship Id="rId4" Type="http://schemas.openxmlformats.org/officeDocument/2006/relationships/image" Target="../media/image13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www.w3schools.com/python/python_lists_methods.asp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7.png"/><Relationship Id="rId4" Type="http://schemas.openxmlformats.org/officeDocument/2006/relationships/image" Target="../media/image14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5.png"/><Relationship Id="rId4" Type="http://schemas.openxmlformats.org/officeDocument/2006/relationships/image" Target="../media/image126.png"/><Relationship Id="rId5" Type="http://schemas.openxmlformats.org/officeDocument/2006/relationships/image" Target="../media/image13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41.png"/><Relationship Id="rId4" Type="http://schemas.openxmlformats.org/officeDocument/2006/relationships/image" Target="../media/image140.png"/><Relationship Id="rId5" Type="http://schemas.openxmlformats.org/officeDocument/2006/relationships/image" Target="../media/image129.png"/><Relationship Id="rId6" Type="http://schemas.openxmlformats.org/officeDocument/2006/relationships/image" Target="../media/image144.png"/><Relationship Id="rId7" Type="http://schemas.openxmlformats.org/officeDocument/2006/relationships/image" Target="../media/image14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www.w3schools.com/python/python_sets_join.asp" TargetMode="External"/><Relationship Id="rId4" Type="http://schemas.openxmlformats.org/officeDocument/2006/relationships/hyperlink" Target="https://www.w3schools.com/python/python_frozenset.asp" TargetMode="External"/><Relationship Id="rId5" Type="http://schemas.openxmlformats.org/officeDocument/2006/relationships/hyperlink" Target="https://www.w3schools.com/python/python_sets_method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40400" y="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Required Software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PyCharm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VSCode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4" y="1638825"/>
            <a:ext cx="2198050" cy="18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775" y="2123375"/>
            <a:ext cx="3042500" cy="6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260" y="3090773"/>
            <a:ext cx="2983575" cy="15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60950" y="4502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VSCode Settings/Plugins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59000" y="1688625"/>
            <a:ext cx="4100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 + Pylance - language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Jupyter - 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Black Formatter - follow consistent standard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Isort - organize imports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flake8/pylint/ruff - linting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 test explorer - unit test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Live Share - collaborative editing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000" y="1801500"/>
            <a:ext cx="33432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000" y="3829450"/>
            <a:ext cx="334327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Python?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Interpreted language - code is executed line by line, no compilation step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High-level language - abstracts away low-level memory management, hardware details, garbage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Dynamically </a:t>
            </a:r>
            <a:r>
              <a:rPr lang="en"/>
              <a:t>typed - variables do not require type declarations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Cross-platform - runs on windows, macOS, linux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Object-oriented - supports classes, objects, inheritance, etc.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the Hood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Python</a:t>
            </a:r>
            <a:r>
              <a:rPr lang="en"/>
              <a:t> code (.py files) are compiled into bytecode (NOT machine code) by CPython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bytecode is then interpreted and </a:t>
            </a:r>
            <a:r>
              <a:rPr lang="en"/>
              <a:t>executed</a:t>
            </a:r>
            <a:r>
              <a:rPr lang="en"/>
              <a:t> by the Python Virtual Machine (PVM) inside CPython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60950" y="5169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Environments, py, &amp; Interactive Mode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2251800"/>
            <a:ext cx="3718200" cy="4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to use powershell!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3" y="2457775"/>
            <a:ext cx="3552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" y="3217975"/>
            <a:ext cx="83439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2963" y="1992200"/>
            <a:ext cx="33909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venv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475" y="2504663"/>
            <a:ext cx="5314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900" y="3626925"/>
            <a:ext cx="6688105" cy="4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1925475" y="1987625"/>
            <a:ext cx="50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Create a virtual environment for our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app: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238900" y="3110275"/>
            <a:ext cx="60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Make sure to activate, and then check for pip updates: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1483500" y="4357050"/>
            <a:ext cx="61770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Some may need to allow scripts to run these commands: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150" y="4851050"/>
            <a:ext cx="82296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&amp; Jupyter setup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1713"/>
            <a:ext cx="8839200" cy="21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350" y="2630123"/>
            <a:ext cx="23526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63" y="3380025"/>
            <a:ext cx="8512164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7850" y="3875950"/>
            <a:ext cx="54483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834750" y="2547913"/>
            <a:ext cx="6688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Packages may also be </a:t>
            </a: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installed</a:t>
            </a: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via text file on each new line: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Here we connect our venv to serve as the kernel for jupyter: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713750" y="1800025"/>
            <a:ext cx="57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install packages with pip (‘pip installs packages):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Create a Jupyter notebook for learning</a:t>
            </a:r>
            <a:endParaRPr sz="1400"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	~10 min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Create a project folder and initialize it as a git repo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Initialize a venv inside the project folder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Install the following packages to the venv: jupyter, ipykernel, numpy, pandas, matplotlib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Associate the venv with jupyter and launch your notebook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Strings, Print, Input, &amp; Comments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8" y="2634450"/>
            <a:ext cx="9034925" cy="9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1332750" y="3900950"/>
            <a:ext cx="647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Strings are valid with both single and double quotes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can start a new line with the escape character ‘\’ + ‘n’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&amp; len()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372" y="2361250"/>
            <a:ext cx="7105250" cy="11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825" y="3964350"/>
            <a:ext cx="5312475" cy="94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3010375" y="3512100"/>
            <a:ext cx="3725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is case-sensitive: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676513" y="1769525"/>
            <a:ext cx="39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Variables are dynamically typed: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variables &amp; Case Conventions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Must start with a letter or underscore character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alphanumeric symbols and underscores are valid: (A-z, 0-9, and _ 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Camel Case (rarely used convention in Python):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myVariable = ‘John’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Pascal Case (used for Python class names):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MyVariable = ‘John’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Snake Case (most common in Python; used for almost everything not a class):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</a:t>
            </a:r>
            <a:r>
              <a:rPr lang="en" sz="1600"/>
              <a:t>m</a:t>
            </a:r>
            <a:r>
              <a:rPr lang="en" sz="1600"/>
              <a:t>y_variable_name = ‘John’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Kebab Case (never or rarely used in </a:t>
            </a:r>
            <a:r>
              <a:rPr lang="en" sz="1600"/>
              <a:t>python)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My-variable-name = ‘John’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Continued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5757325" y="1919075"/>
            <a:ext cx="2936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assign multiple </a:t>
            </a:r>
            <a:r>
              <a:rPr lang="en"/>
              <a:t>variables</a:t>
            </a:r>
            <a:r>
              <a:rPr lang="en"/>
              <a:t> at once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also assign them the same value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25" y="2093675"/>
            <a:ext cx="4642225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150" y="2811525"/>
            <a:ext cx="3971550" cy="5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Ask a user for their info and print it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Tip: Use the title() method to format names:</a:t>
            </a:r>
            <a:endParaRPr sz="1400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	~10 min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Ask the user for their full name, birthday, &amp; email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Store the data in variables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Print the information back to the console, on a new line for each item</a:t>
            </a:r>
            <a:endParaRPr sz="14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00" y="3676850"/>
            <a:ext cx="2400436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&amp; Variable Scope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87750" y="1856375"/>
            <a:ext cx="89685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are defined with the ‘def’ keyword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Variables outside of functions have Global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Variables inside functions have Local scope, unless the global keyword is used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50" y="3121900"/>
            <a:ext cx="6538751" cy="18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7151" y="3121888"/>
            <a:ext cx="14668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Scope &amp; Enclosing (nonlocal) Scope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238100" y="2013025"/>
            <a:ext cx="4266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Scope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OOB methods/keywords provided by Python: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len()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print()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str()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4572000" y="2013025"/>
            <a:ext cx="2519700" cy="27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Enclosing Scope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Inner functions have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Can’t override unless we use nonlocal keyword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650" y="2229475"/>
            <a:ext cx="1588575" cy="2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r>
              <a:rPr lang="en"/>
              <a:t> take in and return data</a:t>
            </a: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275" y="2032199"/>
            <a:ext cx="5705375" cy="23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Placeholder Functions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471900" y="1919075"/>
            <a:ext cx="3128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can’t be empty, but we can create placeholder functions using the ‘pass’ keyword!</a:t>
            </a: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09725"/>
            <a:ext cx="2758175" cy="8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Refactor previous challenge</a:t>
            </a:r>
            <a:endParaRPr sz="1400"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	~10 min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In a function: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Ask the user for their full name, birthday, &amp; email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Store the data in variables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Print the information back to the console, on a new line for each item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naming conventions…</a:t>
            </a:r>
            <a:endParaRPr/>
          </a:p>
        </p:txBody>
      </p:sp>
      <p:graphicFrame>
        <p:nvGraphicFramePr>
          <p:cNvPr id="214" name="Google Shape;214;p32"/>
          <p:cNvGraphicFramePr/>
          <p:nvPr/>
        </p:nvGraphicFramePr>
        <p:xfrm>
          <a:off x="819150" y="180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{60F8AFE3-7D0E-41A7-8BD2-033B97035924}</a:tableStyleId>
              </a:tblPr>
              <a:tblGrid>
                <a:gridCol w="2244475"/>
                <a:gridCol w="2799550"/>
                <a:gridCol w="2461675"/>
              </a:tblGrid>
              <a:tr h="282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Item</a:t>
                      </a:r>
                      <a:endParaRPr b="1"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Convention</a:t>
                      </a:r>
                      <a:endParaRPr b="1"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Example</a:t>
                      </a:r>
                      <a:endParaRPr b="1" sz="1300"/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Variable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user_name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Function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get_user()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Constant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UPPER_SNAKE_CASE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MAX_SIZE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Class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PascalCase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UserService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Method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save()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Attribute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created_at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Private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_cache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Strong private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__state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Module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snake_case.py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email_utils.py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Package</a:t>
                      </a:r>
                      <a:endParaRPr sz="1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snake_case/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data_access/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idx="2" type="body"/>
          </p:nvPr>
        </p:nvSpPr>
        <p:spPr>
          <a:xfrm>
            <a:off x="4939500" y="38225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Types</a:t>
            </a:r>
            <a:endParaRPr sz="32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</a:t>
            </a:r>
            <a:r>
              <a:rPr lang="en" sz="1600"/>
              <a:t>tr = string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</a:t>
            </a:r>
            <a:r>
              <a:rPr lang="en" sz="1600"/>
              <a:t>nt = integer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f</a:t>
            </a:r>
            <a:r>
              <a:rPr lang="en" sz="1600"/>
              <a:t>loat = decimals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</a:t>
            </a:r>
            <a:r>
              <a:rPr lang="en" sz="1600"/>
              <a:t>ool = boolean true/false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None = NoneType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(These are examples of </a:t>
            </a:r>
            <a:r>
              <a:rPr lang="en" sz="1600">
                <a:solidFill>
                  <a:schemeClr val="accent6"/>
                </a:solidFill>
              </a:rPr>
              <a:t>Primitive </a:t>
            </a:r>
            <a:r>
              <a:rPr lang="en" sz="1600"/>
              <a:t>data types, there are many more)</a:t>
            </a:r>
            <a:endParaRPr sz="1600"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026" y="4241475"/>
            <a:ext cx="12096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675" y="308138"/>
            <a:ext cx="1957396" cy="452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183425" y="5004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Each Type</a:t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800" y="194425"/>
            <a:ext cx="5059074" cy="47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813" y="3351400"/>
            <a:ext cx="2270925" cy="12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332825" y="2169975"/>
            <a:ext cx="30789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You can also use constructor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functions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to define the type explicitly: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Hinting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636525" y="2465238"/>
            <a:ext cx="42648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Type hinting does NOT enforce the type at runtime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It’s for: linters (mypy, pyright), IDEs, readability</a:t>
            </a:r>
            <a:endParaRPr/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563" y="1842313"/>
            <a:ext cx="17335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425" y="2940850"/>
            <a:ext cx="24098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1875" y="3572650"/>
            <a:ext cx="1990950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1050" y="4167150"/>
            <a:ext cx="175260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Conversion - Casting</a:t>
            </a:r>
            <a:endParaRPr/>
          </a:p>
        </p:txBody>
      </p:sp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471900" y="2445900"/>
            <a:ext cx="3554400" cy="19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convert a float to an int, data loss can occur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cannot convert complex numbers into another datatype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275" y="1905000"/>
            <a:ext cx="42005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8538" y="3829900"/>
            <a:ext cx="3762000" cy="6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500" y="2170975"/>
            <a:ext cx="2214075" cy="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800" y="1845875"/>
            <a:ext cx="2481350" cy="17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305" y="3940275"/>
            <a:ext cx="4299119" cy="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</a:t>
            </a:r>
            <a:endParaRPr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471900" y="1919075"/>
            <a:ext cx="3384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‘_’ will always match, so place it at the end!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match multiple conditions at once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</a:t>
            </a:r>
            <a:r>
              <a:rPr lang="en"/>
              <a:t>optionally include an if condition as an extra condition check</a:t>
            </a:r>
            <a:endParaRPr/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275" y="1883562"/>
            <a:ext cx="2688375" cy="13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149" y="3283025"/>
            <a:ext cx="2688375" cy="16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Loops</a:t>
            </a:r>
            <a:endParaRPr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2290050"/>
            <a:ext cx="16192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825" y="2356725"/>
            <a:ext cx="16287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450" y="2413887"/>
            <a:ext cx="3696100" cy="16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9"/>
          <p:cNvSpPr txBox="1"/>
          <p:nvPr/>
        </p:nvSpPr>
        <p:spPr>
          <a:xfrm>
            <a:off x="2283875" y="1788900"/>
            <a:ext cx="47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What is the output of the following: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Loops</a:t>
            </a:r>
            <a:endParaRPr/>
          </a:p>
        </p:txBody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471900" y="1919075"/>
            <a:ext cx="3822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for loops to iterate over lists, tuples, dictionaries, sets, or strings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loops may be nested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Break/Continue is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range() to iterate a certain number of times, or by a sequence</a:t>
            </a:r>
            <a:endParaRPr/>
          </a:p>
        </p:txBody>
      </p:sp>
      <p:pic>
        <p:nvPicPr>
          <p:cNvPr id="279" name="Google Shape;27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925" y="1896184"/>
            <a:ext cx="3103800" cy="1351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425" y="3466400"/>
            <a:ext cx="1428800" cy="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7763" y="4109375"/>
            <a:ext cx="1902137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Behavior &amp; If Statements</a:t>
            </a:r>
            <a:endParaRPr/>
          </a:p>
        </p:txBody>
      </p:sp>
      <p:pic>
        <p:nvPicPr>
          <p:cNvPr id="287" name="Google Shape;28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13" y="2071700"/>
            <a:ext cx="3400000" cy="18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063" y="4194325"/>
            <a:ext cx="1666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 txBox="1"/>
          <p:nvPr/>
        </p:nvSpPr>
        <p:spPr>
          <a:xfrm>
            <a:off x="4572000" y="2414600"/>
            <a:ext cx="4429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Logical evaluations will return a boolean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statements use evaluations to route logic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bool() constructor will make an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evaluation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of whatever is passed to it (The example returns ‘true’ for both)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Falsy Values</a:t>
            </a:r>
            <a:endParaRPr/>
          </a:p>
        </p:txBody>
      </p:sp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print(bool(False))   # bool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print(bool(None))    # NoneType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print(bool(0))       # int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print(bool(""))      # str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print(bool(()))      # tuple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print(bool([]))      # list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print(bool({}))      # dict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</a:t>
            </a:r>
            <a:endParaRPr/>
          </a:p>
        </p:txBody>
      </p:sp>
      <p:pic>
        <p:nvPicPr>
          <p:cNvPr id="301" name="Google Shape;3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50" y="1773125"/>
            <a:ext cx="58293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3"/>
          <p:cNvSpPr txBox="1"/>
          <p:nvPr/>
        </p:nvSpPr>
        <p:spPr>
          <a:xfrm>
            <a:off x="6657975" y="3018163"/>
            <a:ext cx="220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/ = returns float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// = returns integer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Operators</a:t>
            </a:r>
            <a:endParaRPr/>
          </a:p>
        </p:txBody>
      </p:sp>
      <p:pic>
        <p:nvPicPr>
          <p:cNvPr id="308" name="Google Shape;3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75" y="1897350"/>
            <a:ext cx="4186100" cy="28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425" y="2302161"/>
            <a:ext cx="4639626" cy="17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/>
        </p:nvSpPr>
        <p:spPr>
          <a:xfrm flipH="1">
            <a:off x="4572000" y="4034575"/>
            <a:ext cx="4357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“:=” = python 3 walrus operator. It can accept an evaluation!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Operator</a:t>
            </a:r>
            <a:endParaRPr/>
          </a:p>
        </p:txBody>
      </p:sp>
      <p:pic>
        <p:nvPicPr>
          <p:cNvPr id="316" name="Google Shape;31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1987425"/>
            <a:ext cx="58102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875" y="2019300"/>
            <a:ext cx="19621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5"/>
          <p:cNvSpPr txBox="1"/>
          <p:nvPr/>
        </p:nvSpPr>
        <p:spPr>
          <a:xfrm>
            <a:off x="6572250" y="3557600"/>
            <a:ext cx="24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may chain them!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Operators</a:t>
            </a:r>
            <a:endParaRPr/>
          </a:p>
        </p:txBody>
      </p:sp>
      <p:pic>
        <p:nvPicPr>
          <p:cNvPr id="324" name="Google Shape;3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13" y="2173175"/>
            <a:ext cx="66579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Operators</a:t>
            </a:r>
            <a:endParaRPr/>
          </a:p>
        </p:txBody>
      </p:sp>
      <p:pic>
        <p:nvPicPr>
          <p:cNvPr id="330" name="Google Shape;3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00" y="1873125"/>
            <a:ext cx="58578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75" y="3782875"/>
            <a:ext cx="1098892" cy="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813" y="3965500"/>
            <a:ext cx="56197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Membership Operators</a:t>
            </a:r>
            <a:endParaRPr/>
          </a:p>
        </p:txBody>
      </p:sp>
      <p:pic>
        <p:nvPicPr>
          <p:cNvPr id="338" name="Google Shape;3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438" y="1723113"/>
            <a:ext cx="59150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950" y="3607900"/>
            <a:ext cx="30670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4475" y="4396075"/>
            <a:ext cx="3048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0" y="3701938"/>
            <a:ext cx="18478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Precedence</a:t>
            </a:r>
            <a:endParaRPr/>
          </a:p>
        </p:txBody>
      </p:sp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1357525" y="3004588"/>
            <a:ext cx="34572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Remember PEMDAS?</a:t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175" y="1830875"/>
            <a:ext cx="2882225" cy="315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354" name="Google Shape;354;p50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PyCharm challenges</a:t>
            </a:r>
            <a:endParaRPr sz="1400"/>
          </a:p>
        </p:txBody>
      </p:sp>
      <p:sp>
        <p:nvSpPr>
          <p:cNvPr id="355" name="Google Shape;355;p50"/>
          <p:cNvSpPr txBox="1"/>
          <p:nvPr>
            <p:ph idx="1" type="body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~45-60 min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Complete the following in the 100 Days of Code PyCharm course: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1 (All tasks)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2 (All tasks)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3 (All tasks)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Quoteception, escape characters, &amp; Multi-Line Strings</a:t>
            </a:r>
            <a:endParaRPr/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450" y="2988413"/>
            <a:ext cx="29241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800" y="2983638"/>
            <a:ext cx="29622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2325" y="1824650"/>
            <a:ext cx="24193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2675" y="2414588"/>
            <a:ext cx="44386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 contents of a string</a:t>
            </a:r>
            <a:endParaRPr/>
          </a:p>
        </p:txBody>
      </p:sp>
      <p:pic>
        <p:nvPicPr>
          <p:cNvPr id="370" name="Google Shape;37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775" y="2084650"/>
            <a:ext cx="33623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650" y="3186763"/>
            <a:ext cx="33147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600" y="2608538"/>
            <a:ext cx="75680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8600" y="3765009"/>
            <a:ext cx="756800" cy="336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Strings</a:t>
            </a:r>
            <a:endParaRPr/>
          </a:p>
        </p:txBody>
      </p:sp>
      <p:sp>
        <p:nvSpPr>
          <p:cNvPr id="379" name="Google Shape;379;p53"/>
          <p:cNvSpPr txBox="1"/>
          <p:nvPr>
            <p:ph idx="1" type="body"/>
          </p:nvPr>
        </p:nvSpPr>
        <p:spPr>
          <a:xfrm>
            <a:off x="551825" y="3086650"/>
            <a:ext cx="1760700" cy="11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‘llo’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 inclusive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5 exclusive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00" y="2423950"/>
            <a:ext cx="15811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425" y="2428713"/>
            <a:ext cx="16192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600" y="3526100"/>
            <a:ext cx="16668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5207250" y="2428725"/>
            <a:ext cx="3610500" cy="11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from the start: ‘Hello’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Or from the end: ‘llo, World!’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String Methods</a:t>
            </a:r>
            <a:endParaRPr/>
          </a:p>
        </p:txBody>
      </p:sp>
      <p:sp>
        <p:nvSpPr>
          <p:cNvPr id="389" name="Google Shape;389;p54"/>
          <p:cNvSpPr txBox="1"/>
          <p:nvPr>
            <p:ph idx="1" type="body"/>
          </p:nvPr>
        </p:nvSpPr>
        <p:spPr>
          <a:xfrm>
            <a:off x="4435550" y="1981775"/>
            <a:ext cx="4319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Force upper/lower case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whitespace at the </a:t>
            </a:r>
            <a:r>
              <a:rPr lang="en"/>
              <a:t>beginning</a:t>
            </a:r>
            <a:r>
              <a:rPr lang="en"/>
              <a:t>/end of strings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every piece of matching text content with another 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a list of split strings</a:t>
            </a:r>
            <a:endParaRPr/>
          </a:p>
        </p:txBody>
      </p:sp>
      <p:pic>
        <p:nvPicPr>
          <p:cNvPr id="390" name="Google Shape;3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213" y="2042125"/>
            <a:ext cx="1638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800" y="2571750"/>
            <a:ext cx="1581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400" y="3035025"/>
            <a:ext cx="3409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2050" y="3539075"/>
            <a:ext cx="1926627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450" y="4029375"/>
            <a:ext cx="3529813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F-Strings</a:t>
            </a:r>
            <a:endParaRPr/>
          </a:p>
        </p:txBody>
      </p:sp>
      <p:sp>
        <p:nvSpPr>
          <p:cNvPr id="400" name="Google Shape;400;p55"/>
          <p:cNvSpPr txBox="1"/>
          <p:nvPr>
            <p:ph idx="1" type="body"/>
          </p:nvPr>
        </p:nvSpPr>
        <p:spPr>
          <a:xfrm>
            <a:off x="471900" y="1919075"/>
            <a:ext cx="3529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Formatted</a:t>
            </a:r>
            <a:r>
              <a:rPr lang="en"/>
              <a:t> String literals were introduced in Python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Dynamically assign values in strings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 </a:t>
            </a:r>
            <a:r>
              <a:rPr lang="en"/>
              <a:t>evaluations</a:t>
            </a:r>
            <a:r>
              <a:rPr lang="en"/>
              <a:t> &amp; format data</a:t>
            </a:r>
            <a:endParaRPr/>
          </a:p>
        </p:txBody>
      </p:sp>
      <p:pic>
        <p:nvPicPr>
          <p:cNvPr id="401" name="Google Shape;40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68575"/>
            <a:ext cx="29337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0575" y="2698050"/>
            <a:ext cx="28765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738" y="3408450"/>
            <a:ext cx="3324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6750" y="4219700"/>
            <a:ext cx="312420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R-Strings</a:t>
            </a:r>
            <a:endParaRPr/>
          </a:p>
        </p:txBody>
      </p:sp>
      <p:sp>
        <p:nvSpPr>
          <p:cNvPr id="410" name="Google Shape;410;p56"/>
          <p:cNvSpPr txBox="1"/>
          <p:nvPr>
            <p:ph idx="1" type="body"/>
          </p:nvPr>
        </p:nvSpPr>
        <p:spPr>
          <a:xfrm>
            <a:off x="1953750" y="2087850"/>
            <a:ext cx="5258400" cy="4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Raw strings will force the string to behave literally:</a:t>
            </a:r>
            <a:endParaRPr/>
          </a:p>
        </p:txBody>
      </p:sp>
      <p:pic>
        <p:nvPicPr>
          <p:cNvPr id="411" name="Google Shape;41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25" y="2878850"/>
            <a:ext cx="40957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Method Reference</a:t>
            </a:r>
            <a:endParaRPr/>
          </a:p>
        </p:txBody>
      </p:sp>
      <p:sp>
        <p:nvSpPr>
          <p:cNvPr id="417" name="Google Shape;417;p57"/>
          <p:cNvSpPr txBox="1"/>
          <p:nvPr/>
        </p:nvSpPr>
        <p:spPr>
          <a:xfrm>
            <a:off x="3082950" y="4587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https://www.w3schools.com/python/python_strings_methods.asp</a:t>
            </a:r>
            <a:endParaRPr/>
          </a:p>
        </p:txBody>
      </p:sp>
      <p:pic>
        <p:nvPicPr>
          <p:cNvPr id="418" name="Google Shape;4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5" y="1832639"/>
            <a:ext cx="3873975" cy="265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000" y="1904462"/>
            <a:ext cx="2306075" cy="25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850" y="1904450"/>
            <a:ext cx="2538125" cy="23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426" name="Google Shape;426;p58"/>
          <p:cNvSpPr txBox="1"/>
          <p:nvPr>
            <p:ph idx="1" type="body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Format a string value</a:t>
            </a:r>
            <a:endParaRPr sz="1400"/>
          </a:p>
        </p:txBody>
      </p:sp>
      <p:sp>
        <p:nvSpPr>
          <p:cNvPr id="427" name="Google Shape;427;p58"/>
          <p:cNvSpPr txBox="1"/>
          <p:nvPr>
            <p:ph idx="1" type="body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Details:				~25 min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Given the username: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‘raw_username = "  Py_Thon-ROCKS123!!!  "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Do the following: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Remove whitespace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Convert to all lowercase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Replace all ‘-’ with ‘_’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Remove all ‘!’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Check at least once digit is present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Check it contains the word ‘python’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Create a variable that stores only the first 8 characters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a formatted string (f-string) that displays: the cleaned username, whether it contains a digit, whether it contains ‘python’, &amp; the first 8 characters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</a:t>
            </a:r>
            <a:r>
              <a:rPr lang="en"/>
              <a:t>Numbers</a:t>
            </a:r>
            <a:endParaRPr/>
          </a:p>
        </p:txBody>
      </p:sp>
      <p:sp>
        <p:nvSpPr>
          <p:cNvPr id="433" name="Google Shape;433;p59"/>
          <p:cNvSpPr txBox="1"/>
          <p:nvPr>
            <p:ph idx="1" type="body"/>
          </p:nvPr>
        </p:nvSpPr>
        <p:spPr>
          <a:xfrm>
            <a:off x="600500" y="2004800"/>
            <a:ext cx="329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methods in the random module!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https://www.w3schools.com/python/module_random.asp</a:t>
            </a:r>
            <a:endParaRPr/>
          </a:p>
        </p:txBody>
      </p:sp>
      <p:pic>
        <p:nvPicPr>
          <p:cNvPr id="434" name="Google Shape;43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750" y="2604675"/>
            <a:ext cx="4695675" cy="13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</a:t>
            </a:r>
            <a:endParaRPr/>
          </a:p>
        </p:txBody>
      </p:sp>
      <p:sp>
        <p:nvSpPr>
          <p:cNvPr id="440" name="Google Shape;440;p60"/>
          <p:cNvSpPr txBox="1"/>
          <p:nvPr>
            <p:ph idx="1" type="body"/>
          </p:nvPr>
        </p:nvSpPr>
        <p:spPr>
          <a:xfrm>
            <a:off x="671925" y="1981575"/>
            <a:ext cx="3300000" cy="23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Ordered/indexed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Changeable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duplicates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Unchangeable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duplicates</a:t>
            </a:r>
            <a:endParaRPr/>
          </a:p>
        </p:txBody>
      </p:sp>
      <p:sp>
        <p:nvSpPr>
          <p:cNvPr id="441" name="Google Shape;441;p60"/>
          <p:cNvSpPr txBox="1"/>
          <p:nvPr/>
        </p:nvSpPr>
        <p:spPr>
          <a:xfrm>
            <a:off x="4457675" y="1981575"/>
            <a:ext cx="33000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Sets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Unordered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Unchangeable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Unindexed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Dictionaries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Changeable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 duplicates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vs Mutable Types</a:t>
            </a:r>
            <a:endParaRPr/>
          </a:p>
        </p:txBody>
      </p:sp>
      <p:sp>
        <p:nvSpPr>
          <p:cNvPr id="447" name="Google Shape;447;p61"/>
          <p:cNvSpPr txBox="1"/>
          <p:nvPr>
            <p:ph idx="1" type="body"/>
          </p:nvPr>
        </p:nvSpPr>
        <p:spPr>
          <a:xfrm>
            <a:off x="471900" y="1919075"/>
            <a:ext cx="4314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Non-collection </a:t>
            </a:r>
            <a:r>
              <a:rPr lang="en"/>
              <a:t>types</a:t>
            </a:r>
            <a:r>
              <a:rPr lang="en"/>
              <a:t> are also called immutable, </a:t>
            </a:r>
            <a:r>
              <a:rPr lang="en"/>
              <a:t>because</a:t>
            </a:r>
            <a:r>
              <a:rPr lang="en"/>
              <a:t> a new space is reserved in memory for each new declaration.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Collections are mutable because we may add and remove to the existing object in memory.</a:t>
            </a:r>
            <a:endParaRPr/>
          </a:p>
        </p:txBody>
      </p:sp>
      <p:pic>
        <p:nvPicPr>
          <p:cNvPr id="448" name="Google Shape;4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625" y="1919075"/>
            <a:ext cx="32385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50" y="3314650"/>
            <a:ext cx="3003847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pic>
        <p:nvPicPr>
          <p:cNvPr id="455" name="Google Shape;45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625" y="2001725"/>
            <a:ext cx="3181350" cy="4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6" name="Google Shape;45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638" y="2571750"/>
            <a:ext cx="2962275" cy="65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75" y="3351325"/>
            <a:ext cx="2971800" cy="30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8" name="Google Shape;458;p62"/>
          <p:cNvSpPr txBox="1"/>
          <p:nvPr/>
        </p:nvSpPr>
        <p:spPr>
          <a:xfrm>
            <a:off x="4014800" y="2488375"/>
            <a:ext cx="4471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can easily get the length of a list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Lists can be ANY datatype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Lists can contain mixed datatypes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Retrieve items from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positive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/negative indices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0650" y="4506775"/>
            <a:ext cx="6362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875" y="3864488"/>
            <a:ext cx="2837202" cy="43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List Syntax</a:t>
            </a:r>
            <a:endParaRPr/>
          </a:p>
        </p:txBody>
      </p:sp>
      <p:sp>
        <p:nvSpPr>
          <p:cNvPr id="466" name="Google Shape;466;p63"/>
          <p:cNvSpPr txBox="1"/>
          <p:nvPr>
            <p:ph idx="1" type="body"/>
          </p:nvPr>
        </p:nvSpPr>
        <p:spPr>
          <a:xfrm>
            <a:off x="5500700" y="1966925"/>
            <a:ext cx="3536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 from the </a:t>
            </a:r>
            <a:r>
              <a:rPr lang="en"/>
              <a:t>beginning</a:t>
            </a:r>
            <a:r>
              <a:rPr lang="en"/>
              <a:t> to a defined stop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 from a defined start point till the 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if items are in a list</a:t>
            </a:r>
            <a:endParaRPr/>
          </a:p>
        </p:txBody>
      </p:sp>
      <p:pic>
        <p:nvPicPr>
          <p:cNvPr id="467" name="Google Shape;46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52650"/>
            <a:ext cx="5110672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20884"/>
            <a:ext cx="5110675" cy="39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79879"/>
            <a:ext cx="5110675" cy="37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692" y="4157475"/>
            <a:ext cx="3536100" cy="68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Lists</a:t>
            </a:r>
            <a:endParaRPr/>
          </a:p>
        </p:txBody>
      </p:sp>
      <p:sp>
        <p:nvSpPr>
          <p:cNvPr id="476" name="Google Shape;476;p64"/>
          <p:cNvSpPr txBox="1"/>
          <p:nvPr>
            <p:ph idx="1" type="body"/>
          </p:nvPr>
        </p:nvSpPr>
        <p:spPr>
          <a:xfrm>
            <a:off x="186250" y="2033375"/>
            <a:ext cx="45408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items in a list from its index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Insert multiple new items into a list while replacing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Insert items without replacing anything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items to the end of a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Concatenate a list and another list/set/dictionary</a:t>
            </a:r>
            <a:endParaRPr/>
          </a:p>
        </p:txBody>
      </p:sp>
      <p:pic>
        <p:nvPicPr>
          <p:cNvPr id="477" name="Google Shape;47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650" y="1792200"/>
            <a:ext cx="3238500" cy="49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8" name="Google Shape;47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525" y="2364875"/>
            <a:ext cx="3714750" cy="4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9" name="Google Shape;47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8888" y="2889925"/>
            <a:ext cx="3248025" cy="49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0" name="Google Shape;480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7950" y="3462600"/>
            <a:ext cx="3209925" cy="438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1" name="Google Shape;481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9650" y="3978138"/>
            <a:ext cx="3046515" cy="43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2" name="Google Shape;482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0175" y="4550813"/>
            <a:ext cx="2005438" cy="43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Lists</a:t>
            </a:r>
            <a:endParaRPr/>
          </a:p>
        </p:txBody>
      </p:sp>
      <p:sp>
        <p:nvSpPr>
          <p:cNvPr id="488" name="Google Shape;488;p65"/>
          <p:cNvSpPr txBox="1"/>
          <p:nvPr>
            <p:ph idx="1" type="body"/>
          </p:nvPr>
        </p:nvSpPr>
        <p:spPr>
          <a:xfrm>
            <a:off x="4371975" y="1919075"/>
            <a:ext cx="43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a specific object by its </a:t>
            </a:r>
            <a:r>
              <a:rPr lang="en"/>
              <a:t>identity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a specific item by its index with pop(), or just the last item if nothing specified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del keyword can delete an item or the list itself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clear() method empties the list but the list still exists in memory</a:t>
            </a:r>
            <a:endParaRPr/>
          </a:p>
        </p:txBody>
      </p:sp>
      <p:pic>
        <p:nvPicPr>
          <p:cNvPr id="489" name="Google Shape;48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25" y="2158850"/>
            <a:ext cx="3219450" cy="476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0" name="Google Shape;49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50" y="2728875"/>
            <a:ext cx="3276600" cy="466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1" name="Google Shape;49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688" y="3289375"/>
            <a:ext cx="3209925" cy="4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400" y="3960875"/>
            <a:ext cx="3238500" cy="428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Iterating over lists</a:t>
            </a:r>
            <a:endParaRPr/>
          </a:p>
        </p:txBody>
      </p:sp>
      <p:sp>
        <p:nvSpPr>
          <p:cNvPr id="498" name="Google Shape;498;p66"/>
          <p:cNvSpPr txBox="1"/>
          <p:nvPr>
            <p:ph idx="1" type="body"/>
          </p:nvPr>
        </p:nvSpPr>
        <p:spPr>
          <a:xfrm>
            <a:off x="471900" y="1919075"/>
            <a:ext cx="42144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loops can iterate over lists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loops can </a:t>
            </a:r>
            <a:r>
              <a:rPr lang="en"/>
              <a:t>iterate</a:t>
            </a:r>
            <a:r>
              <a:rPr lang="en"/>
              <a:t> over lists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Comprehension syntax is the shortest form to iterate over a list</a:t>
            </a:r>
            <a:endParaRPr/>
          </a:p>
        </p:txBody>
      </p:sp>
      <p:pic>
        <p:nvPicPr>
          <p:cNvPr id="499" name="Google Shape;49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46" y="1833350"/>
            <a:ext cx="2929584" cy="62349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0" name="Google Shape;500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328" y="2565102"/>
            <a:ext cx="2895419" cy="66620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1" name="Google Shape;501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975" y="3339559"/>
            <a:ext cx="2938125" cy="10163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2" name="Google Shape;502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095" y="4464200"/>
            <a:ext cx="2739915" cy="389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</a:t>
            </a:r>
            <a:endParaRPr/>
          </a:p>
        </p:txBody>
      </p:sp>
      <p:sp>
        <p:nvSpPr>
          <p:cNvPr id="508" name="Google Shape;508;p67"/>
          <p:cNvSpPr txBox="1"/>
          <p:nvPr>
            <p:ph idx="1" type="body"/>
          </p:nvPr>
        </p:nvSpPr>
        <p:spPr>
          <a:xfrm>
            <a:off x="471900" y="1919075"/>
            <a:ext cx="8286300" cy="11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list of fruits that have ‘a’ in the name.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List comprehension is </a:t>
            </a:r>
            <a:r>
              <a:rPr lang="en"/>
              <a:t>syntactic</a:t>
            </a:r>
            <a:r>
              <a:rPr lang="en"/>
              <a:t> sugar that shortens/cleans up our code!</a:t>
            </a:r>
            <a:endParaRPr/>
          </a:p>
        </p:txBody>
      </p:sp>
      <p:pic>
        <p:nvPicPr>
          <p:cNvPr id="509" name="Google Shape;50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3306038"/>
            <a:ext cx="4019550" cy="15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527225"/>
            <a:ext cx="43719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</a:t>
            </a:r>
            <a:endParaRPr/>
          </a:p>
        </p:txBody>
      </p:sp>
      <p:sp>
        <p:nvSpPr>
          <p:cNvPr id="516" name="Google Shape;516;p68"/>
          <p:cNvSpPr txBox="1"/>
          <p:nvPr>
            <p:ph idx="1" type="body"/>
          </p:nvPr>
        </p:nvSpPr>
        <p:spPr>
          <a:xfrm>
            <a:off x="471900" y="2417725"/>
            <a:ext cx="82221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 will return a new list, leaving the old one unchanged.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expression is the current item in the iteration but also the outcome. We can modify the item before it stores in the new list:</a:t>
            </a:r>
            <a:endParaRPr/>
          </a:p>
        </p:txBody>
      </p:sp>
      <p:pic>
        <p:nvPicPr>
          <p:cNvPr id="517" name="Google Shape;51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275" y="1909900"/>
            <a:ext cx="5467350" cy="34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8" name="Google Shape;51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8475" y="3795825"/>
            <a:ext cx="3028950" cy="209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9" name="Google Shape;519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225" y="4614975"/>
            <a:ext cx="4781550" cy="26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0" name="Google Shape;520;p68"/>
          <p:cNvSpPr txBox="1"/>
          <p:nvPr/>
        </p:nvSpPr>
        <p:spPr>
          <a:xfrm>
            <a:off x="570300" y="4148175"/>
            <a:ext cx="8003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Return the item if it is NOT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banana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if it IS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banana then return orange.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Lists</a:t>
            </a:r>
            <a:endParaRPr/>
          </a:p>
        </p:txBody>
      </p:sp>
      <p:sp>
        <p:nvSpPr>
          <p:cNvPr id="526" name="Google Shape;526;p69"/>
          <p:cNvSpPr txBox="1"/>
          <p:nvPr>
            <p:ph idx="1" type="body"/>
          </p:nvPr>
        </p:nvSpPr>
        <p:spPr>
          <a:xfrm>
            <a:off x="471900" y="1761250"/>
            <a:ext cx="82221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Sort Alphabetically/Numerically:</a:t>
            </a:r>
            <a:endParaRPr/>
          </a:p>
        </p:txBody>
      </p:sp>
      <p:pic>
        <p:nvPicPr>
          <p:cNvPr id="527" name="Google Shape;52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25" y="2285750"/>
            <a:ext cx="5667949" cy="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3950" y="2296275"/>
            <a:ext cx="2721450" cy="55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750" y="3789925"/>
            <a:ext cx="5667950" cy="54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3950" y="3789925"/>
            <a:ext cx="2721450" cy="476759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9"/>
          <p:cNvSpPr txBox="1"/>
          <p:nvPr>
            <p:ph idx="1" type="body"/>
          </p:nvPr>
        </p:nvSpPr>
        <p:spPr>
          <a:xfrm>
            <a:off x="471900" y="3275500"/>
            <a:ext cx="82221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Sort descending: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Insensitive Sort</a:t>
            </a:r>
            <a:endParaRPr/>
          </a:p>
        </p:txBody>
      </p:sp>
      <p:sp>
        <p:nvSpPr>
          <p:cNvPr id="537" name="Google Shape;537;p70"/>
          <p:cNvSpPr txBox="1"/>
          <p:nvPr>
            <p:ph idx="1" type="body"/>
          </p:nvPr>
        </p:nvSpPr>
        <p:spPr>
          <a:xfrm>
            <a:off x="460950" y="1798650"/>
            <a:ext cx="8222100" cy="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gives unexpected results (sorts uppercase words first)</a:t>
            </a:r>
            <a:endParaRPr/>
          </a:p>
        </p:txBody>
      </p:sp>
      <p:pic>
        <p:nvPicPr>
          <p:cNvPr id="538" name="Google Shape;53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888" y="2282275"/>
            <a:ext cx="4880875" cy="6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3681050"/>
            <a:ext cx="59436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0"/>
          <p:cNvSpPr txBox="1"/>
          <p:nvPr>
            <p:ph idx="1" type="body"/>
          </p:nvPr>
        </p:nvSpPr>
        <p:spPr>
          <a:xfrm>
            <a:off x="572425" y="2903800"/>
            <a:ext cx="8222100" cy="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Set all values to lowercase before your sort, thus making it case-insensitive (won’t permanently change the values):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Sort</a:t>
            </a:r>
            <a:endParaRPr/>
          </a:p>
        </p:txBody>
      </p:sp>
      <p:sp>
        <p:nvSpPr>
          <p:cNvPr id="546" name="Google Shape;546;p71"/>
          <p:cNvSpPr txBox="1"/>
          <p:nvPr>
            <p:ph idx="1" type="body"/>
          </p:nvPr>
        </p:nvSpPr>
        <p:spPr>
          <a:xfrm>
            <a:off x="471900" y="1919075"/>
            <a:ext cx="3886800" cy="29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a function to use as a sorting </a:t>
            </a:r>
            <a:r>
              <a:rPr lang="en"/>
              <a:t>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first example will sort the list from least&gt;most words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have more than one key; The second example uses this to reverse the list</a:t>
            </a:r>
            <a:endParaRPr/>
          </a:p>
        </p:txBody>
      </p:sp>
      <p:pic>
        <p:nvPicPr>
          <p:cNvPr id="547" name="Google Shape;5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275" y="1871025"/>
            <a:ext cx="3360075" cy="15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213" y="3521925"/>
            <a:ext cx="3160200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Reversing a list</a:t>
            </a:r>
            <a:endParaRPr/>
          </a:p>
        </p:txBody>
      </p:sp>
      <p:pic>
        <p:nvPicPr>
          <p:cNvPr id="554" name="Google Shape;55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813" y="2028825"/>
            <a:ext cx="60102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5025" y="3576850"/>
            <a:ext cx="49339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list methods</a:t>
            </a:r>
            <a:endParaRPr/>
          </a:p>
        </p:txBody>
      </p:sp>
      <p:sp>
        <p:nvSpPr>
          <p:cNvPr id="561" name="Google Shape;561;p7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List Method Reference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</a:t>
            </a:r>
            <a:endParaRPr/>
          </a:p>
        </p:txBody>
      </p:sp>
      <p:sp>
        <p:nvSpPr>
          <p:cNvPr id="567" name="Google Shape;567;p74"/>
          <p:cNvSpPr txBox="1"/>
          <p:nvPr>
            <p:ph idx="1" type="body"/>
          </p:nvPr>
        </p:nvSpPr>
        <p:spPr>
          <a:xfrm>
            <a:off x="471900" y="1919075"/>
            <a:ext cx="82221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Tuples are: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Ordered, allows duplicates, &amp; unchangeable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any type &amp; tuples can have mixed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Access syntax is identical to lists</a:t>
            </a:r>
            <a:endParaRPr/>
          </a:p>
        </p:txBody>
      </p:sp>
      <p:pic>
        <p:nvPicPr>
          <p:cNvPr id="568" name="Google Shape;56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250" y="3706500"/>
            <a:ext cx="490537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</a:t>
            </a:r>
            <a:endParaRPr/>
          </a:p>
        </p:txBody>
      </p:sp>
      <p:sp>
        <p:nvSpPr>
          <p:cNvPr id="574" name="Google Shape;574;p75"/>
          <p:cNvSpPr txBox="1"/>
          <p:nvPr>
            <p:ph idx="1" type="body"/>
          </p:nvPr>
        </p:nvSpPr>
        <p:spPr>
          <a:xfrm>
            <a:off x="471900" y="1919075"/>
            <a:ext cx="3764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can’t change a tuple, but we can: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Convert the tuple to a 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 a change, delete, or add items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Convert the list back into a tuple</a:t>
            </a:r>
            <a:endParaRPr/>
          </a:p>
        </p:txBody>
      </p:sp>
      <p:pic>
        <p:nvPicPr>
          <p:cNvPr id="575" name="Google Shape;5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200" y="2272738"/>
            <a:ext cx="3930900" cy="20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Unpacking Tuples</a:t>
            </a:r>
            <a:endParaRPr/>
          </a:p>
        </p:txBody>
      </p:sp>
      <p:pic>
        <p:nvPicPr>
          <p:cNvPr id="581" name="Google Shape;58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388" y="2196500"/>
            <a:ext cx="3671125" cy="19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Count unique items &amp; get the index of an item</a:t>
            </a:r>
            <a:endParaRPr sz="3100"/>
          </a:p>
        </p:txBody>
      </p:sp>
      <p:pic>
        <p:nvPicPr>
          <p:cNvPr id="587" name="Google Shape;58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1834175"/>
            <a:ext cx="50673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450" y="3591975"/>
            <a:ext cx="4241098" cy="13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</a:t>
            </a:r>
            <a:endParaRPr/>
          </a:p>
        </p:txBody>
      </p:sp>
      <p:sp>
        <p:nvSpPr>
          <p:cNvPr id="594" name="Google Shape;594;p78"/>
          <p:cNvSpPr txBox="1"/>
          <p:nvPr>
            <p:ph idx="1" type="body"/>
          </p:nvPr>
        </p:nvSpPr>
        <p:spPr>
          <a:xfrm>
            <a:off x="471900" y="1919075"/>
            <a:ext cx="82221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Sets are: unordered, unindexed, &amp; items are unchangeable.</a:t>
            </a:r>
            <a:endParaRPr/>
          </a:p>
        </p:txBody>
      </p:sp>
      <p:pic>
        <p:nvPicPr>
          <p:cNvPr id="595" name="Google Shape;59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425" y="2444025"/>
            <a:ext cx="46291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713" y="3674450"/>
            <a:ext cx="61245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9300" y="4261550"/>
            <a:ext cx="48672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8"/>
          <p:cNvSpPr txBox="1"/>
          <p:nvPr>
            <p:ph idx="1" type="body"/>
          </p:nvPr>
        </p:nvSpPr>
        <p:spPr>
          <a:xfrm>
            <a:off x="548350" y="3008688"/>
            <a:ext cx="82221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Any </a:t>
            </a:r>
            <a:r>
              <a:rPr lang="en"/>
              <a:t>type</a:t>
            </a:r>
            <a:r>
              <a:rPr lang="en"/>
              <a:t> and mixed </a:t>
            </a:r>
            <a:r>
              <a:rPr lang="en"/>
              <a:t>types</a:t>
            </a:r>
            <a:r>
              <a:rPr lang="en"/>
              <a:t> are allowed, but duplicated are not (1=True, 0=False considered duplicates):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Access</a:t>
            </a:r>
            <a:endParaRPr/>
          </a:p>
        </p:txBody>
      </p:sp>
      <p:sp>
        <p:nvSpPr>
          <p:cNvPr id="604" name="Google Shape;604;p79"/>
          <p:cNvSpPr txBox="1"/>
          <p:nvPr>
            <p:ph idx="1" type="body"/>
          </p:nvPr>
        </p:nvSpPr>
        <p:spPr>
          <a:xfrm>
            <a:off x="1839450" y="1743750"/>
            <a:ext cx="54651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Either loop through it or use membership operators:</a:t>
            </a:r>
            <a:endParaRPr/>
          </a:p>
        </p:txBody>
      </p:sp>
      <p:pic>
        <p:nvPicPr>
          <p:cNvPr id="605" name="Google Shape;60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50" y="2936475"/>
            <a:ext cx="4191425" cy="11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6499" y="2452975"/>
            <a:ext cx="4349425" cy="9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6500" y="3734950"/>
            <a:ext cx="4349425" cy="9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Add/Remove Set Items</a:t>
            </a:r>
            <a:endParaRPr/>
          </a:p>
        </p:txBody>
      </p:sp>
      <p:sp>
        <p:nvSpPr>
          <p:cNvPr id="613" name="Google Shape;613;p80"/>
          <p:cNvSpPr txBox="1"/>
          <p:nvPr>
            <p:ph idx="1" type="body"/>
          </p:nvPr>
        </p:nvSpPr>
        <p:spPr>
          <a:xfrm>
            <a:off x="460950" y="1772950"/>
            <a:ext cx="82221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can’t modify set items but we can add/remove them: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**remove </a:t>
            </a:r>
            <a:r>
              <a:rPr lang="en" sz="1500"/>
              <a:t>method</a:t>
            </a:r>
            <a:r>
              <a:rPr lang="en" sz="1500"/>
              <a:t> has warnings, discard does not. **pop will remove random item</a:t>
            </a:r>
            <a:endParaRPr sz="1500"/>
          </a:p>
        </p:txBody>
      </p:sp>
      <p:pic>
        <p:nvPicPr>
          <p:cNvPr id="614" name="Google Shape;61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850" y="2571750"/>
            <a:ext cx="3610176" cy="8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825" y="3704150"/>
            <a:ext cx="3610175" cy="95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6697" y="2571747"/>
            <a:ext cx="3578950" cy="8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682" y="3808300"/>
            <a:ext cx="3695417" cy="8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8203" y="4753475"/>
            <a:ext cx="1787582" cy="3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Sets</a:t>
            </a:r>
            <a:endParaRPr/>
          </a:p>
        </p:txBody>
      </p:sp>
      <p:sp>
        <p:nvSpPr>
          <p:cNvPr id="624" name="Google Shape;624;p8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Join Sets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Frozen Sets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Set Method Reference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