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y="5143500" cx="9144000"/>
  <p:notesSz cx="6858000" cy="9144000"/>
  <p:embeddedFontLst>
    <p:embeddedFont>
      <p:font typeface="Roboto"/>
      <p:regular r:id="rId75"/>
      <p:bold r:id="rId76"/>
      <p:italic r:id="rId77"/>
      <p:boldItalic r:id="rId78"/>
    </p:embeddedFont>
    <p:embeddedFont>
      <p:font typeface="Roboto Mono"/>
      <p:regular r:id="rId79"/>
      <p:bold r:id="rId80"/>
      <p:italic r:id="rId81"/>
      <p:boldItalic r:id="rId8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FF978B-8D40-431A-833F-1F88F0CAB445}">
  <a:tblStyle styleId="{E8FF978B-8D40-431A-833F-1F88F0CAB4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80" Type="http://schemas.openxmlformats.org/officeDocument/2006/relationships/font" Target="fonts/RobotoMono-bold.fntdata"/><Relationship Id="rId82" Type="http://schemas.openxmlformats.org/officeDocument/2006/relationships/font" Target="fonts/RobotoMono-boldItalic.fntdata"/><Relationship Id="rId81" Type="http://schemas.openxmlformats.org/officeDocument/2006/relationships/font" Target="fonts/RobotoMono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31" Type="http://schemas.openxmlformats.org/officeDocument/2006/relationships/slide" Target="slides/slide25.xml"/><Relationship Id="rId75" Type="http://schemas.openxmlformats.org/officeDocument/2006/relationships/font" Target="fonts/Roboto-regular.fntdata"/><Relationship Id="rId30" Type="http://schemas.openxmlformats.org/officeDocument/2006/relationships/slide" Target="slides/slide24.xml"/><Relationship Id="rId74" Type="http://schemas.openxmlformats.org/officeDocument/2006/relationships/slide" Target="slides/slide68.xml"/><Relationship Id="rId33" Type="http://schemas.openxmlformats.org/officeDocument/2006/relationships/slide" Target="slides/slide27.xml"/><Relationship Id="rId77" Type="http://schemas.openxmlformats.org/officeDocument/2006/relationships/font" Target="fonts/Roboto-italic.fntdata"/><Relationship Id="rId32" Type="http://schemas.openxmlformats.org/officeDocument/2006/relationships/slide" Target="slides/slide26.xml"/><Relationship Id="rId76" Type="http://schemas.openxmlformats.org/officeDocument/2006/relationships/font" Target="fonts/Roboto-bold.fntdata"/><Relationship Id="rId35" Type="http://schemas.openxmlformats.org/officeDocument/2006/relationships/slide" Target="slides/slide29.xml"/><Relationship Id="rId79" Type="http://schemas.openxmlformats.org/officeDocument/2006/relationships/font" Target="fonts/RobotoMono-regular.fntdata"/><Relationship Id="rId34" Type="http://schemas.openxmlformats.org/officeDocument/2006/relationships/slide" Target="slides/slide28.xml"/><Relationship Id="rId78" Type="http://schemas.openxmlformats.org/officeDocument/2006/relationships/font" Target="fonts/Roboto-boldItalic.fntdata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68" Type="http://schemas.openxmlformats.org/officeDocument/2006/relationships/slide" Target="slides/slide62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slide" Target="slides/slide6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919934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9199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919934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91993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c6f919934_0_1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c6f91993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90951741f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90951741f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90951741f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90951741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90951741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90951741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62d7c206_1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962d7c206_1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90951741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90951741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dbf5868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b93dbf5868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7038acd2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7038acd2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7038acd26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7038acd26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72cd79c11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72cd79c11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72cd79c11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72cd79c11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93dbf5868_2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93dbf5868_2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72cd79c11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72cd79c11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962d7c206_1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962d7c206_1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72cd79c11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72cd79c11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72cd79c11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72cd79c11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962d7c20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962d7c20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8c23204ae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8c23204ae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c6f919934_0_1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c6f91993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b7038acd2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b7038acd2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90951741f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b90951741f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b72cd79c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b72cd79c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b962d7c206_1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b962d7c206_1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b962d7c206_1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b962d7c206_1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b962d7c206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b962d7c206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b962d7c206_1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b962d7c206_1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858363c2c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b858363c2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b858363c2c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b858363c2c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858363c2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858363c2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b858363c2c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b858363c2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b858363c2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b858363c2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b858363c2c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b858363c2c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b858363c2c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b858363c2c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858363c2c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b858363c2c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b858363c2c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b858363c2c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b962d7c206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b962d7c206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b72cd79c1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b72cd79c1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b72cd79c1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b72cd79c1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b72cd79c11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b72cd79c11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b72cd79c1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b72cd79c1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b72cd79c11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b72cd79c11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b72cd79c11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b72cd79c11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b90951741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b90951741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b858363c2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b858363c2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b858363c2c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b858363c2c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858363c2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3b858363c2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b858363c2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b858363c2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b858363c2c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b858363c2c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b858363c2c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b858363c2c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b858363c2c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b858363c2c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b8c23204a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3b8c23204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b8c23204a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b8c23204a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b8c23204a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b8c23204a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b962d7c206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b962d7c206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b962d7c206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b962d7c206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b962d7c206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b962d7c206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b962d7c206_1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b962d7c206_1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b962d7c206_1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b962d7c206_1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b962d7c206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3b962d7c206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b962d7c206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4" name="Google Shape;564;g3b962d7c206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3b962d7c206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3b962d7c206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b962d7c206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3b962d7c206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b962d7c206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b962d7c20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b962d7c206_1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3b962d7c206_1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b962d7c206_1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3b962d7c206_1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b962d7c206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b962d7c206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6.png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1.png"/><Relationship Id="rId4" Type="http://schemas.openxmlformats.org/officeDocument/2006/relationships/image" Target="../media/image2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3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4.png"/><Relationship Id="rId4" Type="http://schemas.openxmlformats.org/officeDocument/2006/relationships/image" Target="../media/image29.png"/><Relationship Id="rId5" Type="http://schemas.openxmlformats.org/officeDocument/2006/relationships/image" Target="../media/image40.png"/><Relationship Id="rId6" Type="http://schemas.openxmlformats.org/officeDocument/2006/relationships/image" Target="../media/image5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png"/><Relationship Id="rId4" Type="http://schemas.openxmlformats.org/officeDocument/2006/relationships/image" Target="../media/image46.png"/><Relationship Id="rId5" Type="http://schemas.openxmlformats.org/officeDocument/2006/relationships/image" Target="../media/image5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9.png"/><Relationship Id="rId4" Type="http://schemas.openxmlformats.org/officeDocument/2006/relationships/image" Target="../media/image4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5.png"/><Relationship Id="rId4" Type="http://schemas.openxmlformats.org/officeDocument/2006/relationships/image" Target="../media/image43.png"/><Relationship Id="rId5" Type="http://schemas.openxmlformats.org/officeDocument/2006/relationships/image" Target="../media/image3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5.png"/><Relationship Id="rId4" Type="http://schemas.openxmlformats.org/officeDocument/2006/relationships/image" Target="../media/image37.png"/><Relationship Id="rId5" Type="http://schemas.openxmlformats.org/officeDocument/2006/relationships/image" Target="../media/image4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1.png"/><Relationship Id="rId4" Type="http://schemas.openxmlformats.org/officeDocument/2006/relationships/image" Target="../media/image6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63.png"/><Relationship Id="rId4" Type="http://schemas.openxmlformats.org/officeDocument/2006/relationships/image" Target="../media/image52.png"/><Relationship Id="rId5" Type="http://schemas.openxmlformats.org/officeDocument/2006/relationships/image" Target="../media/image55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6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57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3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1.png"/><Relationship Id="rId4" Type="http://schemas.openxmlformats.org/officeDocument/2006/relationships/image" Target="../media/image85.png"/><Relationship Id="rId5" Type="http://schemas.openxmlformats.org/officeDocument/2006/relationships/image" Target="../media/image60.png"/><Relationship Id="rId6" Type="http://schemas.openxmlformats.org/officeDocument/2006/relationships/image" Target="../media/image69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67.png"/><Relationship Id="rId4" Type="http://schemas.openxmlformats.org/officeDocument/2006/relationships/image" Target="../media/image64.png"/><Relationship Id="rId5" Type="http://schemas.openxmlformats.org/officeDocument/2006/relationships/image" Target="../media/image74.png"/><Relationship Id="rId6" Type="http://schemas.openxmlformats.org/officeDocument/2006/relationships/image" Target="../media/image65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5.png"/><Relationship Id="rId4" Type="http://schemas.openxmlformats.org/officeDocument/2006/relationships/image" Target="../media/image70.png"/><Relationship Id="rId5" Type="http://schemas.openxmlformats.org/officeDocument/2006/relationships/image" Target="../media/image78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7.png"/><Relationship Id="rId4" Type="http://schemas.openxmlformats.org/officeDocument/2006/relationships/image" Target="../media/image84.png"/><Relationship Id="rId5" Type="http://schemas.openxmlformats.org/officeDocument/2006/relationships/image" Target="../media/image68.png"/><Relationship Id="rId6" Type="http://schemas.openxmlformats.org/officeDocument/2006/relationships/image" Target="../media/image80.png"/><Relationship Id="rId7" Type="http://schemas.openxmlformats.org/officeDocument/2006/relationships/image" Target="../media/image98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83.png"/><Relationship Id="rId6" Type="http://schemas.openxmlformats.org/officeDocument/2006/relationships/image" Target="../media/image96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8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9.png"/><Relationship Id="rId4" Type="http://schemas.openxmlformats.org/officeDocument/2006/relationships/image" Target="../media/image86.png"/><Relationship Id="rId5" Type="http://schemas.openxmlformats.org/officeDocument/2006/relationships/image" Target="../media/image76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05.png"/><Relationship Id="rId4" Type="http://schemas.openxmlformats.org/officeDocument/2006/relationships/image" Target="../media/image92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90.png"/><Relationship Id="rId4" Type="http://schemas.openxmlformats.org/officeDocument/2006/relationships/image" Target="../media/image88.png"/><Relationship Id="rId5" Type="http://schemas.openxmlformats.org/officeDocument/2006/relationships/image" Target="../media/image94.png"/><Relationship Id="rId6" Type="http://schemas.openxmlformats.org/officeDocument/2006/relationships/image" Target="../media/image87.png"/><Relationship Id="rId7" Type="http://schemas.openxmlformats.org/officeDocument/2006/relationships/image" Target="../media/image99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29.png"/><Relationship Id="rId4" Type="http://schemas.openxmlformats.org/officeDocument/2006/relationships/image" Target="../media/image93.png"/><Relationship Id="rId5" Type="http://schemas.openxmlformats.org/officeDocument/2006/relationships/image" Target="../media/image100.png"/><Relationship Id="rId6" Type="http://schemas.openxmlformats.org/officeDocument/2006/relationships/image" Target="../media/image89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91.png"/><Relationship Id="rId4" Type="http://schemas.openxmlformats.org/officeDocument/2006/relationships/image" Target="../media/image111.png"/><Relationship Id="rId5" Type="http://schemas.openxmlformats.org/officeDocument/2006/relationships/image" Target="../media/image97.png"/><Relationship Id="rId6" Type="http://schemas.openxmlformats.org/officeDocument/2006/relationships/image" Target="../media/image95.png"/><Relationship Id="rId7" Type="http://schemas.openxmlformats.org/officeDocument/2006/relationships/image" Target="../media/image101.png"/><Relationship Id="rId8" Type="http://schemas.openxmlformats.org/officeDocument/2006/relationships/image" Target="../media/image121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19.png"/><Relationship Id="rId4" Type="http://schemas.openxmlformats.org/officeDocument/2006/relationships/image" Target="../media/image103.png"/><Relationship Id="rId5" Type="http://schemas.openxmlformats.org/officeDocument/2006/relationships/image" Target="../media/image102.png"/><Relationship Id="rId6" Type="http://schemas.openxmlformats.org/officeDocument/2006/relationships/image" Target="../media/image108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07.png"/><Relationship Id="rId4" Type="http://schemas.openxmlformats.org/officeDocument/2006/relationships/image" Target="../media/image112.png"/><Relationship Id="rId5" Type="http://schemas.openxmlformats.org/officeDocument/2006/relationships/image" Target="../media/image136.png"/><Relationship Id="rId6" Type="http://schemas.openxmlformats.org/officeDocument/2006/relationships/image" Target="../media/image115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06.png"/><Relationship Id="rId4" Type="http://schemas.openxmlformats.org/officeDocument/2006/relationships/image" Target="../media/image104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13.png"/><Relationship Id="rId4" Type="http://schemas.openxmlformats.org/officeDocument/2006/relationships/image" Target="../media/image117.png"/><Relationship Id="rId5" Type="http://schemas.openxmlformats.org/officeDocument/2006/relationships/image" Target="../media/image127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10.png"/><Relationship Id="rId4" Type="http://schemas.openxmlformats.org/officeDocument/2006/relationships/image" Target="../media/image118.png"/><Relationship Id="rId5" Type="http://schemas.openxmlformats.org/officeDocument/2006/relationships/image" Target="../media/image109.png"/><Relationship Id="rId6" Type="http://schemas.openxmlformats.org/officeDocument/2006/relationships/image" Target="../media/image116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14.png"/><Relationship Id="rId4" Type="http://schemas.openxmlformats.org/officeDocument/2006/relationships/image" Target="../media/image14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22.png"/><Relationship Id="rId4" Type="http://schemas.openxmlformats.org/officeDocument/2006/relationships/image" Target="../media/image133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20.png"/><Relationship Id="rId4" Type="http://schemas.openxmlformats.org/officeDocument/2006/relationships/image" Target="../media/image123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Relationship Id="rId3" Type="http://schemas.openxmlformats.org/officeDocument/2006/relationships/hyperlink" Target="https://www.w3schools.com/python/python_lists_methods.asp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26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24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28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34.png"/><Relationship Id="rId4" Type="http://schemas.openxmlformats.org/officeDocument/2006/relationships/image" Target="../media/image132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43.png"/><Relationship Id="rId4" Type="http://schemas.openxmlformats.org/officeDocument/2006/relationships/image" Target="../media/image125.png"/><Relationship Id="rId5" Type="http://schemas.openxmlformats.org/officeDocument/2006/relationships/image" Target="../media/image131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40.png"/><Relationship Id="rId4" Type="http://schemas.openxmlformats.org/officeDocument/2006/relationships/image" Target="../media/image130.png"/><Relationship Id="rId5" Type="http://schemas.openxmlformats.org/officeDocument/2006/relationships/image" Target="../media/image144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35.png"/><Relationship Id="rId4" Type="http://schemas.openxmlformats.org/officeDocument/2006/relationships/image" Target="../media/image142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137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Relationship Id="rId3" Type="http://schemas.openxmlformats.org/officeDocument/2006/relationships/hyperlink" Target="https://www.w3schools.com/python/python_sets_join.asp" TargetMode="External"/><Relationship Id="rId4" Type="http://schemas.openxmlformats.org/officeDocument/2006/relationships/hyperlink" Target="https://www.w3schools.com/python/python_frozenset.asp" TargetMode="External"/><Relationship Id="rId5" Type="http://schemas.openxmlformats.org/officeDocument/2006/relationships/hyperlink" Target="https://www.w3schools.com/python/python_sets_methods.a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240400" y="0"/>
            <a:ext cx="4045200" cy="170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Required Software</a:t>
            </a:r>
            <a:endParaRPr/>
          </a:p>
        </p:txBody>
      </p:sp>
      <p:sp>
        <p:nvSpPr>
          <p:cNvPr id="73" name="Google Shape;73;p14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Python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PyCharm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1600"/>
              </a:spcAft>
              <a:buSzPts val="1800"/>
              <a:buChar char="●"/>
            </a:pPr>
            <a:r>
              <a:rPr lang="en"/>
              <a:t>VSCode</a:t>
            </a:r>
            <a:endParaRPr/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874" y="1638825"/>
            <a:ext cx="2198050" cy="186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6775" y="2123375"/>
            <a:ext cx="3042500" cy="61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8260" y="3090773"/>
            <a:ext cx="2983575" cy="158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460950" y="4502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VSCode Settings/Plugins</a:t>
            </a:r>
            <a:endParaRPr/>
          </a:p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59000" y="1688625"/>
            <a:ext cx="4100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Python + Pylance - language support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Jupyter - visualization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Black Formatter - follow consistent standard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Isort - organize imports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flake8/pylint/ruff - linting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Python test explorer - unit test support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Live Share - collaborative editing</a:t>
            </a:r>
            <a:endParaRPr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000" y="1801500"/>
            <a:ext cx="33432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1000" y="3829450"/>
            <a:ext cx="3343275" cy="10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Python?</a:t>
            </a:r>
            <a:endParaRPr/>
          </a:p>
        </p:txBody>
      </p:sp>
      <p:sp>
        <p:nvSpPr>
          <p:cNvPr id="90" name="Google Shape;90;p16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Interpreted language - code is executed line by line, no compilation step needed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High-level language - abstracts away low-level memory management, hardware details, garbage collection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Dynamically </a:t>
            </a:r>
            <a:r>
              <a:rPr lang="en"/>
              <a:t>typed - variables do not require type declarations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Cross-platform - runs on windows, macOS, linux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Object-oriented - supports classes, objects, inheritance, etc.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 the Hood</a:t>
            </a:r>
            <a:endParaRPr/>
          </a:p>
        </p:txBody>
      </p:sp>
      <p:sp>
        <p:nvSpPr>
          <p:cNvPr id="96" name="Google Shape;96;p17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Python</a:t>
            </a:r>
            <a:r>
              <a:rPr lang="en"/>
              <a:t> code (.py files) are compiled into bytecode (NOT machine code) by CPython 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bytecode is then interpreted and </a:t>
            </a:r>
            <a:r>
              <a:rPr lang="en"/>
              <a:t>executed</a:t>
            </a:r>
            <a:r>
              <a:rPr lang="en"/>
              <a:t> by the Python Virtual Machine (PVM) inside CPython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/>
          <p:nvPr>
            <p:ph type="title"/>
          </p:nvPr>
        </p:nvSpPr>
        <p:spPr>
          <a:xfrm>
            <a:off x="460950" y="51690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Environments, py, &amp; Interactive Mode</a:t>
            </a:r>
            <a:endParaRPr/>
          </a:p>
        </p:txBody>
      </p:sp>
      <p:sp>
        <p:nvSpPr>
          <p:cNvPr id="102" name="Google Shape;102;p18"/>
          <p:cNvSpPr txBox="1"/>
          <p:nvPr>
            <p:ph idx="1" type="body"/>
          </p:nvPr>
        </p:nvSpPr>
        <p:spPr>
          <a:xfrm>
            <a:off x="471900" y="2251800"/>
            <a:ext cx="3718200" cy="4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Recommended to use powershell!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03" name="Google Shape;10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13" y="2457775"/>
            <a:ext cx="35528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0" y="3217975"/>
            <a:ext cx="8343900" cy="165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2963" y="1992200"/>
            <a:ext cx="3390900" cy="35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venv</a:t>
            </a:r>
            <a:endParaRPr/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5475" y="2504663"/>
            <a:ext cx="53149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38900" y="3626925"/>
            <a:ext cx="6688105" cy="43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9"/>
          <p:cNvSpPr txBox="1"/>
          <p:nvPr/>
        </p:nvSpPr>
        <p:spPr>
          <a:xfrm>
            <a:off x="1925475" y="1987625"/>
            <a:ext cx="507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Create a virtual environment for our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python app: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38900" y="3110275"/>
            <a:ext cx="600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Make sure to activate, and then check for pip updates: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1483500" y="4357050"/>
            <a:ext cx="6177000" cy="49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accent3"/>
                </a:solidFill>
              </a:rPr>
              <a:t>Some may need to allow scripts to run these commands:</a:t>
            </a:r>
            <a:endParaRPr>
              <a:solidFill>
                <a:schemeClr val="accent3"/>
              </a:solidFill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50" y="4851050"/>
            <a:ext cx="822960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&amp; Jupyter setup</a:t>
            </a:r>
            <a:endParaRPr/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61713"/>
            <a:ext cx="8839200" cy="21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6350" y="2630123"/>
            <a:ext cx="23526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6863" y="3380025"/>
            <a:ext cx="8512164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47850" y="3875950"/>
            <a:ext cx="54483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0"/>
          <p:cNvSpPr txBox="1"/>
          <p:nvPr/>
        </p:nvSpPr>
        <p:spPr>
          <a:xfrm>
            <a:off x="834750" y="2547913"/>
            <a:ext cx="6688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Packages may also be </a:t>
            </a: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installed</a:t>
            </a: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 via text file on each new line: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Here we connect our venv to serve as the kernel for jupyter: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1713750" y="1800025"/>
            <a:ext cx="573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install packages with pip (‘pip installs packages):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Goal:</a:t>
            </a:r>
            <a:endParaRPr b="1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Create a Jupyter notebook for learning</a:t>
            </a:r>
            <a:endParaRPr sz="1400"/>
          </a:p>
        </p:txBody>
      </p:sp>
      <p:sp>
        <p:nvSpPr>
          <p:cNvPr id="134" name="Google Shape;134;p21"/>
          <p:cNvSpPr txBox="1"/>
          <p:nvPr>
            <p:ph idx="1" type="body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Details:					~10 min</a:t>
            </a:r>
            <a:endParaRPr b="1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Create a project folder and initialize it as a git repo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Initialize a venv inside the project folder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Install the following packages to the venv: jupyter, ipykernel, numpy, pandas, matplotlib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Associate the venv with jupyter and launch your notebook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Strings, Print, Input, &amp; Comments</a:t>
            </a:r>
            <a:endParaRPr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488" y="2634450"/>
            <a:ext cx="9034925" cy="96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1332750" y="3900950"/>
            <a:ext cx="6478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Strings are valid with both single and double quotes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start a new line with the escape character ‘\’ + ‘n’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&amp; len()</a:t>
            </a:r>
            <a:endParaRPr/>
          </a:p>
        </p:txBody>
      </p:sp>
      <p:pic>
        <p:nvPicPr>
          <p:cNvPr id="147" name="Google Shape;14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372" y="2361250"/>
            <a:ext cx="7105250" cy="11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825" y="3964350"/>
            <a:ext cx="5312475" cy="9452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/>
        </p:nvSpPr>
        <p:spPr>
          <a:xfrm>
            <a:off x="3010375" y="3512100"/>
            <a:ext cx="37254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Python is case-sensitive: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3"/>
          <p:cNvSpPr txBox="1"/>
          <p:nvPr/>
        </p:nvSpPr>
        <p:spPr>
          <a:xfrm>
            <a:off x="2676513" y="1769525"/>
            <a:ext cx="39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Variables are dynamically typed: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variables &amp; Case Conventions</a:t>
            </a:r>
            <a:endParaRPr/>
          </a:p>
        </p:txBody>
      </p:sp>
      <p:sp>
        <p:nvSpPr>
          <p:cNvPr id="156" name="Google Shape;156;p2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Must start with a letter or underscore character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Only alphanumeric symbols and underscores are valid: (A-z, 0-9, and _ )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Camel Case (rarely used convention in Python):</a:t>
            </a:r>
            <a:endParaRPr sz="16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Pascal Case (used for Python class names):</a:t>
            </a:r>
            <a:endParaRPr sz="16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Snake Case (most common in Python; used for almost everything not a class):</a:t>
            </a:r>
            <a:endParaRPr sz="16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</a:t>
            </a:r>
            <a:r>
              <a:rPr lang="en" sz="1600"/>
              <a:t>m</a:t>
            </a:r>
            <a:r>
              <a:rPr lang="en" sz="1600"/>
              <a:t>y_variable_name = ‘John’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Continued</a:t>
            </a:r>
            <a:endParaRPr/>
          </a:p>
        </p:txBody>
      </p:sp>
      <p:sp>
        <p:nvSpPr>
          <p:cNvPr id="162" name="Google Shape;162;p25"/>
          <p:cNvSpPr txBox="1"/>
          <p:nvPr>
            <p:ph idx="1" type="body"/>
          </p:nvPr>
        </p:nvSpPr>
        <p:spPr>
          <a:xfrm>
            <a:off x="5757325" y="1919075"/>
            <a:ext cx="29367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assign multiple </a:t>
            </a:r>
            <a:r>
              <a:rPr lang="en"/>
              <a:t>variables</a:t>
            </a:r>
            <a:r>
              <a:rPr lang="en"/>
              <a:t> at once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also assign them the same value</a:t>
            </a:r>
            <a:endParaRPr/>
          </a:p>
        </p:txBody>
      </p:sp>
      <p:pic>
        <p:nvPicPr>
          <p:cNvPr id="163" name="Google Shape;16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25" y="2093675"/>
            <a:ext cx="4642225" cy="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5150" y="2811525"/>
            <a:ext cx="3971550" cy="52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70" name="Google Shape;170;p26"/>
          <p:cNvSpPr txBox="1"/>
          <p:nvPr>
            <p:ph idx="1" type="body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Goal:</a:t>
            </a:r>
            <a:endParaRPr b="1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Ask a user for their info and print it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Tip: Use the title() method to format names:</a:t>
            </a:r>
            <a:endParaRPr sz="1400"/>
          </a:p>
        </p:txBody>
      </p:sp>
      <p:sp>
        <p:nvSpPr>
          <p:cNvPr id="171" name="Google Shape;171;p26"/>
          <p:cNvSpPr txBox="1"/>
          <p:nvPr>
            <p:ph idx="1" type="body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Details:					~10 min</a:t>
            </a:r>
            <a:endParaRPr b="1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800" y="3676850"/>
            <a:ext cx="2400436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&amp; Variable Scope</a:t>
            </a:r>
            <a:endParaRPr/>
          </a:p>
        </p:txBody>
      </p:sp>
      <p:sp>
        <p:nvSpPr>
          <p:cNvPr id="178" name="Google Shape;178;p27"/>
          <p:cNvSpPr txBox="1"/>
          <p:nvPr>
            <p:ph idx="1" type="body"/>
          </p:nvPr>
        </p:nvSpPr>
        <p:spPr>
          <a:xfrm>
            <a:off x="87750" y="1856375"/>
            <a:ext cx="8968500" cy="85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are defined with the ‘def’ keyword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outside of functions have Global scope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inside functions have Local scope, unless the global keyword is used</a:t>
            </a:r>
            <a:endParaRPr/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450" y="3121900"/>
            <a:ext cx="6538751" cy="183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7151" y="3121888"/>
            <a:ext cx="1466850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 &amp; Enclosing (nonlocal) Scope</a:t>
            </a:r>
            <a:endParaRPr/>
          </a:p>
        </p:txBody>
      </p:sp>
      <p:sp>
        <p:nvSpPr>
          <p:cNvPr id="186" name="Google Shape;186;p28"/>
          <p:cNvSpPr txBox="1"/>
          <p:nvPr>
            <p:ph idx="1" type="body"/>
          </p:nvPr>
        </p:nvSpPr>
        <p:spPr>
          <a:xfrm>
            <a:off x="238100" y="2013025"/>
            <a:ext cx="4266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OOB methods/keywords provided by Python: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len()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print()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str()</a:t>
            </a:r>
            <a:endParaRPr/>
          </a:p>
        </p:txBody>
      </p:sp>
      <p:sp>
        <p:nvSpPr>
          <p:cNvPr id="187" name="Google Shape;187;p28"/>
          <p:cNvSpPr txBox="1"/>
          <p:nvPr>
            <p:ph idx="1" type="body"/>
          </p:nvPr>
        </p:nvSpPr>
        <p:spPr>
          <a:xfrm>
            <a:off x="4572000" y="2013025"/>
            <a:ext cx="2519700" cy="275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Enclosing Scope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Inner functions have access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Can’t override unless we use nonlocal keyword</a:t>
            </a:r>
            <a:endParaRPr/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650" y="2229475"/>
            <a:ext cx="1588575" cy="259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r>
              <a:rPr lang="en"/>
              <a:t> take in and return data</a:t>
            </a:r>
            <a:endParaRPr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0275" y="2032199"/>
            <a:ext cx="5705375" cy="238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Placeholder Functions</a:t>
            </a:r>
            <a:endParaRPr/>
          </a:p>
        </p:txBody>
      </p:sp>
      <p:sp>
        <p:nvSpPr>
          <p:cNvPr id="200" name="Google Shape;200;p30"/>
          <p:cNvSpPr txBox="1"/>
          <p:nvPr>
            <p:ph idx="1" type="body"/>
          </p:nvPr>
        </p:nvSpPr>
        <p:spPr>
          <a:xfrm>
            <a:off x="471900" y="1919075"/>
            <a:ext cx="3128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can’t be empty, but we can create placeholder functions using the ‘pass’ keyword!</a:t>
            </a:r>
            <a:endParaRPr/>
          </a:p>
        </p:txBody>
      </p:sp>
      <p:pic>
        <p:nvPicPr>
          <p:cNvPr id="201" name="Google Shape;20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709725"/>
            <a:ext cx="2758175" cy="82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207" name="Google Shape;207;p31"/>
          <p:cNvSpPr txBox="1"/>
          <p:nvPr>
            <p:ph idx="1" type="body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Goal:</a:t>
            </a:r>
            <a:endParaRPr b="1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Refactor previous challenge</a:t>
            </a:r>
            <a:endParaRPr sz="1400"/>
          </a:p>
        </p:txBody>
      </p:sp>
      <p:sp>
        <p:nvSpPr>
          <p:cNvPr id="208" name="Google Shape;208;p31"/>
          <p:cNvSpPr txBox="1"/>
          <p:nvPr>
            <p:ph idx="1" type="body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Details:					~10 min</a:t>
            </a:r>
            <a:endParaRPr b="1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In a function: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naming conventions…</a:t>
            </a:r>
            <a:endParaRPr/>
          </a:p>
        </p:txBody>
      </p:sp>
      <p:graphicFrame>
        <p:nvGraphicFramePr>
          <p:cNvPr id="214" name="Google Shape;214;p32"/>
          <p:cNvGraphicFramePr/>
          <p:nvPr/>
        </p:nvGraphicFramePr>
        <p:xfrm>
          <a:off x="819150" y="1809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{E8FF978B-8D40-431A-833F-1F88F0CAB445}</a:tableStyleId>
              </a:tblPr>
              <a:tblGrid>
                <a:gridCol w="2244475"/>
                <a:gridCol w="2799550"/>
                <a:gridCol w="2461675"/>
              </a:tblGrid>
              <a:tr h="2827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Item</a:t>
                      </a:r>
                      <a:endParaRPr b="1"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Convention</a:t>
                      </a:r>
                      <a:endParaRPr b="1"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Example</a:t>
                      </a:r>
                      <a:endParaRPr b="1" sz="1300"/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Variable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user_name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Function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get_user()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Constant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UPPER_SNAKE_CASE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MAX_SIZE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Class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PascalCase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UserService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Method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save()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Attribute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created_at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Private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_cache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Strong private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__state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Module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email_utils.py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Package</a:t>
                      </a:r>
                      <a:endParaRPr sz="1300"/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data_access/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/>
          <p:nvPr>
            <p:ph idx="2" type="body"/>
          </p:nvPr>
        </p:nvSpPr>
        <p:spPr>
          <a:xfrm>
            <a:off x="4939500" y="38225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Data Types</a:t>
            </a:r>
            <a:endParaRPr sz="32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s</a:t>
            </a:r>
            <a:r>
              <a:rPr lang="en" sz="1600"/>
              <a:t>tr = string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i</a:t>
            </a:r>
            <a:r>
              <a:rPr lang="en" sz="1600"/>
              <a:t>nt = integer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f</a:t>
            </a:r>
            <a:r>
              <a:rPr lang="en" sz="1600"/>
              <a:t>loat = decimals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b</a:t>
            </a:r>
            <a:r>
              <a:rPr lang="en" sz="1600"/>
              <a:t>ool = boolean true/false 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None = NoneType</a:t>
            </a:r>
            <a:endParaRPr sz="1600"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(These are examples of </a:t>
            </a:r>
            <a:r>
              <a:rPr lang="en" sz="1600">
                <a:solidFill>
                  <a:schemeClr val="accent6"/>
                </a:solidFill>
              </a:rPr>
              <a:t>Primitive </a:t>
            </a:r>
            <a:r>
              <a:rPr lang="en" sz="1600"/>
              <a:t>data types, there are many more)</a:t>
            </a:r>
            <a:endParaRPr sz="1600"/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026" y="4241475"/>
            <a:ext cx="120967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3675" y="308138"/>
            <a:ext cx="1957396" cy="45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/>
          <p:nvPr>
            <p:ph type="title"/>
          </p:nvPr>
        </p:nvSpPr>
        <p:spPr>
          <a:xfrm>
            <a:off x="183425" y="500400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Each Type</a:t>
            </a:r>
            <a:endParaRPr/>
          </a:p>
        </p:txBody>
      </p:sp>
      <p:pic>
        <p:nvPicPr>
          <p:cNvPr id="227" name="Google Shape;22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5800" y="194425"/>
            <a:ext cx="5059074" cy="475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813" y="3351400"/>
            <a:ext cx="2270925" cy="1233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4"/>
          <p:cNvSpPr txBox="1"/>
          <p:nvPr/>
        </p:nvSpPr>
        <p:spPr>
          <a:xfrm>
            <a:off x="332825" y="2169975"/>
            <a:ext cx="3078900" cy="9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You can also use constructor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functions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 to define the type explicitly: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Hinting</a:t>
            </a:r>
            <a:endParaRPr/>
          </a:p>
        </p:txBody>
      </p:sp>
      <p:sp>
        <p:nvSpPr>
          <p:cNvPr id="235" name="Google Shape;235;p35"/>
          <p:cNvSpPr txBox="1"/>
          <p:nvPr>
            <p:ph idx="1" type="body"/>
          </p:nvPr>
        </p:nvSpPr>
        <p:spPr>
          <a:xfrm>
            <a:off x="636525" y="2465238"/>
            <a:ext cx="4264800" cy="147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Type hinting does NOT enforce the type at runtime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It’s for: linters (mypy, pyright), IDEs, readability</a:t>
            </a:r>
            <a:endParaRPr/>
          </a:p>
        </p:txBody>
      </p:sp>
      <p:pic>
        <p:nvPicPr>
          <p:cNvPr id="236" name="Google Shape;23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0563" y="1842313"/>
            <a:ext cx="173355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2425" y="2940850"/>
            <a:ext cx="24098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11875" y="3572650"/>
            <a:ext cx="1990950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31050" y="4167150"/>
            <a:ext cx="1752600" cy="2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Conversion - Casting</a:t>
            </a:r>
            <a:endParaRPr/>
          </a:p>
        </p:txBody>
      </p:sp>
      <p:sp>
        <p:nvSpPr>
          <p:cNvPr id="245" name="Google Shape;245;p36"/>
          <p:cNvSpPr txBox="1"/>
          <p:nvPr>
            <p:ph idx="1" type="body"/>
          </p:nvPr>
        </p:nvSpPr>
        <p:spPr>
          <a:xfrm>
            <a:off x="471900" y="2445900"/>
            <a:ext cx="3554400" cy="191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If you convert a float to an int, data loss can occur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cannot convert complex numbers into another datatype</a:t>
            </a:r>
            <a:endParaRPr/>
          </a:p>
        </p:txBody>
      </p:sp>
      <p:pic>
        <p:nvPicPr>
          <p:cNvPr id="246" name="Google Shape;24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9275" y="1905000"/>
            <a:ext cx="4200525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48538" y="3829900"/>
            <a:ext cx="3762000" cy="63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</a:t>
            </a:r>
            <a:endParaRPr/>
          </a:p>
        </p:txBody>
      </p:sp>
      <p:pic>
        <p:nvPicPr>
          <p:cNvPr id="253" name="Google Shape;2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6500" y="2170975"/>
            <a:ext cx="2214075" cy="80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6800" y="1845875"/>
            <a:ext cx="2481350" cy="175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5305" y="3940275"/>
            <a:ext cx="4299119" cy="76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Match</a:t>
            </a:r>
            <a:endParaRPr/>
          </a:p>
        </p:txBody>
      </p:sp>
      <p:sp>
        <p:nvSpPr>
          <p:cNvPr id="261" name="Google Shape;261;p38"/>
          <p:cNvSpPr txBox="1"/>
          <p:nvPr>
            <p:ph idx="1" type="body"/>
          </p:nvPr>
        </p:nvSpPr>
        <p:spPr>
          <a:xfrm>
            <a:off x="471900" y="1919075"/>
            <a:ext cx="33843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‘_’ will always match, so place it at the end!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match multiple conditions at once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</a:t>
            </a:r>
            <a:r>
              <a:rPr lang="en"/>
              <a:t>optionally include an if condition as an extra condition check</a:t>
            </a:r>
            <a:endParaRPr/>
          </a:p>
        </p:txBody>
      </p:sp>
      <p:pic>
        <p:nvPicPr>
          <p:cNvPr id="262" name="Google Shape;26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6275" y="1883562"/>
            <a:ext cx="2688375" cy="1376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9149" y="3283025"/>
            <a:ext cx="2688375" cy="16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While Loops</a:t>
            </a:r>
            <a:endParaRPr/>
          </a:p>
        </p:txBody>
      </p:sp>
      <p:pic>
        <p:nvPicPr>
          <p:cNvPr id="269" name="Google Shape;26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2290050"/>
            <a:ext cx="161925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35825" y="2356725"/>
            <a:ext cx="1628775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08450" y="2413887"/>
            <a:ext cx="3696100" cy="16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9"/>
          <p:cNvSpPr txBox="1"/>
          <p:nvPr/>
        </p:nvSpPr>
        <p:spPr>
          <a:xfrm>
            <a:off x="2283875" y="1788900"/>
            <a:ext cx="479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What is the output of the following: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Loops</a:t>
            </a:r>
            <a:endParaRPr/>
          </a:p>
        </p:txBody>
      </p:sp>
      <p:sp>
        <p:nvSpPr>
          <p:cNvPr id="278" name="Google Shape;278;p40"/>
          <p:cNvSpPr txBox="1"/>
          <p:nvPr>
            <p:ph idx="1" type="body"/>
          </p:nvPr>
        </p:nvSpPr>
        <p:spPr>
          <a:xfrm>
            <a:off x="471900" y="1919075"/>
            <a:ext cx="38226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for loops to iterate over lists, tuples, dictionaries, sets, or strings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 loops may be nested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Break/Continue is available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range() to iterate a certain number of times, or by a sequence</a:t>
            </a:r>
            <a:endParaRPr/>
          </a:p>
        </p:txBody>
      </p:sp>
      <p:pic>
        <p:nvPicPr>
          <p:cNvPr id="279" name="Google Shape;279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6925" y="1896184"/>
            <a:ext cx="3103800" cy="1351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74425" y="3466400"/>
            <a:ext cx="1428800" cy="49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37763" y="4109375"/>
            <a:ext cx="1902137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Behavior &amp; If Statements</a:t>
            </a:r>
            <a:endParaRPr/>
          </a:p>
        </p:txBody>
      </p:sp>
      <p:pic>
        <p:nvPicPr>
          <p:cNvPr id="287" name="Google Shape;2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1513" y="2071700"/>
            <a:ext cx="3400000" cy="18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8063" y="4194325"/>
            <a:ext cx="1666875" cy="52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41"/>
          <p:cNvSpPr txBox="1"/>
          <p:nvPr/>
        </p:nvSpPr>
        <p:spPr>
          <a:xfrm>
            <a:off x="4572000" y="2414600"/>
            <a:ext cx="44292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Logical evaluations will return a boolean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If statements use evaluations to route logic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The bool() constructor will make an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evaluation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 of whatever is passed to it (The example returns ‘true’ for both)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Falsy Values</a:t>
            </a:r>
            <a:endParaRPr/>
          </a:p>
        </p:txBody>
      </p:sp>
      <p:sp>
        <p:nvSpPr>
          <p:cNvPr id="295" name="Google Shape;295;p42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print(bool(False))   # bool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print(bool(None))    # NoneType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print(bool(0))       # int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print(bool(""))      # str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print(bool(()))      # tuple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print(bool([]))      # list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print(bool({}))      # dict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</a:t>
            </a:r>
            <a:endParaRPr/>
          </a:p>
        </p:txBody>
      </p:sp>
      <p:pic>
        <p:nvPicPr>
          <p:cNvPr id="301" name="Google Shape;30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150" y="1773125"/>
            <a:ext cx="582930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3"/>
          <p:cNvSpPr txBox="1"/>
          <p:nvPr/>
        </p:nvSpPr>
        <p:spPr>
          <a:xfrm>
            <a:off x="6657975" y="3018163"/>
            <a:ext cx="2200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 = returns float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// = returns integer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Operators</a:t>
            </a:r>
            <a:endParaRPr/>
          </a:p>
        </p:txBody>
      </p:sp>
      <p:pic>
        <p:nvPicPr>
          <p:cNvPr id="308" name="Google Shape;3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075" y="1897350"/>
            <a:ext cx="4186100" cy="281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4425" y="2302161"/>
            <a:ext cx="4639626" cy="173242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4"/>
          <p:cNvSpPr txBox="1"/>
          <p:nvPr/>
        </p:nvSpPr>
        <p:spPr>
          <a:xfrm flipH="1">
            <a:off x="4572000" y="4034575"/>
            <a:ext cx="4357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“:=” = python 3 walrus operator. It can accept an evaluation!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Operator</a:t>
            </a:r>
            <a:endParaRPr/>
          </a:p>
        </p:txBody>
      </p:sp>
      <p:pic>
        <p:nvPicPr>
          <p:cNvPr id="316" name="Google Shape;31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1987425"/>
            <a:ext cx="5810250" cy="280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875" y="2019300"/>
            <a:ext cx="1962150" cy="11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45"/>
          <p:cNvSpPr txBox="1"/>
          <p:nvPr/>
        </p:nvSpPr>
        <p:spPr>
          <a:xfrm>
            <a:off x="6572250" y="3557600"/>
            <a:ext cx="2400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may chain them!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Operators</a:t>
            </a:r>
            <a:endParaRPr/>
          </a:p>
        </p:txBody>
      </p:sp>
      <p:pic>
        <p:nvPicPr>
          <p:cNvPr id="324" name="Google Shape;32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3013" y="2173175"/>
            <a:ext cx="6657975" cy="191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Identity Operators</a:t>
            </a:r>
            <a:endParaRPr/>
          </a:p>
        </p:txBody>
      </p:sp>
      <p:pic>
        <p:nvPicPr>
          <p:cNvPr id="330" name="Google Shape;33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00" y="1873125"/>
            <a:ext cx="5857875" cy="154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95675" y="3782875"/>
            <a:ext cx="1098892" cy="90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76813" y="3965500"/>
            <a:ext cx="561975" cy="5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Membership Operators</a:t>
            </a:r>
            <a:endParaRPr/>
          </a:p>
        </p:txBody>
      </p:sp>
      <p:pic>
        <p:nvPicPr>
          <p:cNvPr id="338" name="Google Shape;33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5438" y="1723113"/>
            <a:ext cx="5915025" cy="176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4950" y="3607900"/>
            <a:ext cx="3067050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4475" y="4396075"/>
            <a:ext cx="30480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0" y="3701938"/>
            <a:ext cx="1847850" cy="111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Precedence</a:t>
            </a:r>
            <a:endParaRPr/>
          </a:p>
        </p:txBody>
      </p:sp>
      <p:sp>
        <p:nvSpPr>
          <p:cNvPr id="347" name="Google Shape;347;p49"/>
          <p:cNvSpPr txBox="1"/>
          <p:nvPr>
            <p:ph idx="1" type="body"/>
          </p:nvPr>
        </p:nvSpPr>
        <p:spPr>
          <a:xfrm>
            <a:off x="1357525" y="3004588"/>
            <a:ext cx="3457200" cy="46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Remember PEMDAS?</a:t>
            </a:r>
            <a:endParaRPr/>
          </a:p>
        </p:txBody>
      </p:sp>
      <p:pic>
        <p:nvPicPr>
          <p:cNvPr id="348" name="Google Shape;34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5175" y="1830875"/>
            <a:ext cx="2882225" cy="3157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354" name="Google Shape;354;p50"/>
          <p:cNvSpPr txBox="1"/>
          <p:nvPr>
            <p:ph idx="1" type="body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Goal:</a:t>
            </a:r>
            <a:endParaRPr b="1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PyCharm challenges</a:t>
            </a:r>
            <a:endParaRPr sz="1400"/>
          </a:p>
        </p:txBody>
      </p:sp>
      <p:sp>
        <p:nvSpPr>
          <p:cNvPr id="355" name="Google Shape;355;p50"/>
          <p:cNvSpPr txBox="1"/>
          <p:nvPr>
            <p:ph idx="1" type="body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Details:				~45-60 min</a:t>
            </a:r>
            <a:endParaRPr b="1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Complete the following in the 100 Days of Code PyCharm course: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Day 1 (All tasks)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Day 2 (All tasks)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Day 3 (All tasks)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</a:t>
            </a:r>
            <a:r>
              <a:rPr lang="en"/>
              <a:t>Numbers</a:t>
            </a:r>
            <a:endParaRPr/>
          </a:p>
        </p:txBody>
      </p:sp>
      <p:sp>
        <p:nvSpPr>
          <p:cNvPr id="361" name="Google Shape;361;p51"/>
          <p:cNvSpPr txBox="1"/>
          <p:nvPr>
            <p:ph idx="1" type="body"/>
          </p:nvPr>
        </p:nvSpPr>
        <p:spPr>
          <a:xfrm>
            <a:off x="600500" y="2004800"/>
            <a:ext cx="32910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many methods in the random module!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https://www.w3schools.com/python/module_random.asp</a:t>
            </a:r>
            <a:endParaRPr/>
          </a:p>
        </p:txBody>
      </p:sp>
      <p:pic>
        <p:nvPicPr>
          <p:cNvPr id="362" name="Google Shape;362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1750" y="2604675"/>
            <a:ext cx="4695675" cy="133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5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Quoteception, escape characters, &amp; Multi-Line Strings</a:t>
            </a:r>
            <a:endParaRPr/>
          </a:p>
        </p:txBody>
      </p:sp>
      <p:pic>
        <p:nvPicPr>
          <p:cNvPr id="368" name="Google Shape;368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450" y="2988413"/>
            <a:ext cx="2924175" cy="107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0800" y="2983638"/>
            <a:ext cx="2962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62325" y="1824650"/>
            <a:ext cx="241935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52675" y="2414588"/>
            <a:ext cx="4438650" cy="3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the contents of a string</a:t>
            </a:r>
            <a:endParaRPr/>
          </a:p>
        </p:txBody>
      </p:sp>
      <p:pic>
        <p:nvPicPr>
          <p:cNvPr id="377" name="Google Shape;377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1775" y="2084650"/>
            <a:ext cx="33623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4650" y="3186763"/>
            <a:ext cx="331470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8600" y="2608538"/>
            <a:ext cx="75680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28600" y="3765009"/>
            <a:ext cx="756800" cy="336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Slicing Strings</a:t>
            </a:r>
            <a:endParaRPr/>
          </a:p>
        </p:txBody>
      </p:sp>
      <p:sp>
        <p:nvSpPr>
          <p:cNvPr id="386" name="Google Shape;386;p54"/>
          <p:cNvSpPr txBox="1"/>
          <p:nvPr>
            <p:ph idx="1" type="body"/>
          </p:nvPr>
        </p:nvSpPr>
        <p:spPr>
          <a:xfrm>
            <a:off x="551825" y="3086650"/>
            <a:ext cx="1760700" cy="119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‘llo’</a:t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2 inclusive</a:t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5 exclusive</a:t>
            </a:r>
            <a:endParaRPr/>
          </a:p>
        </p:txBody>
      </p:sp>
      <p:pic>
        <p:nvPicPr>
          <p:cNvPr id="387" name="Google Shape;38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600" y="2423950"/>
            <a:ext cx="1581150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71425" y="2428713"/>
            <a:ext cx="161925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47600" y="3526100"/>
            <a:ext cx="1666875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54"/>
          <p:cNvSpPr txBox="1"/>
          <p:nvPr>
            <p:ph idx="1" type="body"/>
          </p:nvPr>
        </p:nvSpPr>
        <p:spPr>
          <a:xfrm>
            <a:off x="5207250" y="2428725"/>
            <a:ext cx="3610500" cy="119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Slice from the start: ‘Hello’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Or from the end: ‘llo, World!’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String Methods</a:t>
            </a:r>
            <a:endParaRPr/>
          </a:p>
        </p:txBody>
      </p:sp>
      <p:sp>
        <p:nvSpPr>
          <p:cNvPr id="396" name="Google Shape;396;p55"/>
          <p:cNvSpPr txBox="1"/>
          <p:nvPr>
            <p:ph idx="1" type="body"/>
          </p:nvPr>
        </p:nvSpPr>
        <p:spPr>
          <a:xfrm>
            <a:off x="4435550" y="1981775"/>
            <a:ext cx="43197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Force upper/lower case text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whitespace at the </a:t>
            </a:r>
            <a:r>
              <a:rPr lang="en"/>
              <a:t>beginning</a:t>
            </a:r>
            <a:r>
              <a:rPr lang="en"/>
              <a:t>/end of strings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every piece of matching text content with another string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Return a list of split strings</a:t>
            </a:r>
            <a:endParaRPr/>
          </a:p>
        </p:txBody>
      </p:sp>
      <p:pic>
        <p:nvPicPr>
          <p:cNvPr id="397" name="Google Shape;397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213" y="2042125"/>
            <a:ext cx="16383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4800" y="2571750"/>
            <a:ext cx="15811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0400" y="3035025"/>
            <a:ext cx="3409950" cy="4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12050" y="3539075"/>
            <a:ext cx="1926627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p5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0450" y="4029375"/>
            <a:ext cx="3529813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5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F-Strings</a:t>
            </a:r>
            <a:endParaRPr/>
          </a:p>
        </p:txBody>
      </p:sp>
      <p:sp>
        <p:nvSpPr>
          <p:cNvPr id="407" name="Google Shape;407;p56"/>
          <p:cNvSpPr txBox="1"/>
          <p:nvPr>
            <p:ph idx="1" type="body"/>
          </p:nvPr>
        </p:nvSpPr>
        <p:spPr>
          <a:xfrm>
            <a:off x="471900" y="1919075"/>
            <a:ext cx="35295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Formatted</a:t>
            </a:r>
            <a:r>
              <a:rPr lang="en"/>
              <a:t> String literals were introduced in Python 3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Dynamically assign values in strings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 </a:t>
            </a:r>
            <a:r>
              <a:rPr lang="en"/>
              <a:t>evaluations</a:t>
            </a:r>
            <a:r>
              <a:rPr lang="en"/>
              <a:t> &amp; format data</a:t>
            </a:r>
            <a:endParaRPr/>
          </a:p>
        </p:txBody>
      </p:sp>
      <p:pic>
        <p:nvPicPr>
          <p:cNvPr id="408" name="Google Shape;408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768575"/>
            <a:ext cx="2933700" cy="86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0575" y="2698050"/>
            <a:ext cx="2876550" cy="6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5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76738" y="3408450"/>
            <a:ext cx="3324225" cy="67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1" name="Google Shape;411;p5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76750" y="4219700"/>
            <a:ext cx="3124200" cy="4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R-Strings</a:t>
            </a:r>
            <a:endParaRPr/>
          </a:p>
        </p:txBody>
      </p:sp>
      <p:sp>
        <p:nvSpPr>
          <p:cNvPr id="417" name="Google Shape;417;p57"/>
          <p:cNvSpPr txBox="1"/>
          <p:nvPr>
            <p:ph idx="1" type="body"/>
          </p:nvPr>
        </p:nvSpPr>
        <p:spPr>
          <a:xfrm>
            <a:off x="1953750" y="2087850"/>
            <a:ext cx="5258400" cy="4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Raw strings will force the string to behave literally:</a:t>
            </a:r>
            <a:endParaRPr/>
          </a:p>
        </p:txBody>
      </p:sp>
      <p:pic>
        <p:nvPicPr>
          <p:cNvPr id="418" name="Google Shape;41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4125" y="2878850"/>
            <a:ext cx="4095750" cy="81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Method Reference</a:t>
            </a:r>
            <a:endParaRPr/>
          </a:p>
        </p:txBody>
      </p:sp>
      <p:sp>
        <p:nvSpPr>
          <p:cNvPr id="424" name="Google Shape;424;p58"/>
          <p:cNvSpPr txBox="1"/>
          <p:nvPr/>
        </p:nvSpPr>
        <p:spPr>
          <a:xfrm>
            <a:off x="3082950" y="4587525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https://www.w3schools.com/python/python_strings_methods.asp</a:t>
            </a:r>
            <a:endParaRPr/>
          </a:p>
        </p:txBody>
      </p:sp>
      <p:pic>
        <p:nvPicPr>
          <p:cNvPr id="425" name="Google Shape;42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25" y="1832639"/>
            <a:ext cx="3873975" cy="265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5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5000" y="1904462"/>
            <a:ext cx="2306075" cy="250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5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5850" y="1904450"/>
            <a:ext cx="2538125" cy="23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Collections</a:t>
            </a:r>
            <a:endParaRPr/>
          </a:p>
        </p:txBody>
      </p:sp>
      <p:sp>
        <p:nvSpPr>
          <p:cNvPr id="433" name="Google Shape;433;p59"/>
          <p:cNvSpPr txBox="1"/>
          <p:nvPr>
            <p:ph idx="1" type="body"/>
          </p:nvPr>
        </p:nvSpPr>
        <p:spPr>
          <a:xfrm>
            <a:off x="671925" y="1981575"/>
            <a:ext cx="3300000" cy="231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Ordered/indexed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Changeable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Tuples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Unchangeable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</p:txBody>
      </p:sp>
      <p:sp>
        <p:nvSpPr>
          <p:cNvPr id="434" name="Google Shape;434;p59"/>
          <p:cNvSpPr txBox="1"/>
          <p:nvPr/>
        </p:nvSpPr>
        <p:spPr>
          <a:xfrm>
            <a:off x="4457675" y="1981575"/>
            <a:ext cx="3300000" cy="26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Sets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Unindexed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Dictionaries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No duplicates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vs Mutable Types</a:t>
            </a:r>
            <a:endParaRPr/>
          </a:p>
        </p:txBody>
      </p:sp>
      <p:sp>
        <p:nvSpPr>
          <p:cNvPr id="440" name="Google Shape;440;p60"/>
          <p:cNvSpPr txBox="1"/>
          <p:nvPr>
            <p:ph idx="1" type="body"/>
          </p:nvPr>
        </p:nvSpPr>
        <p:spPr>
          <a:xfrm>
            <a:off x="471900" y="1919075"/>
            <a:ext cx="43143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Non-collection </a:t>
            </a:r>
            <a:r>
              <a:rPr lang="en"/>
              <a:t>types</a:t>
            </a:r>
            <a:r>
              <a:rPr lang="en"/>
              <a:t> are also called immutable, </a:t>
            </a:r>
            <a:r>
              <a:rPr lang="en"/>
              <a:t>because</a:t>
            </a:r>
            <a:r>
              <a:rPr lang="en"/>
              <a:t> a new space is reserved in memory for each new declaration.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Collections are mutable because we may add and remove to the existing object in memory.</a:t>
            </a:r>
            <a:endParaRPr/>
          </a:p>
        </p:txBody>
      </p:sp>
      <p:pic>
        <p:nvPicPr>
          <p:cNvPr id="441" name="Google Shape;44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4625" y="1919075"/>
            <a:ext cx="3238500" cy="120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1950" y="3314650"/>
            <a:ext cx="3003847" cy="16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6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Lists</a:t>
            </a:r>
            <a:endParaRPr/>
          </a:p>
        </p:txBody>
      </p:sp>
      <p:pic>
        <p:nvPicPr>
          <p:cNvPr id="448" name="Google Shape;44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9625" y="2001725"/>
            <a:ext cx="3181350" cy="447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49" name="Google Shape;449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9638" y="2571750"/>
            <a:ext cx="2962275" cy="657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50" name="Google Shape;450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875" y="3351325"/>
            <a:ext cx="2971800" cy="30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51" name="Google Shape;451;p61"/>
          <p:cNvSpPr txBox="1"/>
          <p:nvPr/>
        </p:nvSpPr>
        <p:spPr>
          <a:xfrm>
            <a:off x="4014800" y="2488375"/>
            <a:ext cx="4471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easily get the length of a list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be ANY datatype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contain mixed datatypes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Retrieve items from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positive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/negative indices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2" name="Google Shape;452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90650" y="4506775"/>
            <a:ext cx="63627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4875" y="3864488"/>
            <a:ext cx="2837202" cy="4339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List Syntax</a:t>
            </a:r>
            <a:endParaRPr/>
          </a:p>
        </p:txBody>
      </p:sp>
      <p:sp>
        <p:nvSpPr>
          <p:cNvPr id="459" name="Google Shape;459;p62"/>
          <p:cNvSpPr txBox="1"/>
          <p:nvPr>
            <p:ph idx="1" type="body"/>
          </p:nvPr>
        </p:nvSpPr>
        <p:spPr>
          <a:xfrm>
            <a:off x="5500700" y="1966925"/>
            <a:ext cx="3536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the </a:t>
            </a:r>
            <a:r>
              <a:rPr lang="en"/>
              <a:t>beginning</a:t>
            </a:r>
            <a:r>
              <a:rPr lang="en"/>
              <a:t> to a defined stop point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a defined start point till the end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Check if items are in a list</a:t>
            </a:r>
            <a:endParaRPr/>
          </a:p>
        </p:txBody>
      </p:sp>
      <p:pic>
        <p:nvPicPr>
          <p:cNvPr id="460" name="Google Shape;46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52650"/>
            <a:ext cx="5110672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920884"/>
            <a:ext cx="5110675" cy="394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579879"/>
            <a:ext cx="5110675" cy="378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6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692" y="4157475"/>
            <a:ext cx="3536100" cy="68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6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69" name="Google Shape;469;p63"/>
          <p:cNvSpPr txBox="1"/>
          <p:nvPr>
            <p:ph idx="1" type="body"/>
          </p:nvPr>
        </p:nvSpPr>
        <p:spPr>
          <a:xfrm>
            <a:off x="186250" y="2033375"/>
            <a:ext cx="45408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items in a list from its index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multiple new items into a list while replacing items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items without replacing anything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items to the end of a list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Concatenate a list and another list/set/dictionary</a:t>
            </a:r>
            <a:endParaRPr/>
          </a:p>
        </p:txBody>
      </p:sp>
      <p:pic>
        <p:nvPicPr>
          <p:cNvPr id="470" name="Google Shape;470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3650" y="1792200"/>
            <a:ext cx="3238500" cy="495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71" name="Google Shape;471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5525" y="2364875"/>
            <a:ext cx="3714750" cy="447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72" name="Google Shape;472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8888" y="2889925"/>
            <a:ext cx="3248025" cy="495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73" name="Google Shape;473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57950" y="3462600"/>
            <a:ext cx="3209925" cy="438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74" name="Google Shape;474;p6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9650" y="3978138"/>
            <a:ext cx="3046515" cy="4339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75" name="Google Shape;475;p6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0175" y="4550813"/>
            <a:ext cx="2005438" cy="4339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6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81" name="Google Shape;481;p64"/>
          <p:cNvSpPr txBox="1"/>
          <p:nvPr>
            <p:ph idx="1" type="body"/>
          </p:nvPr>
        </p:nvSpPr>
        <p:spPr>
          <a:xfrm>
            <a:off x="4371975" y="1919075"/>
            <a:ext cx="43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object by its </a:t>
            </a:r>
            <a:r>
              <a:rPr lang="en"/>
              <a:t>identity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item by its index with pop(), or just the last item if nothing specified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del keyword can delete an item or the list itself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clear() method empties the list but the list still exists in memory</a:t>
            </a:r>
            <a:endParaRPr/>
          </a:p>
        </p:txBody>
      </p:sp>
      <p:pic>
        <p:nvPicPr>
          <p:cNvPr id="482" name="Google Shape;48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925" y="2158850"/>
            <a:ext cx="3219450" cy="4762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83" name="Google Shape;483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3350" y="2728875"/>
            <a:ext cx="3276600" cy="466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84" name="Google Shape;484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6688" y="3289375"/>
            <a:ext cx="3209925" cy="447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85" name="Google Shape;485;p6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2400" y="3960875"/>
            <a:ext cx="3238500" cy="4286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Iterating over lists</a:t>
            </a:r>
            <a:endParaRPr/>
          </a:p>
        </p:txBody>
      </p:sp>
      <p:sp>
        <p:nvSpPr>
          <p:cNvPr id="491" name="Google Shape;491;p65"/>
          <p:cNvSpPr txBox="1"/>
          <p:nvPr>
            <p:ph idx="1" type="body"/>
          </p:nvPr>
        </p:nvSpPr>
        <p:spPr>
          <a:xfrm>
            <a:off x="471900" y="1919075"/>
            <a:ext cx="42144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loops can iterate over lists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loops can </a:t>
            </a:r>
            <a:r>
              <a:rPr lang="en"/>
              <a:t>iterate</a:t>
            </a:r>
            <a:r>
              <a:rPr lang="en"/>
              <a:t> over lists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List Comprehension syntax is the shortest form to iterate over a list</a:t>
            </a:r>
            <a:endParaRPr/>
          </a:p>
        </p:txBody>
      </p:sp>
      <p:pic>
        <p:nvPicPr>
          <p:cNvPr id="492" name="Google Shape;49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6246" y="1833350"/>
            <a:ext cx="2929584" cy="623497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93" name="Google Shape;493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3328" y="2565102"/>
            <a:ext cx="2895419" cy="66620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94" name="Google Shape;494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1975" y="3339559"/>
            <a:ext cx="2938125" cy="101638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95" name="Google Shape;495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1095" y="4464200"/>
            <a:ext cx="2739915" cy="389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1" name="Google Shape;501;p66"/>
          <p:cNvSpPr txBox="1"/>
          <p:nvPr>
            <p:ph idx="1" type="body"/>
          </p:nvPr>
        </p:nvSpPr>
        <p:spPr>
          <a:xfrm>
            <a:off x="471900" y="1919075"/>
            <a:ext cx="8286300" cy="11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new list of fruits that have ‘a’ in the name.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List comprehension is </a:t>
            </a:r>
            <a:r>
              <a:rPr lang="en"/>
              <a:t>syntactic</a:t>
            </a:r>
            <a:r>
              <a:rPr lang="en"/>
              <a:t> sugar that shortens/cleans up our code!</a:t>
            </a:r>
            <a:endParaRPr/>
          </a:p>
        </p:txBody>
      </p:sp>
      <p:pic>
        <p:nvPicPr>
          <p:cNvPr id="502" name="Google Shape;50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150" y="3306038"/>
            <a:ext cx="4019550" cy="154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3527225"/>
            <a:ext cx="437197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9" name="Google Shape;509;p67"/>
          <p:cNvSpPr txBox="1"/>
          <p:nvPr>
            <p:ph idx="1" type="body"/>
          </p:nvPr>
        </p:nvSpPr>
        <p:spPr>
          <a:xfrm>
            <a:off x="471900" y="2417725"/>
            <a:ext cx="8222100" cy="4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 will return a new list, leaving the old one unchanged.</a:t>
            </a:r>
            <a:endParaRPr/>
          </a:p>
          <a:p>
            <a:pPr indent="0" lvl="0" marL="0" rtl="0" algn="ctr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The expression is the current item in the iteration but also the outcome. We can modify the item before it stores in the new list:</a:t>
            </a:r>
            <a:endParaRPr/>
          </a:p>
        </p:txBody>
      </p:sp>
      <p:pic>
        <p:nvPicPr>
          <p:cNvPr id="510" name="Google Shape;51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9275" y="1909900"/>
            <a:ext cx="5467350" cy="342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1" name="Google Shape;511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8475" y="3795825"/>
            <a:ext cx="3028950" cy="2095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12" name="Google Shape;512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81225" y="4614975"/>
            <a:ext cx="4781550" cy="2667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513" name="Google Shape;513;p67"/>
          <p:cNvSpPr txBox="1"/>
          <p:nvPr/>
        </p:nvSpPr>
        <p:spPr>
          <a:xfrm>
            <a:off x="570300" y="4148175"/>
            <a:ext cx="80034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Return the item if it is NOT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banana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, if it IS </a:t>
            </a: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banana then return orange.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 Lists</a:t>
            </a:r>
            <a:endParaRPr/>
          </a:p>
        </p:txBody>
      </p:sp>
      <p:sp>
        <p:nvSpPr>
          <p:cNvPr id="519" name="Google Shape;519;p68"/>
          <p:cNvSpPr txBox="1"/>
          <p:nvPr>
            <p:ph idx="1" type="body"/>
          </p:nvPr>
        </p:nvSpPr>
        <p:spPr>
          <a:xfrm>
            <a:off x="471900" y="1761250"/>
            <a:ext cx="8222100" cy="3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Alphabetically/Numerically:</a:t>
            </a:r>
            <a:endParaRPr/>
          </a:p>
        </p:txBody>
      </p:sp>
      <p:pic>
        <p:nvPicPr>
          <p:cNvPr id="520" name="Google Shape;520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425" y="2285750"/>
            <a:ext cx="5667949" cy="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3950" y="2296275"/>
            <a:ext cx="2721450" cy="550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8750" y="3789925"/>
            <a:ext cx="5667950" cy="547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93950" y="3789925"/>
            <a:ext cx="2721450" cy="476759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68"/>
          <p:cNvSpPr txBox="1"/>
          <p:nvPr>
            <p:ph idx="1" type="body"/>
          </p:nvPr>
        </p:nvSpPr>
        <p:spPr>
          <a:xfrm>
            <a:off x="471900" y="3275500"/>
            <a:ext cx="8222100" cy="3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descending: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Insensitive Sort</a:t>
            </a:r>
            <a:endParaRPr/>
          </a:p>
        </p:txBody>
      </p:sp>
      <p:sp>
        <p:nvSpPr>
          <p:cNvPr id="530" name="Google Shape;530;p69"/>
          <p:cNvSpPr txBox="1"/>
          <p:nvPr>
            <p:ph idx="1" type="body"/>
          </p:nvPr>
        </p:nvSpPr>
        <p:spPr>
          <a:xfrm>
            <a:off x="460950" y="1798650"/>
            <a:ext cx="8222100" cy="35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gives unexpected results (sorts uppercase words first)</a:t>
            </a:r>
            <a:endParaRPr/>
          </a:p>
        </p:txBody>
      </p:sp>
      <p:pic>
        <p:nvPicPr>
          <p:cNvPr id="531" name="Google Shape;53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5888" y="2282275"/>
            <a:ext cx="4880875" cy="62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0200" y="3681050"/>
            <a:ext cx="5943600" cy="752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69"/>
          <p:cNvSpPr txBox="1"/>
          <p:nvPr>
            <p:ph idx="1" type="body"/>
          </p:nvPr>
        </p:nvSpPr>
        <p:spPr>
          <a:xfrm>
            <a:off x="572425" y="2903800"/>
            <a:ext cx="8222100" cy="35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 all values to lowercase before your sort, thus making it case-insensitive (won’t permanently change the values):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7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 Sort</a:t>
            </a:r>
            <a:endParaRPr/>
          </a:p>
        </p:txBody>
      </p:sp>
      <p:sp>
        <p:nvSpPr>
          <p:cNvPr id="539" name="Google Shape;539;p70"/>
          <p:cNvSpPr txBox="1"/>
          <p:nvPr>
            <p:ph idx="1" type="body"/>
          </p:nvPr>
        </p:nvSpPr>
        <p:spPr>
          <a:xfrm>
            <a:off x="471900" y="1919075"/>
            <a:ext cx="3886800" cy="29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Define a function to use as a sorting </a:t>
            </a:r>
            <a:r>
              <a:rPr lang="en"/>
              <a:t>algorithm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first example will sort the list from least&gt;most words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have more than one key; The second example uses this to reverse the list</a:t>
            </a:r>
            <a:endParaRPr/>
          </a:p>
        </p:txBody>
      </p:sp>
      <p:pic>
        <p:nvPicPr>
          <p:cNvPr id="540" name="Google Shape;54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4275" y="1871025"/>
            <a:ext cx="3360075" cy="156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4213" y="3521925"/>
            <a:ext cx="3160200" cy="148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7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Reversing a list</a:t>
            </a:r>
            <a:endParaRPr/>
          </a:p>
        </p:txBody>
      </p:sp>
      <p:pic>
        <p:nvPicPr>
          <p:cNvPr id="547" name="Google Shape;547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7813" y="2028825"/>
            <a:ext cx="6010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8" name="Google Shape;548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25" y="3576850"/>
            <a:ext cx="49339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72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list methods</a:t>
            </a:r>
            <a:endParaRPr/>
          </a:p>
        </p:txBody>
      </p:sp>
      <p:sp>
        <p:nvSpPr>
          <p:cNvPr id="554" name="Google Shape;554;p72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List Method Reference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7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560" name="Google Shape;560;p73"/>
          <p:cNvSpPr txBox="1"/>
          <p:nvPr>
            <p:ph idx="1" type="body"/>
          </p:nvPr>
        </p:nvSpPr>
        <p:spPr>
          <a:xfrm>
            <a:off x="471900" y="1919075"/>
            <a:ext cx="8222100" cy="47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Remember Tuples are: 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Ordered, allows duplicates, &amp; unchangeable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 be any type &amp; tuples can have mixed types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Access syntax is identical to lists</a:t>
            </a:r>
            <a:endParaRPr/>
          </a:p>
        </p:txBody>
      </p:sp>
      <p:pic>
        <p:nvPicPr>
          <p:cNvPr id="561" name="Google Shape;561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0250" y="3706500"/>
            <a:ext cx="4905375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7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567" name="Google Shape;567;p74"/>
          <p:cNvSpPr txBox="1"/>
          <p:nvPr>
            <p:ph idx="1" type="body"/>
          </p:nvPr>
        </p:nvSpPr>
        <p:spPr>
          <a:xfrm>
            <a:off x="471900" y="1919075"/>
            <a:ext cx="3764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can’t change a tuple, but we can: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tuple to a list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Make a change, delete, or add items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list back into a tuple</a:t>
            </a:r>
            <a:endParaRPr/>
          </a:p>
        </p:txBody>
      </p:sp>
      <p:pic>
        <p:nvPicPr>
          <p:cNvPr id="568" name="Google Shape;568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6200" y="2272738"/>
            <a:ext cx="3930900" cy="2002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7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Unpacking Tuples</a:t>
            </a:r>
            <a:endParaRPr/>
          </a:p>
        </p:txBody>
      </p:sp>
      <p:pic>
        <p:nvPicPr>
          <p:cNvPr id="574" name="Google Shape;574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7388" y="2196500"/>
            <a:ext cx="3671125" cy="190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7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Count unique items &amp; get the index of an item</a:t>
            </a:r>
            <a:endParaRPr sz="3100"/>
          </a:p>
        </p:txBody>
      </p:sp>
      <p:pic>
        <p:nvPicPr>
          <p:cNvPr id="580" name="Google Shape;58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1834175"/>
            <a:ext cx="50673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1" name="Google Shape;581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1450" y="3591975"/>
            <a:ext cx="4241098" cy="13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7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Sets</a:t>
            </a:r>
            <a:endParaRPr/>
          </a:p>
        </p:txBody>
      </p:sp>
      <p:sp>
        <p:nvSpPr>
          <p:cNvPr id="587" name="Google Shape;587;p77"/>
          <p:cNvSpPr txBox="1"/>
          <p:nvPr>
            <p:ph idx="1" type="body"/>
          </p:nvPr>
        </p:nvSpPr>
        <p:spPr>
          <a:xfrm>
            <a:off x="471900" y="1919075"/>
            <a:ext cx="8222100" cy="3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Sets are: unordered, unindexed, &amp; items are unchangeable.</a:t>
            </a:r>
            <a:endParaRPr/>
          </a:p>
        </p:txBody>
      </p:sp>
      <p:pic>
        <p:nvPicPr>
          <p:cNvPr id="588" name="Google Shape;588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7425" y="2444025"/>
            <a:ext cx="46291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9713" y="3674450"/>
            <a:ext cx="6124575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7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49300" y="4261550"/>
            <a:ext cx="4867275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77"/>
          <p:cNvSpPr txBox="1"/>
          <p:nvPr>
            <p:ph idx="1" type="body"/>
          </p:nvPr>
        </p:nvSpPr>
        <p:spPr>
          <a:xfrm>
            <a:off x="548350" y="3008688"/>
            <a:ext cx="8222100" cy="3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Any </a:t>
            </a:r>
            <a:r>
              <a:rPr lang="en"/>
              <a:t>type</a:t>
            </a:r>
            <a:r>
              <a:rPr lang="en"/>
              <a:t> and mixed </a:t>
            </a:r>
            <a:r>
              <a:rPr lang="en"/>
              <a:t>types</a:t>
            </a:r>
            <a:r>
              <a:rPr lang="en"/>
              <a:t> are allowed, but duplicated are not (1=True, 0=False considered duplicates):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7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Access</a:t>
            </a:r>
            <a:endParaRPr/>
          </a:p>
        </p:txBody>
      </p:sp>
      <p:sp>
        <p:nvSpPr>
          <p:cNvPr id="597" name="Google Shape;597;p78"/>
          <p:cNvSpPr txBox="1"/>
          <p:nvPr>
            <p:ph idx="1" type="body"/>
          </p:nvPr>
        </p:nvSpPr>
        <p:spPr>
          <a:xfrm>
            <a:off x="1839450" y="1743750"/>
            <a:ext cx="5465100" cy="47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Either loop through it or use membership operators:</a:t>
            </a:r>
            <a:endParaRPr/>
          </a:p>
        </p:txBody>
      </p:sp>
      <p:pic>
        <p:nvPicPr>
          <p:cNvPr id="598" name="Google Shape;598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50" y="2936475"/>
            <a:ext cx="4191425" cy="119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9" name="Google Shape;599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6499" y="2452975"/>
            <a:ext cx="4349425" cy="96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7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6500" y="3734950"/>
            <a:ext cx="4349425" cy="9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79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Add/Remove Set Items</a:t>
            </a:r>
            <a:endParaRPr/>
          </a:p>
        </p:txBody>
      </p:sp>
      <p:sp>
        <p:nvSpPr>
          <p:cNvPr id="606" name="Google Shape;606;p79"/>
          <p:cNvSpPr txBox="1"/>
          <p:nvPr>
            <p:ph idx="1" type="body"/>
          </p:nvPr>
        </p:nvSpPr>
        <p:spPr>
          <a:xfrm>
            <a:off x="460950" y="1772950"/>
            <a:ext cx="8222100" cy="4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We can’t modify set items but we can add/remove them:</a:t>
            </a:r>
            <a:endParaRPr sz="15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500"/>
              <a:t>**remove </a:t>
            </a:r>
            <a:r>
              <a:rPr lang="en" sz="1500"/>
              <a:t>method</a:t>
            </a:r>
            <a:r>
              <a:rPr lang="en" sz="1500"/>
              <a:t> has warnings, discard does not. **pop will remove random item</a:t>
            </a:r>
            <a:endParaRPr sz="1500"/>
          </a:p>
        </p:txBody>
      </p:sp>
      <p:pic>
        <p:nvPicPr>
          <p:cNvPr id="607" name="Google Shape;607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7850" y="2571750"/>
            <a:ext cx="3610176" cy="88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8" name="Google Shape;608;p7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825" y="3704150"/>
            <a:ext cx="3610175" cy="953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7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6697" y="2571747"/>
            <a:ext cx="3578950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7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1682" y="3808300"/>
            <a:ext cx="3695417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7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78203" y="4753475"/>
            <a:ext cx="1787582" cy="39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80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Sets</a:t>
            </a:r>
            <a:endParaRPr/>
          </a:p>
        </p:txBody>
      </p:sp>
      <p:sp>
        <p:nvSpPr>
          <p:cNvPr id="617" name="Google Shape;617;p80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Join Sets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Frozen Sets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Set Method Reference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