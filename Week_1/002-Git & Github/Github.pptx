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2" r:id="rId6"/>
    <p:sldId id="269" r:id="rId7"/>
    <p:sldId id="263" r:id="rId8"/>
    <p:sldId id="264" r:id="rId9"/>
    <p:sldId id="265" r:id="rId10"/>
    <p:sldId id="266" r:id="rId11"/>
    <p:sldId id="267" r:id="rId12"/>
    <p:sldId id="268" r:id="rId13"/>
    <p:sldId id="273" r:id="rId14"/>
    <p:sldId id="271" r:id="rId15"/>
    <p:sldId id="272" r:id="rId16"/>
    <p:sldId id="274" r:id="rId17"/>
    <p:sldId id="27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3D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8EF453-3095-AE8A-2F6D-B0378CA79EC1}" v="28" dt="2025-06-02T16:07:27.587"/>
    <p1510:client id="{DEF17522-F9FC-8578-697D-16CF15692E13}" v="5" dt="2025-06-03T14:51:56.4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316" autoAdjust="0"/>
    <p:restoredTop sz="94660"/>
  </p:normalViewPr>
  <p:slideViewPr>
    <p:cSldViewPr snapToGrid="0">
      <p:cViewPr varScale="1">
        <p:scale>
          <a:sx n="50" d="100"/>
          <a:sy n="50" d="100"/>
        </p:scale>
        <p:origin x="56"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9/19/2025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88113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1587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dirty="0"/>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9/19/2025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47375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9/19/2025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26509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9/19/2025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92248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9/19/2025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59988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98299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dirty="0"/>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9/19/2025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137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dirty="0"/>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79716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09061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9/19/2025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9855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9/19/2025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7661564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Git &amp; </a:t>
            </a:r>
            <a:r>
              <a:rPr lang="en-US" dirty="0" err="1"/>
              <a:t>Github</a:t>
            </a: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C488F-53EE-158B-83F1-79F64C7EB47E}"/>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FDEF6C03-7BF4-387E-1067-943EBCE6F505}"/>
              </a:ext>
            </a:extLst>
          </p:cNvPr>
          <p:cNvSpPr>
            <a:spLocks noGrp="1"/>
          </p:cNvSpPr>
          <p:nvPr>
            <p:ph idx="1"/>
          </p:nvPr>
        </p:nvSpPr>
        <p:spPr/>
        <p:txBody>
          <a:bodyPr/>
          <a:lstStyle/>
          <a:p>
            <a:pPr marL="305435" indent="-305435"/>
            <a:r>
              <a:rPr lang="en-US" dirty="0"/>
              <a:t>Intro to Git &amp; GitHub</a:t>
            </a:r>
          </a:p>
          <a:p>
            <a:pPr marL="305435" indent="-305435"/>
            <a:r>
              <a:rPr lang="en-US" dirty="0" err="1"/>
              <a:t>init</a:t>
            </a:r>
            <a:r>
              <a:rPr lang="en-US" dirty="0"/>
              <a:t> &amp; config </a:t>
            </a:r>
          </a:p>
          <a:p>
            <a:pPr marL="305435" indent="-305435"/>
            <a:r>
              <a:rPr lang="en-US" dirty="0"/>
              <a:t>add, commit, remote, push, &amp; status</a:t>
            </a:r>
          </a:p>
          <a:p>
            <a:pPr marL="305435" indent="-305435"/>
            <a:r>
              <a:rPr lang="en-US" dirty="0"/>
              <a:t>clone, branch, fetch, pull</a:t>
            </a:r>
          </a:p>
          <a:p>
            <a:pPr marL="305435" indent="-305435"/>
            <a:endParaRPr lang="en-US" dirty="0"/>
          </a:p>
          <a:p>
            <a:pPr marL="305435" indent="-305435"/>
            <a:endParaRPr lang="en-US" dirty="0"/>
          </a:p>
        </p:txBody>
      </p:sp>
    </p:spTree>
    <p:extLst>
      <p:ext uri="{BB962C8B-B14F-4D97-AF65-F5344CB8AC3E}">
        <p14:creationId xmlns:p14="http://schemas.microsoft.com/office/powerpoint/2010/main" val="3663456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C238F-894E-1AD3-43B6-54735C4530EF}"/>
              </a:ext>
            </a:extLst>
          </p:cNvPr>
          <p:cNvSpPr>
            <a:spLocks noGrp="1"/>
          </p:cNvSpPr>
          <p:nvPr>
            <p:ph type="title"/>
          </p:nvPr>
        </p:nvSpPr>
        <p:spPr/>
        <p:txBody>
          <a:bodyPr/>
          <a:lstStyle/>
          <a:p>
            <a:r>
              <a:rPr lang="en-US" dirty="0"/>
              <a:t>What is Git? What is </a:t>
            </a:r>
            <a:r>
              <a:rPr lang="en-US" dirty="0" err="1"/>
              <a:t>Github</a:t>
            </a:r>
            <a:r>
              <a:rPr lang="en-US" dirty="0"/>
              <a:t>?</a:t>
            </a:r>
          </a:p>
        </p:txBody>
      </p:sp>
      <p:sp>
        <p:nvSpPr>
          <p:cNvPr id="3" name="Content Placeholder 2">
            <a:extLst>
              <a:ext uri="{FF2B5EF4-FFF2-40B4-BE49-F238E27FC236}">
                <a16:creationId xmlns:a16="http://schemas.microsoft.com/office/drawing/2014/main" id="{2F4BE4BF-94C3-E154-89FA-7FA2E70EE1F9}"/>
              </a:ext>
            </a:extLst>
          </p:cNvPr>
          <p:cNvSpPr>
            <a:spLocks noGrp="1"/>
          </p:cNvSpPr>
          <p:nvPr>
            <p:ph idx="1"/>
          </p:nvPr>
        </p:nvSpPr>
        <p:spPr/>
        <p:txBody>
          <a:bodyPr/>
          <a:lstStyle/>
          <a:p>
            <a:r>
              <a:rPr lang="en-US" dirty="0"/>
              <a:t>Definition: </a:t>
            </a:r>
            <a:r>
              <a:rPr lang="en-US" dirty="0">
                <a:solidFill>
                  <a:schemeClr val="accent2"/>
                </a:solidFill>
              </a:rPr>
              <a:t>Git</a:t>
            </a:r>
            <a:r>
              <a:rPr lang="en-US" dirty="0"/>
              <a:t> – a version control system (VCS) that tracks changes in source code, so developers can collaborate, roll back to earlier versions, and branch off for experiments without breaking the main codebase.</a:t>
            </a:r>
          </a:p>
          <a:p>
            <a:r>
              <a:rPr lang="en-US" dirty="0"/>
              <a:t>Definition </a:t>
            </a:r>
            <a:r>
              <a:rPr lang="en-US" dirty="0">
                <a:solidFill>
                  <a:schemeClr val="accent2"/>
                </a:solidFill>
              </a:rPr>
              <a:t>GitHub</a:t>
            </a:r>
            <a:r>
              <a:rPr lang="en-US" dirty="0"/>
              <a:t> – a cloud-based hosting platform for Git repositories. </a:t>
            </a:r>
          </a:p>
        </p:txBody>
      </p:sp>
    </p:spTree>
    <p:extLst>
      <p:ext uri="{BB962C8B-B14F-4D97-AF65-F5344CB8AC3E}">
        <p14:creationId xmlns:p14="http://schemas.microsoft.com/office/powerpoint/2010/main" val="1137266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EEDA4-671D-77BB-5B3E-6EE88C2089B3}"/>
              </a:ext>
            </a:extLst>
          </p:cNvPr>
          <p:cNvSpPr>
            <a:spLocks noGrp="1"/>
          </p:cNvSpPr>
          <p:nvPr>
            <p:ph type="title"/>
          </p:nvPr>
        </p:nvSpPr>
        <p:spPr/>
        <p:txBody>
          <a:bodyPr/>
          <a:lstStyle/>
          <a:p>
            <a:r>
              <a:rPr lang="en-US" dirty="0"/>
              <a:t>Init &amp; config</a:t>
            </a:r>
          </a:p>
        </p:txBody>
      </p:sp>
      <p:pic>
        <p:nvPicPr>
          <p:cNvPr id="5" name="Picture 4">
            <a:extLst>
              <a:ext uri="{FF2B5EF4-FFF2-40B4-BE49-F238E27FC236}">
                <a16:creationId xmlns:a16="http://schemas.microsoft.com/office/drawing/2014/main" id="{0E4FDBB1-1DA5-9AB3-A05A-BEB6A4965780}"/>
              </a:ext>
            </a:extLst>
          </p:cNvPr>
          <p:cNvPicPr>
            <a:picLocks noChangeAspect="1"/>
          </p:cNvPicPr>
          <p:nvPr/>
        </p:nvPicPr>
        <p:blipFill>
          <a:blip r:embed="rId2"/>
          <a:stretch>
            <a:fillRect/>
          </a:stretch>
        </p:blipFill>
        <p:spPr>
          <a:xfrm>
            <a:off x="2742732" y="2305020"/>
            <a:ext cx="6706536" cy="419158"/>
          </a:xfrm>
          <a:prstGeom prst="rect">
            <a:avLst/>
          </a:prstGeom>
        </p:spPr>
      </p:pic>
      <p:pic>
        <p:nvPicPr>
          <p:cNvPr id="7" name="Picture 6">
            <a:extLst>
              <a:ext uri="{FF2B5EF4-FFF2-40B4-BE49-F238E27FC236}">
                <a16:creationId xmlns:a16="http://schemas.microsoft.com/office/drawing/2014/main" id="{BA03A3D0-FAFF-EB27-0C0E-1B73AAEF4D53}"/>
              </a:ext>
            </a:extLst>
          </p:cNvPr>
          <p:cNvPicPr>
            <a:picLocks noChangeAspect="1"/>
          </p:cNvPicPr>
          <p:nvPr/>
        </p:nvPicPr>
        <p:blipFill>
          <a:blip r:embed="rId3"/>
          <a:stretch>
            <a:fillRect/>
          </a:stretch>
        </p:blipFill>
        <p:spPr>
          <a:xfrm>
            <a:off x="2118757" y="3023910"/>
            <a:ext cx="7954485" cy="3267531"/>
          </a:xfrm>
          <a:prstGeom prst="rect">
            <a:avLst/>
          </a:prstGeom>
        </p:spPr>
      </p:pic>
    </p:spTree>
    <p:extLst>
      <p:ext uri="{BB962C8B-B14F-4D97-AF65-F5344CB8AC3E}">
        <p14:creationId xmlns:p14="http://schemas.microsoft.com/office/powerpoint/2010/main" val="747684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D92F2-BD3F-5502-960E-3CFF357784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D234C-D59D-E997-1AA0-D508BFFD3CB6}"/>
              </a:ext>
            </a:extLst>
          </p:cNvPr>
          <p:cNvSpPr>
            <a:spLocks noGrp="1"/>
          </p:cNvSpPr>
          <p:nvPr>
            <p:ph type="title"/>
          </p:nvPr>
        </p:nvSpPr>
        <p:spPr/>
        <p:txBody>
          <a:bodyPr/>
          <a:lstStyle/>
          <a:p>
            <a:r>
              <a:rPr lang="en-US" dirty="0"/>
              <a:t>Challenge – Create a local Repo</a:t>
            </a:r>
          </a:p>
        </p:txBody>
      </p:sp>
      <p:sp>
        <p:nvSpPr>
          <p:cNvPr id="3" name="Content Placeholder 2">
            <a:extLst>
              <a:ext uri="{FF2B5EF4-FFF2-40B4-BE49-F238E27FC236}">
                <a16:creationId xmlns:a16="http://schemas.microsoft.com/office/drawing/2014/main" id="{23F8E57B-9E41-4816-C2F2-1105A90F87A9}"/>
              </a:ext>
            </a:extLst>
          </p:cNvPr>
          <p:cNvSpPr>
            <a:spLocks noGrp="1"/>
          </p:cNvSpPr>
          <p:nvPr>
            <p:ph idx="1"/>
          </p:nvPr>
        </p:nvSpPr>
        <p:spPr>
          <a:xfrm>
            <a:off x="581192" y="2475925"/>
            <a:ext cx="5317584" cy="1681246"/>
          </a:xfrm>
        </p:spPr>
        <p:txBody>
          <a:bodyPr/>
          <a:lstStyle/>
          <a:p>
            <a:r>
              <a:rPr lang="en-US" dirty="0"/>
              <a:t>Create a local git repo</a:t>
            </a:r>
          </a:p>
        </p:txBody>
      </p:sp>
      <p:sp>
        <p:nvSpPr>
          <p:cNvPr id="6" name="TextBox 5">
            <a:extLst>
              <a:ext uri="{FF2B5EF4-FFF2-40B4-BE49-F238E27FC236}">
                <a16:creationId xmlns:a16="http://schemas.microsoft.com/office/drawing/2014/main" id="{2DE50FF0-C783-F3C0-044D-2F094F317804}"/>
              </a:ext>
            </a:extLst>
          </p:cNvPr>
          <p:cNvSpPr txBox="1"/>
          <p:nvPr/>
        </p:nvSpPr>
        <p:spPr>
          <a:xfrm>
            <a:off x="1228165" y="2402747"/>
            <a:ext cx="756938" cy="369332"/>
          </a:xfrm>
          <a:prstGeom prst="rect">
            <a:avLst/>
          </a:prstGeom>
          <a:noFill/>
        </p:spPr>
        <p:txBody>
          <a:bodyPr wrap="none" rtlCol="0">
            <a:spAutoFit/>
          </a:bodyPr>
          <a:lstStyle/>
          <a:p>
            <a:r>
              <a:rPr lang="en-US" b="1" dirty="0"/>
              <a:t>Goal:</a:t>
            </a:r>
          </a:p>
        </p:txBody>
      </p:sp>
      <p:sp>
        <p:nvSpPr>
          <p:cNvPr id="7" name="TextBox 6">
            <a:extLst>
              <a:ext uri="{FF2B5EF4-FFF2-40B4-BE49-F238E27FC236}">
                <a16:creationId xmlns:a16="http://schemas.microsoft.com/office/drawing/2014/main" id="{405306AE-2095-D0AE-E069-321DBC55370F}"/>
              </a:ext>
            </a:extLst>
          </p:cNvPr>
          <p:cNvSpPr txBox="1"/>
          <p:nvPr/>
        </p:nvSpPr>
        <p:spPr>
          <a:xfrm>
            <a:off x="6949165" y="2402747"/>
            <a:ext cx="4661643" cy="369332"/>
          </a:xfrm>
          <a:prstGeom prst="rect">
            <a:avLst/>
          </a:prstGeom>
          <a:noFill/>
        </p:spPr>
        <p:txBody>
          <a:bodyPr wrap="square" rtlCol="0">
            <a:spAutoFit/>
          </a:bodyPr>
          <a:lstStyle/>
          <a:p>
            <a:r>
              <a:rPr lang="en-US" b="1" dirty="0"/>
              <a:t>Scenario:  			   5 min</a:t>
            </a:r>
          </a:p>
        </p:txBody>
      </p:sp>
      <p:sp>
        <p:nvSpPr>
          <p:cNvPr id="8" name="Content Placeholder 2">
            <a:extLst>
              <a:ext uri="{FF2B5EF4-FFF2-40B4-BE49-F238E27FC236}">
                <a16:creationId xmlns:a16="http://schemas.microsoft.com/office/drawing/2014/main" id="{61B443B1-E14C-64AB-9E9D-75FFCF923C2B}"/>
              </a:ext>
            </a:extLst>
          </p:cNvPr>
          <p:cNvSpPr txBox="1">
            <a:spLocks/>
          </p:cNvSpPr>
          <p:nvPr/>
        </p:nvSpPr>
        <p:spPr>
          <a:xfrm>
            <a:off x="6545749" y="2772079"/>
            <a:ext cx="4661642" cy="168124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Your organization needs you to start a new project. Let’s create a new git repo to track our file changes!</a:t>
            </a:r>
          </a:p>
        </p:txBody>
      </p:sp>
    </p:spTree>
    <p:extLst>
      <p:ext uri="{BB962C8B-B14F-4D97-AF65-F5344CB8AC3E}">
        <p14:creationId xmlns:p14="http://schemas.microsoft.com/office/powerpoint/2010/main" val="3587871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6B9FE-8016-34FA-20CD-D8D2410D32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824D4C-8BB6-BA14-CCB0-3D83A4FF0015}"/>
              </a:ext>
            </a:extLst>
          </p:cNvPr>
          <p:cNvSpPr>
            <a:spLocks noGrp="1"/>
          </p:cNvSpPr>
          <p:nvPr>
            <p:ph type="title"/>
          </p:nvPr>
        </p:nvSpPr>
        <p:spPr/>
        <p:txBody>
          <a:bodyPr/>
          <a:lstStyle/>
          <a:p>
            <a:r>
              <a:rPr lang="en-US" dirty="0"/>
              <a:t>Working &amp; staging</a:t>
            </a:r>
          </a:p>
        </p:txBody>
      </p:sp>
      <p:pic>
        <p:nvPicPr>
          <p:cNvPr id="10" name="Picture 9">
            <a:extLst>
              <a:ext uri="{FF2B5EF4-FFF2-40B4-BE49-F238E27FC236}">
                <a16:creationId xmlns:a16="http://schemas.microsoft.com/office/drawing/2014/main" id="{731B5634-5569-152B-3361-E53E46F667E0}"/>
              </a:ext>
            </a:extLst>
          </p:cNvPr>
          <p:cNvPicPr>
            <a:picLocks noChangeAspect="1"/>
          </p:cNvPicPr>
          <p:nvPr/>
        </p:nvPicPr>
        <p:blipFill>
          <a:blip r:embed="rId2"/>
          <a:stretch>
            <a:fillRect/>
          </a:stretch>
        </p:blipFill>
        <p:spPr>
          <a:xfrm>
            <a:off x="2905125" y="2305147"/>
            <a:ext cx="6381750" cy="3705225"/>
          </a:xfrm>
          <a:prstGeom prst="rect">
            <a:avLst/>
          </a:prstGeom>
        </p:spPr>
      </p:pic>
    </p:spTree>
    <p:extLst>
      <p:ext uri="{BB962C8B-B14F-4D97-AF65-F5344CB8AC3E}">
        <p14:creationId xmlns:p14="http://schemas.microsoft.com/office/powerpoint/2010/main" val="4128395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94DAA-0CF8-FDCE-C552-EFC02BCEA8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F38F21-1ED6-2F7A-E503-1FB8781DB11A}"/>
              </a:ext>
            </a:extLst>
          </p:cNvPr>
          <p:cNvSpPr>
            <a:spLocks noGrp="1"/>
          </p:cNvSpPr>
          <p:nvPr>
            <p:ph type="title"/>
          </p:nvPr>
        </p:nvSpPr>
        <p:spPr/>
        <p:txBody>
          <a:bodyPr/>
          <a:lstStyle/>
          <a:p>
            <a:r>
              <a:rPr lang="en-US" dirty="0"/>
              <a:t>Add</a:t>
            </a:r>
          </a:p>
        </p:txBody>
      </p:sp>
      <p:pic>
        <p:nvPicPr>
          <p:cNvPr id="4" name="Picture 3">
            <a:extLst>
              <a:ext uri="{FF2B5EF4-FFF2-40B4-BE49-F238E27FC236}">
                <a16:creationId xmlns:a16="http://schemas.microsoft.com/office/drawing/2014/main" id="{55AA17D7-A757-D8C5-6BA2-8A52E715DE69}"/>
              </a:ext>
            </a:extLst>
          </p:cNvPr>
          <p:cNvPicPr>
            <a:picLocks noChangeAspect="1"/>
          </p:cNvPicPr>
          <p:nvPr/>
        </p:nvPicPr>
        <p:blipFill>
          <a:blip r:embed="rId2"/>
          <a:stretch>
            <a:fillRect/>
          </a:stretch>
        </p:blipFill>
        <p:spPr>
          <a:xfrm>
            <a:off x="3876364" y="4538041"/>
            <a:ext cx="4439270" cy="1819529"/>
          </a:xfrm>
          <a:prstGeom prst="rect">
            <a:avLst/>
          </a:prstGeom>
        </p:spPr>
      </p:pic>
      <p:pic>
        <p:nvPicPr>
          <p:cNvPr id="8" name="Picture 7">
            <a:extLst>
              <a:ext uri="{FF2B5EF4-FFF2-40B4-BE49-F238E27FC236}">
                <a16:creationId xmlns:a16="http://schemas.microsoft.com/office/drawing/2014/main" id="{B7230FF0-D030-E603-E9FE-2DF3652A6E8C}"/>
              </a:ext>
            </a:extLst>
          </p:cNvPr>
          <p:cNvPicPr>
            <a:picLocks noChangeAspect="1"/>
          </p:cNvPicPr>
          <p:nvPr/>
        </p:nvPicPr>
        <p:blipFill>
          <a:blip r:embed="rId3"/>
          <a:stretch>
            <a:fillRect/>
          </a:stretch>
        </p:blipFill>
        <p:spPr>
          <a:xfrm>
            <a:off x="2785600" y="2338691"/>
            <a:ext cx="6620799" cy="1848108"/>
          </a:xfrm>
          <a:prstGeom prst="rect">
            <a:avLst/>
          </a:prstGeom>
        </p:spPr>
      </p:pic>
    </p:spTree>
    <p:extLst>
      <p:ext uri="{BB962C8B-B14F-4D97-AF65-F5344CB8AC3E}">
        <p14:creationId xmlns:p14="http://schemas.microsoft.com/office/powerpoint/2010/main" val="20060666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1582F-75D5-29A7-297A-CF9554820A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7AB651-8BD0-F171-C535-843F9F7936D0}"/>
              </a:ext>
            </a:extLst>
          </p:cNvPr>
          <p:cNvSpPr>
            <a:spLocks noGrp="1"/>
          </p:cNvSpPr>
          <p:nvPr>
            <p:ph type="title"/>
          </p:nvPr>
        </p:nvSpPr>
        <p:spPr/>
        <p:txBody>
          <a:bodyPr/>
          <a:lstStyle/>
          <a:p>
            <a:r>
              <a:rPr lang="en-US" dirty="0"/>
              <a:t>Commit</a:t>
            </a:r>
          </a:p>
        </p:txBody>
      </p:sp>
      <p:pic>
        <p:nvPicPr>
          <p:cNvPr id="5" name="Picture 4">
            <a:extLst>
              <a:ext uri="{FF2B5EF4-FFF2-40B4-BE49-F238E27FC236}">
                <a16:creationId xmlns:a16="http://schemas.microsoft.com/office/drawing/2014/main" id="{AE912E62-8635-E0CD-5EC1-8DA56BC32572}"/>
              </a:ext>
            </a:extLst>
          </p:cNvPr>
          <p:cNvPicPr>
            <a:picLocks noChangeAspect="1"/>
          </p:cNvPicPr>
          <p:nvPr/>
        </p:nvPicPr>
        <p:blipFill>
          <a:blip r:embed="rId2"/>
          <a:stretch>
            <a:fillRect/>
          </a:stretch>
        </p:blipFill>
        <p:spPr>
          <a:xfrm>
            <a:off x="1612815" y="2758982"/>
            <a:ext cx="8966369" cy="2002198"/>
          </a:xfrm>
          <a:prstGeom prst="rect">
            <a:avLst/>
          </a:prstGeom>
        </p:spPr>
      </p:pic>
    </p:spTree>
    <p:extLst>
      <p:ext uri="{BB962C8B-B14F-4D97-AF65-F5344CB8AC3E}">
        <p14:creationId xmlns:p14="http://schemas.microsoft.com/office/powerpoint/2010/main" val="4086588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7F0BE-F35F-3071-6791-0293A9E7F6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5AF163-ECB6-4155-4E24-8F938DB92E6B}"/>
              </a:ext>
            </a:extLst>
          </p:cNvPr>
          <p:cNvSpPr>
            <a:spLocks noGrp="1"/>
          </p:cNvSpPr>
          <p:nvPr>
            <p:ph type="title"/>
          </p:nvPr>
        </p:nvSpPr>
        <p:spPr/>
        <p:txBody>
          <a:bodyPr/>
          <a:lstStyle/>
          <a:p>
            <a:r>
              <a:rPr lang="en-US" dirty="0"/>
              <a:t>Remote</a:t>
            </a:r>
          </a:p>
        </p:txBody>
      </p:sp>
      <p:pic>
        <p:nvPicPr>
          <p:cNvPr id="4" name="Picture 3">
            <a:extLst>
              <a:ext uri="{FF2B5EF4-FFF2-40B4-BE49-F238E27FC236}">
                <a16:creationId xmlns:a16="http://schemas.microsoft.com/office/drawing/2014/main" id="{A860C630-42CD-07DF-F2C5-24A1E1BFBFC3}"/>
              </a:ext>
            </a:extLst>
          </p:cNvPr>
          <p:cNvPicPr>
            <a:picLocks noChangeAspect="1"/>
          </p:cNvPicPr>
          <p:nvPr/>
        </p:nvPicPr>
        <p:blipFill>
          <a:blip r:embed="rId2"/>
          <a:stretch>
            <a:fillRect/>
          </a:stretch>
        </p:blipFill>
        <p:spPr>
          <a:xfrm>
            <a:off x="342683" y="2415200"/>
            <a:ext cx="11506634" cy="1013800"/>
          </a:xfrm>
          <a:prstGeom prst="rect">
            <a:avLst/>
          </a:prstGeom>
        </p:spPr>
      </p:pic>
      <p:sp>
        <p:nvSpPr>
          <p:cNvPr id="6" name="TextBox 5">
            <a:extLst>
              <a:ext uri="{FF2B5EF4-FFF2-40B4-BE49-F238E27FC236}">
                <a16:creationId xmlns:a16="http://schemas.microsoft.com/office/drawing/2014/main" id="{97F302D5-76E9-D153-999E-6348F1814941}"/>
              </a:ext>
            </a:extLst>
          </p:cNvPr>
          <p:cNvSpPr txBox="1"/>
          <p:nvPr/>
        </p:nvSpPr>
        <p:spPr>
          <a:xfrm>
            <a:off x="581192" y="4757809"/>
            <a:ext cx="6078074" cy="461665"/>
          </a:xfrm>
          <a:prstGeom prst="rect">
            <a:avLst/>
          </a:prstGeom>
          <a:noFill/>
        </p:spPr>
        <p:txBody>
          <a:bodyPr wrap="none" rtlCol="0">
            <a:spAutoFit/>
          </a:bodyPr>
          <a:lstStyle/>
          <a:p>
            <a:r>
              <a:rPr lang="en-US" sz="2400" dirty="0"/>
              <a:t>Get the link to use for the remote from </a:t>
            </a:r>
            <a:r>
              <a:rPr lang="en-US" sz="2400" dirty="0" err="1"/>
              <a:t>github</a:t>
            </a:r>
            <a:r>
              <a:rPr lang="en-US" sz="2400" dirty="0"/>
              <a:t>:</a:t>
            </a:r>
          </a:p>
        </p:txBody>
      </p:sp>
      <p:pic>
        <p:nvPicPr>
          <p:cNvPr id="8" name="Picture 7">
            <a:extLst>
              <a:ext uri="{FF2B5EF4-FFF2-40B4-BE49-F238E27FC236}">
                <a16:creationId xmlns:a16="http://schemas.microsoft.com/office/drawing/2014/main" id="{6051366A-D9D2-CD62-FF70-222E1A207C7D}"/>
              </a:ext>
            </a:extLst>
          </p:cNvPr>
          <p:cNvPicPr>
            <a:picLocks noChangeAspect="1"/>
          </p:cNvPicPr>
          <p:nvPr/>
        </p:nvPicPr>
        <p:blipFill>
          <a:blip r:embed="rId3"/>
          <a:stretch>
            <a:fillRect/>
          </a:stretch>
        </p:blipFill>
        <p:spPr>
          <a:xfrm>
            <a:off x="7138605" y="3820060"/>
            <a:ext cx="4472203" cy="2798829"/>
          </a:xfrm>
          <a:prstGeom prst="rect">
            <a:avLst/>
          </a:prstGeom>
        </p:spPr>
      </p:pic>
    </p:spTree>
    <p:extLst>
      <p:ext uri="{BB962C8B-B14F-4D97-AF65-F5344CB8AC3E}">
        <p14:creationId xmlns:p14="http://schemas.microsoft.com/office/powerpoint/2010/main" val="1512316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73363-51CD-A1A9-782D-F381A0606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6B40E6-81DE-03D0-7854-2AC117BFA91D}"/>
              </a:ext>
            </a:extLst>
          </p:cNvPr>
          <p:cNvSpPr>
            <a:spLocks noGrp="1"/>
          </p:cNvSpPr>
          <p:nvPr>
            <p:ph type="title"/>
          </p:nvPr>
        </p:nvSpPr>
        <p:spPr/>
        <p:txBody>
          <a:bodyPr/>
          <a:lstStyle/>
          <a:p>
            <a:r>
              <a:rPr lang="en-US" dirty="0"/>
              <a:t>Push</a:t>
            </a:r>
          </a:p>
        </p:txBody>
      </p:sp>
      <p:pic>
        <p:nvPicPr>
          <p:cNvPr id="5" name="Picture 4">
            <a:extLst>
              <a:ext uri="{FF2B5EF4-FFF2-40B4-BE49-F238E27FC236}">
                <a16:creationId xmlns:a16="http://schemas.microsoft.com/office/drawing/2014/main" id="{A8A74148-F19F-AE67-306A-6DDD89A8822C}"/>
              </a:ext>
            </a:extLst>
          </p:cNvPr>
          <p:cNvPicPr>
            <a:picLocks noChangeAspect="1"/>
          </p:cNvPicPr>
          <p:nvPr/>
        </p:nvPicPr>
        <p:blipFill>
          <a:blip r:embed="rId2"/>
          <a:stretch>
            <a:fillRect/>
          </a:stretch>
        </p:blipFill>
        <p:spPr>
          <a:xfrm>
            <a:off x="2417552" y="2469959"/>
            <a:ext cx="7356895" cy="347679"/>
          </a:xfrm>
          <a:prstGeom prst="rect">
            <a:avLst/>
          </a:prstGeom>
        </p:spPr>
      </p:pic>
      <p:pic>
        <p:nvPicPr>
          <p:cNvPr id="7" name="Picture 6">
            <a:extLst>
              <a:ext uri="{FF2B5EF4-FFF2-40B4-BE49-F238E27FC236}">
                <a16:creationId xmlns:a16="http://schemas.microsoft.com/office/drawing/2014/main" id="{163C0EC9-A5E7-297B-8F8F-4B0649CD28E8}"/>
              </a:ext>
            </a:extLst>
          </p:cNvPr>
          <p:cNvPicPr>
            <a:picLocks noChangeAspect="1"/>
          </p:cNvPicPr>
          <p:nvPr/>
        </p:nvPicPr>
        <p:blipFill>
          <a:blip r:embed="rId3"/>
          <a:stretch>
            <a:fillRect/>
          </a:stretch>
        </p:blipFill>
        <p:spPr>
          <a:xfrm>
            <a:off x="2300543" y="3429000"/>
            <a:ext cx="7590914" cy="2052309"/>
          </a:xfrm>
          <a:prstGeom prst="rect">
            <a:avLst/>
          </a:prstGeom>
        </p:spPr>
      </p:pic>
    </p:spTree>
    <p:extLst>
      <p:ext uri="{BB962C8B-B14F-4D97-AF65-F5344CB8AC3E}">
        <p14:creationId xmlns:p14="http://schemas.microsoft.com/office/powerpoint/2010/main" val="1059697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3F603-5938-A96C-2F37-0C7C0AB5B8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3762F9-92F5-5804-37AB-4638630C06FF}"/>
              </a:ext>
            </a:extLst>
          </p:cNvPr>
          <p:cNvSpPr>
            <a:spLocks noGrp="1"/>
          </p:cNvSpPr>
          <p:nvPr>
            <p:ph type="title"/>
          </p:nvPr>
        </p:nvSpPr>
        <p:spPr/>
        <p:txBody>
          <a:bodyPr/>
          <a:lstStyle/>
          <a:p>
            <a:r>
              <a:rPr lang="en-US" dirty="0"/>
              <a:t>Challenge – Push to </a:t>
            </a:r>
            <a:r>
              <a:rPr lang="en-US" dirty="0" err="1"/>
              <a:t>Github</a:t>
            </a:r>
            <a:endParaRPr lang="en-US" dirty="0"/>
          </a:p>
        </p:txBody>
      </p:sp>
      <p:sp>
        <p:nvSpPr>
          <p:cNvPr id="3" name="Content Placeholder 2">
            <a:extLst>
              <a:ext uri="{FF2B5EF4-FFF2-40B4-BE49-F238E27FC236}">
                <a16:creationId xmlns:a16="http://schemas.microsoft.com/office/drawing/2014/main" id="{71BD6300-8A5F-47E3-5F06-EDACC9E3E40A}"/>
              </a:ext>
            </a:extLst>
          </p:cNvPr>
          <p:cNvSpPr>
            <a:spLocks noGrp="1"/>
          </p:cNvSpPr>
          <p:nvPr>
            <p:ph idx="1"/>
          </p:nvPr>
        </p:nvSpPr>
        <p:spPr>
          <a:xfrm>
            <a:off x="581192" y="2475925"/>
            <a:ext cx="5317584" cy="1681246"/>
          </a:xfrm>
        </p:spPr>
        <p:txBody>
          <a:bodyPr/>
          <a:lstStyle/>
          <a:p>
            <a:r>
              <a:rPr lang="en-US" dirty="0"/>
              <a:t>Push a readme</a:t>
            </a:r>
          </a:p>
        </p:txBody>
      </p:sp>
      <p:sp>
        <p:nvSpPr>
          <p:cNvPr id="6" name="TextBox 5">
            <a:extLst>
              <a:ext uri="{FF2B5EF4-FFF2-40B4-BE49-F238E27FC236}">
                <a16:creationId xmlns:a16="http://schemas.microsoft.com/office/drawing/2014/main" id="{C7409D0F-D133-F6EE-D583-2E99E9A4AEC4}"/>
              </a:ext>
            </a:extLst>
          </p:cNvPr>
          <p:cNvSpPr txBox="1"/>
          <p:nvPr/>
        </p:nvSpPr>
        <p:spPr>
          <a:xfrm>
            <a:off x="1228165" y="2402747"/>
            <a:ext cx="756938" cy="369332"/>
          </a:xfrm>
          <a:prstGeom prst="rect">
            <a:avLst/>
          </a:prstGeom>
          <a:noFill/>
        </p:spPr>
        <p:txBody>
          <a:bodyPr wrap="none" rtlCol="0">
            <a:spAutoFit/>
          </a:bodyPr>
          <a:lstStyle/>
          <a:p>
            <a:r>
              <a:rPr lang="en-US" b="1" dirty="0"/>
              <a:t>Goal:</a:t>
            </a:r>
          </a:p>
        </p:txBody>
      </p:sp>
      <p:sp>
        <p:nvSpPr>
          <p:cNvPr id="7" name="TextBox 6">
            <a:extLst>
              <a:ext uri="{FF2B5EF4-FFF2-40B4-BE49-F238E27FC236}">
                <a16:creationId xmlns:a16="http://schemas.microsoft.com/office/drawing/2014/main" id="{7069887D-2D82-F777-F043-C06E3423FC88}"/>
              </a:ext>
            </a:extLst>
          </p:cNvPr>
          <p:cNvSpPr txBox="1"/>
          <p:nvPr/>
        </p:nvSpPr>
        <p:spPr>
          <a:xfrm>
            <a:off x="6949165" y="2402747"/>
            <a:ext cx="4661643" cy="369332"/>
          </a:xfrm>
          <a:prstGeom prst="rect">
            <a:avLst/>
          </a:prstGeom>
          <a:noFill/>
        </p:spPr>
        <p:txBody>
          <a:bodyPr wrap="square" rtlCol="0">
            <a:spAutoFit/>
          </a:bodyPr>
          <a:lstStyle/>
          <a:p>
            <a:r>
              <a:rPr lang="en-US" b="1" dirty="0"/>
              <a:t>Scenario:  			   5 min</a:t>
            </a:r>
          </a:p>
        </p:txBody>
      </p:sp>
      <p:sp>
        <p:nvSpPr>
          <p:cNvPr id="8" name="Content Placeholder 2">
            <a:extLst>
              <a:ext uri="{FF2B5EF4-FFF2-40B4-BE49-F238E27FC236}">
                <a16:creationId xmlns:a16="http://schemas.microsoft.com/office/drawing/2014/main" id="{214F8358-C03F-6AEC-D94B-DF8A05B66FB5}"/>
              </a:ext>
            </a:extLst>
          </p:cNvPr>
          <p:cNvSpPr txBox="1">
            <a:spLocks/>
          </p:cNvSpPr>
          <p:nvPr/>
        </p:nvSpPr>
        <p:spPr>
          <a:xfrm>
            <a:off x="6545749" y="2772079"/>
            <a:ext cx="4661642" cy="1681246"/>
          </a:xfrm>
          <a:prstGeom prst="rect">
            <a:avLst/>
          </a:prstGeom>
        </p:spPr>
        <p:txBody>
          <a:bodyPr vert="horz" lIns="91440" tIns="45720" rIns="91440" bIns="45720" rtlCol="0" anchor="ctr">
            <a:normAutofit lnSpcReduction="1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Create a text file in your repo that describes your project, and then push it to your remote repo:</a:t>
            </a:r>
            <a:br>
              <a:rPr lang="en-US" dirty="0"/>
            </a:br>
            <a:br>
              <a:rPr lang="en-US" dirty="0"/>
            </a:br>
            <a:r>
              <a:rPr lang="en-US" dirty="0"/>
              <a:t>“This is my first challenge I’ve uploaded to </a:t>
            </a:r>
            <a:r>
              <a:rPr lang="en-US" dirty="0" err="1"/>
              <a:t>github</a:t>
            </a:r>
            <a:r>
              <a:rPr lang="en-US" dirty="0"/>
              <a:t>!” </a:t>
            </a:r>
          </a:p>
        </p:txBody>
      </p:sp>
    </p:spTree>
    <p:extLst>
      <p:ext uri="{BB962C8B-B14F-4D97-AF65-F5344CB8AC3E}">
        <p14:creationId xmlns:p14="http://schemas.microsoft.com/office/powerpoint/2010/main" val="12052021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A5245-4CD4-B9A2-3EA6-B09ABE141C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44D6D1-51BC-B9AC-C79E-EDB5394D0548}"/>
              </a:ext>
            </a:extLst>
          </p:cNvPr>
          <p:cNvSpPr>
            <a:spLocks noGrp="1"/>
          </p:cNvSpPr>
          <p:nvPr>
            <p:ph type="title"/>
          </p:nvPr>
        </p:nvSpPr>
        <p:spPr/>
        <p:txBody>
          <a:bodyPr/>
          <a:lstStyle/>
          <a:p>
            <a:r>
              <a:rPr lang="en-US" dirty="0"/>
              <a:t>Clone</a:t>
            </a:r>
          </a:p>
        </p:txBody>
      </p:sp>
      <p:pic>
        <p:nvPicPr>
          <p:cNvPr id="4" name="Picture 3">
            <a:extLst>
              <a:ext uri="{FF2B5EF4-FFF2-40B4-BE49-F238E27FC236}">
                <a16:creationId xmlns:a16="http://schemas.microsoft.com/office/drawing/2014/main" id="{116D7FF2-CF40-A210-94BE-70FE13F8D1DE}"/>
              </a:ext>
            </a:extLst>
          </p:cNvPr>
          <p:cNvPicPr>
            <a:picLocks noChangeAspect="1"/>
          </p:cNvPicPr>
          <p:nvPr/>
        </p:nvPicPr>
        <p:blipFill>
          <a:blip r:embed="rId2"/>
          <a:stretch>
            <a:fillRect/>
          </a:stretch>
        </p:blipFill>
        <p:spPr>
          <a:xfrm>
            <a:off x="3219047" y="2871156"/>
            <a:ext cx="5753903" cy="3572374"/>
          </a:xfrm>
          <a:prstGeom prst="rect">
            <a:avLst/>
          </a:prstGeom>
        </p:spPr>
      </p:pic>
      <p:pic>
        <p:nvPicPr>
          <p:cNvPr id="8" name="Picture 7">
            <a:extLst>
              <a:ext uri="{FF2B5EF4-FFF2-40B4-BE49-F238E27FC236}">
                <a16:creationId xmlns:a16="http://schemas.microsoft.com/office/drawing/2014/main" id="{45294506-04C4-EA61-9504-954E0C060F6C}"/>
              </a:ext>
            </a:extLst>
          </p:cNvPr>
          <p:cNvPicPr>
            <a:picLocks noChangeAspect="1"/>
          </p:cNvPicPr>
          <p:nvPr/>
        </p:nvPicPr>
        <p:blipFill>
          <a:blip r:embed="rId3"/>
          <a:stretch>
            <a:fillRect/>
          </a:stretch>
        </p:blipFill>
        <p:spPr>
          <a:xfrm>
            <a:off x="672340" y="2081418"/>
            <a:ext cx="10847319" cy="424276"/>
          </a:xfrm>
          <a:prstGeom prst="rect">
            <a:avLst/>
          </a:prstGeom>
        </p:spPr>
      </p:pic>
    </p:spTree>
    <p:extLst>
      <p:ext uri="{BB962C8B-B14F-4D97-AF65-F5344CB8AC3E}">
        <p14:creationId xmlns:p14="http://schemas.microsoft.com/office/powerpoint/2010/main" val="248535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D2DB7-03EC-56D1-CB2D-8402697FDD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03C7BC-EDF3-F12E-747E-5A4FA59E66B3}"/>
              </a:ext>
            </a:extLst>
          </p:cNvPr>
          <p:cNvSpPr>
            <a:spLocks noGrp="1"/>
          </p:cNvSpPr>
          <p:nvPr>
            <p:ph type="title"/>
          </p:nvPr>
        </p:nvSpPr>
        <p:spPr/>
        <p:txBody>
          <a:bodyPr/>
          <a:lstStyle/>
          <a:p>
            <a:r>
              <a:rPr lang="en-US" dirty="0"/>
              <a:t>branch</a:t>
            </a:r>
          </a:p>
        </p:txBody>
      </p:sp>
      <p:pic>
        <p:nvPicPr>
          <p:cNvPr id="5" name="Picture 4">
            <a:extLst>
              <a:ext uri="{FF2B5EF4-FFF2-40B4-BE49-F238E27FC236}">
                <a16:creationId xmlns:a16="http://schemas.microsoft.com/office/drawing/2014/main" id="{B4EB5A02-F6A7-B3FD-F901-797AEDC5893F}"/>
              </a:ext>
            </a:extLst>
          </p:cNvPr>
          <p:cNvPicPr>
            <a:picLocks noChangeAspect="1"/>
          </p:cNvPicPr>
          <p:nvPr/>
        </p:nvPicPr>
        <p:blipFill>
          <a:blip r:embed="rId2"/>
          <a:stretch>
            <a:fillRect/>
          </a:stretch>
        </p:blipFill>
        <p:spPr>
          <a:xfrm>
            <a:off x="390821" y="2405046"/>
            <a:ext cx="11410357" cy="480657"/>
          </a:xfrm>
          <a:prstGeom prst="rect">
            <a:avLst/>
          </a:prstGeom>
        </p:spPr>
      </p:pic>
      <p:pic>
        <p:nvPicPr>
          <p:cNvPr id="7" name="Picture 6">
            <a:extLst>
              <a:ext uri="{FF2B5EF4-FFF2-40B4-BE49-F238E27FC236}">
                <a16:creationId xmlns:a16="http://schemas.microsoft.com/office/drawing/2014/main" id="{4DA03374-FD9B-D87F-11E4-D57C9ED4993F}"/>
              </a:ext>
            </a:extLst>
          </p:cNvPr>
          <p:cNvPicPr>
            <a:picLocks noChangeAspect="1"/>
          </p:cNvPicPr>
          <p:nvPr/>
        </p:nvPicPr>
        <p:blipFill>
          <a:blip r:embed="rId3"/>
          <a:stretch>
            <a:fillRect/>
          </a:stretch>
        </p:blipFill>
        <p:spPr>
          <a:xfrm>
            <a:off x="1248916" y="3213075"/>
            <a:ext cx="9694168" cy="1091518"/>
          </a:xfrm>
          <a:prstGeom prst="rect">
            <a:avLst/>
          </a:prstGeom>
        </p:spPr>
      </p:pic>
      <p:pic>
        <p:nvPicPr>
          <p:cNvPr id="12" name="Picture 11">
            <a:extLst>
              <a:ext uri="{FF2B5EF4-FFF2-40B4-BE49-F238E27FC236}">
                <a16:creationId xmlns:a16="http://schemas.microsoft.com/office/drawing/2014/main" id="{91D056AC-825B-314F-01E0-E6FEEF39CD7B}"/>
              </a:ext>
            </a:extLst>
          </p:cNvPr>
          <p:cNvPicPr>
            <a:picLocks noChangeAspect="1"/>
          </p:cNvPicPr>
          <p:nvPr/>
        </p:nvPicPr>
        <p:blipFill>
          <a:blip r:embed="rId4"/>
          <a:stretch>
            <a:fillRect/>
          </a:stretch>
        </p:blipFill>
        <p:spPr>
          <a:xfrm>
            <a:off x="730852" y="4763563"/>
            <a:ext cx="10730293" cy="729062"/>
          </a:xfrm>
          <a:prstGeom prst="rect">
            <a:avLst/>
          </a:prstGeom>
        </p:spPr>
      </p:pic>
    </p:spTree>
    <p:extLst>
      <p:ext uri="{BB962C8B-B14F-4D97-AF65-F5344CB8AC3E}">
        <p14:creationId xmlns:p14="http://schemas.microsoft.com/office/powerpoint/2010/main" val="5546324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EBA70-C1A2-4AF4-703E-44F56E4E37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143F27-0A40-3A8E-538E-A0597A8EA4CD}"/>
              </a:ext>
            </a:extLst>
          </p:cNvPr>
          <p:cNvSpPr>
            <a:spLocks noGrp="1"/>
          </p:cNvSpPr>
          <p:nvPr>
            <p:ph type="title"/>
          </p:nvPr>
        </p:nvSpPr>
        <p:spPr/>
        <p:txBody>
          <a:bodyPr/>
          <a:lstStyle/>
          <a:p>
            <a:r>
              <a:rPr lang="en-US" dirty="0"/>
              <a:t>Branch continued</a:t>
            </a:r>
          </a:p>
        </p:txBody>
      </p:sp>
      <p:pic>
        <p:nvPicPr>
          <p:cNvPr id="5" name="Picture 4">
            <a:extLst>
              <a:ext uri="{FF2B5EF4-FFF2-40B4-BE49-F238E27FC236}">
                <a16:creationId xmlns:a16="http://schemas.microsoft.com/office/drawing/2014/main" id="{6F953D18-E35B-38D8-2CDE-4DDFB389C429}"/>
              </a:ext>
            </a:extLst>
          </p:cNvPr>
          <p:cNvPicPr>
            <a:picLocks noChangeAspect="1"/>
          </p:cNvPicPr>
          <p:nvPr/>
        </p:nvPicPr>
        <p:blipFill>
          <a:blip r:embed="rId2"/>
          <a:stretch>
            <a:fillRect/>
          </a:stretch>
        </p:blipFill>
        <p:spPr>
          <a:xfrm>
            <a:off x="2593192" y="1916281"/>
            <a:ext cx="7005616" cy="4593019"/>
          </a:xfrm>
          <a:prstGeom prst="rect">
            <a:avLst/>
          </a:prstGeom>
        </p:spPr>
      </p:pic>
    </p:spTree>
    <p:extLst>
      <p:ext uri="{BB962C8B-B14F-4D97-AF65-F5344CB8AC3E}">
        <p14:creationId xmlns:p14="http://schemas.microsoft.com/office/powerpoint/2010/main" val="3376548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60713-B695-6036-AE2B-EF167BAA17B9}"/>
              </a:ext>
            </a:extLst>
          </p:cNvPr>
          <p:cNvSpPr>
            <a:spLocks noGrp="1"/>
          </p:cNvSpPr>
          <p:nvPr>
            <p:ph type="title"/>
          </p:nvPr>
        </p:nvSpPr>
        <p:spPr/>
        <p:txBody>
          <a:bodyPr/>
          <a:lstStyle/>
          <a:p>
            <a:r>
              <a:rPr lang="en-US" dirty="0"/>
              <a:t>Pull Request</a:t>
            </a:r>
          </a:p>
        </p:txBody>
      </p:sp>
      <p:pic>
        <p:nvPicPr>
          <p:cNvPr id="5" name="Picture 4">
            <a:extLst>
              <a:ext uri="{FF2B5EF4-FFF2-40B4-BE49-F238E27FC236}">
                <a16:creationId xmlns:a16="http://schemas.microsoft.com/office/drawing/2014/main" id="{FBAFD6DF-59E5-B999-9DAE-E3CF5A1D1625}"/>
              </a:ext>
            </a:extLst>
          </p:cNvPr>
          <p:cNvPicPr>
            <a:picLocks noChangeAspect="1"/>
          </p:cNvPicPr>
          <p:nvPr/>
        </p:nvPicPr>
        <p:blipFill>
          <a:blip r:embed="rId2"/>
          <a:stretch>
            <a:fillRect/>
          </a:stretch>
        </p:blipFill>
        <p:spPr>
          <a:xfrm>
            <a:off x="290596" y="2774713"/>
            <a:ext cx="11610808" cy="1533620"/>
          </a:xfrm>
          <a:prstGeom prst="rect">
            <a:avLst/>
          </a:prstGeom>
        </p:spPr>
      </p:pic>
    </p:spTree>
    <p:extLst>
      <p:ext uri="{BB962C8B-B14F-4D97-AF65-F5344CB8AC3E}">
        <p14:creationId xmlns:p14="http://schemas.microsoft.com/office/powerpoint/2010/main" val="1300534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06F3C-5FF9-3E8E-FBA1-1341E6A39C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B8D2AF-040F-E84B-86B6-8AE8BE2EB27B}"/>
              </a:ext>
            </a:extLst>
          </p:cNvPr>
          <p:cNvSpPr>
            <a:spLocks noGrp="1"/>
          </p:cNvSpPr>
          <p:nvPr>
            <p:ph type="title"/>
          </p:nvPr>
        </p:nvSpPr>
        <p:spPr/>
        <p:txBody>
          <a:bodyPr/>
          <a:lstStyle/>
          <a:p>
            <a:r>
              <a:rPr lang="en-US" dirty="0"/>
              <a:t>Pull vs fetch</a:t>
            </a:r>
          </a:p>
        </p:txBody>
      </p:sp>
      <p:pic>
        <p:nvPicPr>
          <p:cNvPr id="4" name="Picture 3">
            <a:extLst>
              <a:ext uri="{FF2B5EF4-FFF2-40B4-BE49-F238E27FC236}">
                <a16:creationId xmlns:a16="http://schemas.microsoft.com/office/drawing/2014/main" id="{6B4AC129-CBF1-6B53-93A4-4FFB0D1E942C}"/>
              </a:ext>
            </a:extLst>
          </p:cNvPr>
          <p:cNvPicPr>
            <a:picLocks noChangeAspect="1"/>
          </p:cNvPicPr>
          <p:nvPr/>
        </p:nvPicPr>
        <p:blipFill>
          <a:blip r:embed="rId2"/>
          <a:stretch>
            <a:fillRect/>
          </a:stretch>
        </p:blipFill>
        <p:spPr>
          <a:xfrm>
            <a:off x="1562364" y="2586010"/>
            <a:ext cx="9067271" cy="842990"/>
          </a:xfrm>
          <a:prstGeom prst="rect">
            <a:avLst/>
          </a:prstGeom>
        </p:spPr>
      </p:pic>
      <p:pic>
        <p:nvPicPr>
          <p:cNvPr id="7" name="Picture 6">
            <a:extLst>
              <a:ext uri="{FF2B5EF4-FFF2-40B4-BE49-F238E27FC236}">
                <a16:creationId xmlns:a16="http://schemas.microsoft.com/office/drawing/2014/main" id="{05E1F368-50EE-5B38-A227-B2C5B63D0506}"/>
              </a:ext>
            </a:extLst>
          </p:cNvPr>
          <p:cNvPicPr>
            <a:picLocks noChangeAspect="1"/>
          </p:cNvPicPr>
          <p:nvPr/>
        </p:nvPicPr>
        <p:blipFill>
          <a:blip r:embed="rId3"/>
          <a:stretch>
            <a:fillRect/>
          </a:stretch>
        </p:blipFill>
        <p:spPr>
          <a:xfrm>
            <a:off x="1048643" y="4626092"/>
            <a:ext cx="10094713" cy="515953"/>
          </a:xfrm>
          <a:prstGeom prst="rect">
            <a:avLst/>
          </a:prstGeom>
        </p:spPr>
      </p:pic>
      <p:sp>
        <p:nvSpPr>
          <p:cNvPr id="8" name="TextBox 7">
            <a:extLst>
              <a:ext uri="{FF2B5EF4-FFF2-40B4-BE49-F238E27FC236}">
                <a16:creationId xmlns:a16="http://schemas.microsoft.com/office/drawing/2014/main" id="{80C5261C-D432-3186-49D9-DF59EB23E4F4}"/>
              </a:ext>
            </a:extLst>
          </p:cNvPr>
          <p:cNvSpPr txBox="1"/>
          <p:nvPr/>
        </p:nvSpPr>
        <p:spPr>
          <a:xfrm>
            <a:off x="1105209" y="3827491"/>
            <a:ext cx="9981579" cy="400110"/>
          </a:xfrm>
          <a:prstGeom prst="rect">
            <a:avLst/>
          </a:prstGeom>
          <a:noFill/>
        </p:spPr>
        <p:txBody>
          <a:bodyPr wrap="none" rtlCol="0">
            <a:spAutoFit/>
          </a:bodyPr>
          <a:lstStyle/>
          <a:p>
            <a:r>
              <a:rPr lang="en-US" sz="2000" dirty="0"/>
              <a:t>git pull will check all remote changes and bring them into your working directory immediately. </a:t>
            </a:r>
          </a:p>
        </p:txBody>
      </p:sp>
      <p:sp>
        <p:nvSpPr>
          <p:cNvPr id="9" name="TextBox 8">
            <a:extLst>
              <a:ext uri="{FF2B5EF4-FFF2-40B4-BE49-F238E27FC236}">
                <a16:creationId xmlns:a16="http://schemas.microsoft.com/office/drawing/2014/main" id="{E8644FE4-02E8-BE0A-B067-B226A46F4530}"/>
              </a:ext>
            </a:extLst>
          </p:cNvPr>
          <p:cNvSpPr txBox="1"/>
          <p:nvPr/>
        </p:nvSpPr>
        <p:spPr>
          <a:xfrm>
            <a:off x="1105209" y="5540535"/>
            <a:ext cx="10094713" cy="1015663"/>
          </a:xfrm>
          <a:prstGeom prst="rect">
            <a:avLst/>
          </a:prstGeom>
          <a:noFill/>
        </p:spPr>
        <p:txBody>
          <a:bodyPr wrap="square" rtlCol="0">
            <a:spAutoFit/>
          </a:bodyPr>
          <a:lstStyle/>
          <a:p>
            <a:r>
              <a:rPr lang="en-US" sz="2000" dirty="0"/>
              <a:t>git fetch will check for remote changes but will NOT bring those changes into your working directory immediately. I.e. you get to see what others have contributed first before downloading all their stuff. </a:t>
            </a:r>
          </a:p>
        </p:txBody>
      </p:sp>
    </p:spTree>
    <p:extLst>
      <p:ext uri="{BB962C8B-B14F-4D97-AF65-F5344CB8AC3E}">
        <p14:creationId xmlns:p14="http://schemas.microsoft.com/office/powerpoint/2010/main" val="32625630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85215-65DC-EF7E-9431-9DED5B9323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B79270-EE75-CBFB-C2A0-31C4E61D1F79}"/>
              </a:ext>
            </a:extLst>
          </p:cNvPr>
          <p:cNvSpPr>
            <a:spLocks noGrp="1"/>
          </p:cNvSpPr>
          <p:nvPr>
            <p:ph type="title"/>
          </p:nvPr>
        </p:nvSpPr>
        <p:spPr/>
        <p:txBody>
          <a:bodyPr/>
          <a:lstStyle/>
          <a:p>
            <a:r>
              <a:rPr lang="en-US" dirty="0"/>
              <a:t>Challenge – Create a working branch</a:t>
            </a:r>
          </a:p>
        </p:txBody>
      </p:sp>
      <p:sp>
        <p:nvSpPr>
          <p:cNvPr id="3" name="Content Placeholder 2">
            <a:extLst>
              <a:ext uri="{FF2B5EF4-FFF2-40B4-BE49-F238E27FC236}">
                <a16:creationId xmlns:a16="http://schemas.microsoft.com/office/drawing/2014/main" id="{578C1B9A-64FA-CAC5-428A-C7085D0907DC}"/>
              </a:ext>
            </a:extLst>
          </p:cNvPr>
          <p:cNvSpPr>
            <a:spLocks noGrp="1"/>
          </p:cNvSpPr>
          <p:nvPr>
            <p:ph idx="1"/>
          </p:nvPr>
        </p:nvSpPr>
        <p:spPr>
          <a:xfrm>
            <a:off x="581192" y="2587413"/>
            <a:ext cx="5317584" cy="1681246"/>
          </a:xfrm>
        </p:spPr>
        <p:txBody>
          <a:bodyPr/>
          <a:lstStyle/>
          <a:p>
            <a:r>
              <a:rPr lang="en-US" dirty="0"/>
              <a:t>Create a working branch and pull request</a:t>
            </a:r>
          </a:p>
        </p:txBody>
      </p:sp>
      <p:sp>
        <p:nvSpPr>
          <p:cNvPr id="6" name="TextBox 5">
            <a:extLst>
              <a:ext uri="{FF2B5EF4-FFF2-40B4-BE49-F238E27FC236}">
                <a16:creationId xmlns:a16="http://schemas.microsoft.com/office/drawing/2014/main" id="{B678CC5D-225C-CF82-3C1B-736E7D7EC2A6}"/>
              </a:ext>
            </a:extLst>
          </p:cNvPr>
          <p:cNvSpPr txBox="1"/>
          <p:nvPr/>
        </p:nvSpPr>
        <p:spPr>
          <a:xfrm>
            <a:off x="1228165" y="2402747"/>
            <a:ext cx="756938" cy="369332"/>
          </a:xfrm>
          <a:prstGeom prst="rect">
            <a:avLst/>
          </a:prstGeom>
          <a:noFill/>
        </p:spPr>
        <p:txBody>
          <a:bodyPr wrap="none" rtlCol="0">
            <a:spAutoFit/>
          </a:bodyPr>
          <a:lstStyle/>
          <a:p>
            <a:r>
              <a:rPr lang="en-US" b="1" dirty="0"/>
              <a:t>Goal:</a:t>
            </a:r>
          </a:p>
        </p:txBody>
      </p:sp>
      <p:sp>
        <p:nvSpPr>
          <p:cNvPr id="7" name="TextBox 6">
            <a:extLst>
              <a:ext uri="{FF2B5EF4-FFF2-40B4-BE49-F238E27FC236}">
                <a16:creationId xmlns:a16="http://schemas.microsoft.com/office/drawing/2014/main" id="{84769C8B-2C08-EF26-3186-8C9B6DE101A1}"/>
              </a:ext>
            </a:extLst>
          </p:cNvPr>
          <p:cNvSpPr txBox="1"/>
          <p:nvPr/>
        </p:nvSpPr>
        <p:spPr>
          <a:xfrm>
            <a:off x="6949165" y="2402747"/>
            <a:ext cx="4661643" cy="369332"/>
          </a:xfrm>
          <a:prstGeom prst="rect">
            <a:avLst/>
          </a:prstGeom>
          <a:noFill/>
        </p:spPr>
        <p:txBody>
          <a:bodyPr wrap="square" rtlCol="0">
            <a:spAutoFit/>
          </a:bodyPr>
          <a:lstStyle/>
          <a:p>
            <a:r>
              <a:rPr lang="en-US" b="1" dirty="0"/>
              <a:t>Scenario:  			   5 min</a:t>
            </a:r>
          </a:p>
        </p:txBody>
      </p:sp>
      <p:sp>
        <p:nvSpPr>
          <p:cNvPr id="8" name="Content Placeholder 2">
            <a:extLst>
              <a:ext uri="{FF2B5EF4-FFF2-40B4-BE49-F238E27FC236}">
                <a16:creationId xmlns:a16="http://schemas.microsoft.com/office/drawing/2014/main" id="{44C96EDD-BE72-A823-6F51-21378C728E50}"/>
              </a:ext>
            </a:extLst>
          </p:cNvPr>
          <p:cNvSpPr txBox="1">
            <a:spLocks/>
          </p:cNvSpPr>
          <p:nvPr/>
        </p:nvSpPr>
        <p:spPr>
          <a:xfrm>
            <a:off x="6545749" y="3245299"/>
            <a:ext cx="4661642" cy="1681246"/>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Create a new branch called ‘working’. Create a new text file in your branch that describes your favorite food. Merge this into your main branch with:</a:t>
            </a:r>
          </a:p>
          <a:p>
            <a:pPr lvl="1"/>
            <a:r>
              <a:rPr lang="en-US" sz="1800" dirty="0"/>
              <a:t>The Git CLI</a:t>
            </a:r>
          </a:p>
          <a:p>
            <a:pPr lvl="1"/>
            <a:r>
              <a:rPr lang="en-US" sz="1800" dirty="0"/>
              <a:t>The GitHub Pull Request UI</a:t>
            </a:r>
          </a:p>
        </p:txBody>
      </p:sp>
    </p:spTree>
    <p:extLst>
      <p:ext uri="{BB962C8B-B14F-4D97-AF65-F5344CB8AC3E}">
        <p14:creationId xmlns:p14="http://schemas.microsoft.com/office/powerpoint/2010/main" val="1780321133"/>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docMetadata/LabelInfo.xml><?xml version="1.0" encoding="utf-8"?>
<clbl:labelList xmlns:clbl="http://schemas.microsoft.com/office/2020/mipLabelMetadata">
  <clbl:label id="{6b63e28a-a8f9-47b5-aa40-97e231215164}" enabled="0" method="" siteId="{6b63e28a-a8f9-47b5-aa40-97e231215164}" removed="1"/>
</clbl:labelList>
</file>

<file path=docProps/app.xml><?xml version="1.0" encoding="utf-8"?>
<Properties xmlns="http://schemas.openxmlformats.org/officeDocument/2006/extended-properties" xmlns:vt="http://schemas.openxmlformats.org/officeDocument/2006/docPropsVTypes">
  <Template>office theme</Template>
  <TotalTime>2815</TotalTime>
  <Words>328</Words>
  <Application>Microsoft Office PowerPoint</Application>
  <PresentationFormat>Widescreen</PresentationFormat>
  <Paragraphs>40</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Gill Sans MT</vt:lpstr>
      <vt:lpstr>Wingdings 2</vt:lpstr>
      <vt:lpstr>Dividend</vt:lpstr>
      <vt:lpstr>Git &amp; Github</vt:lpstr>
      <vt:lpstr>Overview</vt:lpstr>
      <vt:lpstr>What is Git? What is Github?</vt:lpstr>
      <vt:lpstr>Init &amp; config</vt:lpstr>
      <vt:lpstr>Challenge – Create a local Repo</vt:lpstr>
      <vt:lpstr>Working &amp; staging</vt:lpstr>
      <vt:lpstr>Add</vt:lpstr>
      <vt:lpstr>Commit</vt:lpstr>
      <vt:lpstr>Remote</vt:lpstr>
      <vt:lpstr>Push</vt:lpstr>
      <vt:lpstr>Challenge – Push to Github</vt:lpstr>
      <vt:lpstr>Clone</vt:lpstr>
      <vt:lpstr>branch</vt:lpstr>
      <vt:lpstr>Branch continued</vt:lpstr>
      <vt:lpstr>Pull Request</vt:lpstr>
      <vt:lpstr>Pull vs fetch</vt:lpstr>
      <vt:lpstr>Challenge – Create a working branch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Wilson</dc:creator>
  <cp:lastModifiedBy>Ethan Wilson</cp:lastModifiedBy>
  <cp:revision>587</cp:revision>
  <dcterms:created xsi:type="dcterms:W3CDTF">2025-02-12T19:53:45Z</dcterms:created>
  <dcterms:modified xsi:type="dcterms:W3CDTF">2025-09-21T19:57:51Z</dcterms:modified>
</cp:coreProperties>
</file>