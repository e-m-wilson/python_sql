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54"/>
  </p:notesMasterIdLst>
  <p:sldIdLst>
    <p:sldId id="256" r:id="rId2"/>
    <p:sldId id="258" r:id="rId3"/>
    <p:sldId id="260" r:id="rId4"/>
    <p:sldId id="348" r:id="rId5"/>
    <p:sldId id="343" r:id="rId6"/>
    <p:sldId id="344" r:id="rId7"/>
    <p:sldId id="345" r:id="rId8"/>
    <p:sldId id="346" r:id="rId9"/>
    <p:sldId id="349" r:id="rId10"/>
    <p:sldId id="317" r:id="rId11"/>
    <p:sldId id="347" r:id="rId12"/>
    <p:sldId id="364" r:id="rId13"/>
    <p:sldId id="351" r:id="rId14"/>
    <p:sldId id="350" r:id="rId15"/>
    <p:sldId id="352" r:id="rId16"/>
    <p:sldId id="356" r:id="rId17"/>
    <p:sldId id="372" r:id="rId18"/>
    <p:sldId id="354" r:id="rId19"/>
    <p:sldId id="353" r:id="rId20"/>
    <p:sldId id="355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5" r:id="rId29"/>
    <p:sldId id="367" r:id="rId30"/>
    <p:sldId id="368" r:id="rId31"/>
    <p:sldId id="369" r:id="rId32"/>
    <p:sldId id="370" r:id="rId33"/>
    <p:sldId id="371" r:id="rId34"/>
    <p:sldId id="381" r:id="rId35"/>
    <p:sldId id="382" r:id="rId36"/>
    <p:sldId id="383" r:id="rId37"/>
    <p:sldId id="384" r:id="rId38"/>
    <p:sldId id="366" r:id="rId39"/>
    <p:sldId id="386" r:id="rId40"/>
    <p:sldId id="385" r:id="rId41"/>
    <p:sldId id="373" r:id="rId42"/>
    <p:sldId id="378" r:id="rId43"/>
    <p:sldId id="374" r:id="rId44"/>
    <p:sldId id="375" r:id="rId45"/>
    <p:sldId id="376" r:id="rId46"/>
    <p:sldId id="377" r:id="rId47"/>
    <p:sldId id="379" r:id="rId48"/>
    <p:sldId id="380" r:id="rId49"/>
    <p:sldId id="270" r:id="rId50"/>
    <p:sldId id="263" r:id="rId51"/>
    <p:sldId id="265" r:id="rId52"/>
    <p:sldId id="275" r:id="rId53"/>
  </p:sldIdLst>
  <p:sldSz cx="9144000" cy="5143500" type="screen16x9"/>
  <p:notesSz cx="6858000" cy="9144000"/>
  <p:embeddedFontLst>
    <p:embeddedFont>
      <p:font typeface="Cascadia Mono" panose="020B0609020000020004" pitchFamily="49" charset="0"/>
      <p:regular r:id="rId55"/>
      <p:bold r:id="rId56"/>
      <p:italic r:id="rId57"/>
      <p:boldItalic r:id="rId58"/>
    </p:embeddedFont>
    <p:embeddedFont>
      <p:font typeface="Hammersmith One" panose="02010703030501060504" pitchFamily="2" charset="0"/>
      <p:regular r:id="rId59"/>
    </p:embeddedFont>
    <p:embeddedFont>
      <p:font typeface="Source Sans Pro" panose="020B0503030403020204" pitchFamily="3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3CE10-83FF-47DA-89D2-9009D815A9A8}">
  <a:tblStyle styleId="{3723CE10-83FF-47DA-89D2-9009D815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85755" autoAdjust="0"/>
  </p:normalViewPr>
  <p:slideViewPr>
    <p:cSldViewPr snapToGrid="0">
      <p:cViewPr varScale="1">
        <p:scale>
          <a:sx n="120" d="100"/>
          <a:sy n="120" d="100"/>
        </p:scale>
        <p:origin x="11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font" Target="fonts/font9.fntdata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Wilson" userId="622220c9-5e7c-4955-a7c5-4d64b790f7c8" providerId="ADAL" clId="{440F1A42-06CA-4A2E-8226-1CFBBCC6B18D}"/>
    <pc:docChg chg="delSld delMainMaster">
      <pc:chgData name="Ethan Wilson" userId="622220c9-5e7c-4955-a7c5-4d64b790f7c8" providerId="ADAL" clId="{440F1A42-06CA-4A2E-8226-1CFBBCC6B18D}" dt="2024-11-07T18:41:19.717" v="0" actId="47"/>
      <pc:docMkLst>
        <pc:docMk/>
      </pc:docMkLst>
      <pc:sldChg chg="del">
        <pc:chgData name="Ethan Wilson" userId="622220c9-5e7c-4955-a7c5-4d64b790f7c8" providerId="ADAL" clId="{440F1A42-06CA-4A2E-8226-1CFBBCC6B18D}" dt="2024-11-07T18:41:19.717" v="0" actId="47"/>
        <pc:sldMkLst>
          <pc:docMk/>
          <pc:sldMk cId="0" sldId="307"/>
        </pc:sldMkLst>
      </pc:sldChg>
      <pc:sldMasterChg chg="del delSldLayout">
        <pc:chgData name="Ethan Wilson" userId="622220c9-5e7c-4955-a7c5-4d64b790f7c8" providerId="ADAL" clId="{440F1A42-06CA-4A2E-8226-1CFBBCC6B18D}" dt="2024-11-07T18:41:19.717" v="0" actId="47"/>
        <pc:sldMasterMkLst>
          <pc:docMk/>
          <pc:sldMasterMk cId="0" sldId="2147483672"/>
        </pc:sldMasterMkLst>
        <pc:sldLayoutChg chg="del">
          <pc:chgData name="Ethan Wilson" userId="622220c9-5e7c-4955-a7c5-4d64b790f7c8" providerId="ADAL" clId="{440F1A42-06CA-4A2E-8226-1CFBBCC6B18D}" dt="2024-11-07T18:41:19.717" v="0" actId="47"/>
          <pc:sldLayoutMkLst>
            <pc:docMk/>
            <pc:sldMasterMk cId="0" sldId="2147483672"/>
            <pc:sldLayoutMk cId="0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c8c653ffb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c8c653ffb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6a9e8cae7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6a9e8cae7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5AF5175C-6BD5-95A8-7C01-F336C760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1B7FF70D-699C-0FE3-3424-FCA212C1D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194CE5E9-7029-3EAF-A876-7F4E704BD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027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enforce or bring up any other constraints yet. Finish this challenge first before introducing more constraints on the next slide with additional challenges. </a:t>
            </a:r>
          </a:p>
        </p:txBody>
      </p:sp>
    </p:spTree>
    <p:extLst>
      <p:ext uri="{BB962C8B-B14F-4D97-AF65-F5344CB8AC3E}">
        <p14:creationId xmlns:p14="http://schemas.microsoft.com/office/powerpoint/2010/main" val="717919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3F7C-3B50-92F9-D3DB-65FDC729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6E735-DBD9-5AD7-B137-A08F8EF35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E790E-0E4E-73E0-7D73-2E7EAE3E1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445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345418FC-4A4C-A4A8-730D-D7E8419AB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D378DFB2-B2F3-1327-458D-DDFC85CF7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59BD601A-7150-69BF-2CB5-30D15BA0F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055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6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5074-2D2C-ECDC-FC73-7579C325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509CE-B7BA-68C1-DC6D-5237265FD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2737A-70B9-149F-CC19-6FD20DCAA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36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2A2A-8C7D-4D0B-3A0E-0B84CEF6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FF93D-A471-0D5F-7906-A11A521B4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6D420-4869-59FB-9A4E-5E6626D8B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971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shows a multivalued attribute for </a:t>
            </a:r>
            <a:r>
              <a:rPr lang="en-US" dirty="0" err="1"/>
              <a:t>someones</a:t>
            </a:r>
            <a:r>
              <a:rPr lang="en-US" dirty="0"/>
              <a:t> addresses and phone numbers. Someone could have multiple addresses, and multiple phones at each address. </a:t>
            </a:r>
          </a:p>
        </p:txBody>
      </p:sp>
    </p:spTree>
    <p:extLst>
      <p:ext uri="{BB962C8B-B14F-4D97-AF65-F5344CB8AC3E}">
        <p14:creationId xmlns:p14="http://schemas.microsoft.com/office/powerpoint/2010/main" val="1111115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DE35-8E76-EA05-A612-3A80B425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253A3-A952-EB9F-348F-5FFE514CD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B5C6F-26C7-0CD7-F5BD-70F4A73AB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446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5522-D673-1EF1-B271-C723C61E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96939-C10B-8FD6-D9AF-A2FE7557F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E5F3C-01DE-A72F-25D4-70D65318D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76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8E1F-A2EF-3431-9310-0D91B9E1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73B3A-74BD-F99A-FA66-918AB33E6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53FBC-49D1-F8F1-5AB8-8EE725CFE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46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6CB3-6BD9-6E58-AFFB-D6503865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4B41A-0E0F-47EB-6705-ED1D40B01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EF4C1-9D05-C15A-16B3-819B9554B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457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0096D017-DAD8-CFB9-ACC2-F4EF2B03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96A28E39-922F-AAAE-85F0-E1AC20F00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639FA89A-E34D-41AA-1C7C-493AF3226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117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9BF4-DE5D-70E6-56E2-30DFBF32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F5FCE-B282-77B7-9C0D-32039BC58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5CC4B-4E5B-0F46-DD2A-A08829C28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767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C2A3-3BEE-3296-50DF-A13DCDFAC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B991B-57E6-F368-8C8D-E9792668A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4BED0-D22E-7484-9218-594FB502F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079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98EB-4B7E-E712-94DD-9616A6A7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51784-3E88-754B-49D2-0DB6BA243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FD622-4D48-A7A3-05C1-AE7E19229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8349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450F-6D0E-F3CC-3723-4AD494B3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C2B2B-634C-BA6C-49E4-0D2B03118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508B9-47CC-4F37-2326-9F168B56F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19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46B0-5E1F-12D9-09B1-A850BBFB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77A79-399A-6D5C-B48A-4E6CD37ED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8FB36-EC6E-5615-A6B5-0DE9C9F08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9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6AEE-CE00-EDF0-369F-9072AC76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F89D9-2E53-525B-34B3-7A97F00F0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3F7B0-DF12-9055-B15F-F21984025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667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08655-D821-85FB-8948-40E3BD43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562B8-C064-3010-46EF-4ABC4E8E6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13921-11DA-A98E-6174-D6A941A5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4479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4CF1F-620C-0FAA-F925-F1121CE8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AC965-2ACA-0EF8-C151-364ED56C0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A095E-DCF6-7D47-DC5B-4877D0A9F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584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06FD-26B1-EBFB-5FE5-8869A182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02B22-86A7-AD4C-EDD6-D56C6A78A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C06CA-54E5-1E81-511E-CCBA6EF9E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196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4C15-5DEE-76B7-AE3C-A46C5A11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FB87D-E228-C871-B67F-A7B745411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083B3-4163-EEFB-78FE-BDA7324F8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582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DEE02-2205-2151-2116-099B3A0C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906DB-7BB8-D689-AF56-AE8174359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788C2-B1B4-BE5C-F3D0-10D0CCACA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44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D7BF-454B-87A3-FE9C-F35CDF3D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3308B-6165-593A-FC66-7B7F3DBF2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6B475-90E0-E486-DC41-A98B77A2E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7878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A9CB-A32D-BA58-3810-34629076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23BA2-709F-AA9C-2C75-0B962FC04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077D0-A2D3-C680-4087-5A0794981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5621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43D4-1F67-FCB4-5A43-728C9BD6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47E99-202B-E7DA-C2FD-2114EDD5B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5CA08-5CF3-F3E7-BC8E-8344F9AA6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563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3681-BE2D-52A4-78E2-9FF1C6AB6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79789-E201-0FC2-0182-1737EBB52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CC975-DA30-9C76-252A-3E60CA2FC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709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C810-58BB-9BED-26D3-837FD194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A1424-D759-98CC-8B51-E333BAD0D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05797-2801-D852-26E0-0607AA50E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902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2FF5F-7A42-62C4-AC57-D0D4C9C8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5A12C-5419-6830-5021-12C14EC8F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845F4-B0FD-1826-3EA0-0071C16CA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4662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a6a9e8cae7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a6a9e8cae7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a631c3065b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a631c3065b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a6a9e8cae7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a6a9e8cae7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a6a9e8cae7_0_18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a6a9e8cae7_0_18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800" b="1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21802" y="3577052"/>
            <a:ext cx="3202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310191">
            <a:off x="8398938" y="4513703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610022" flipH="1">
            <a:off x="814272" y="222207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610492" flipH="1">
            <a:off x="264784" y="445893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92700" y="1389600"/>
            <a:ext cx="77571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/>
          <p:nvPr/>
        </p:nvSpPr>
        <p:spPr>
          <a:xfrm rot="-9548733" flipH="1">
            <a:off x="8388609" y="358858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 rot="-9548733" flipH="1">
            <a:off x="7883590" y="457305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 rot="-9549196" flipH="1">
            <a:off x="7202525" y="467027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 rot="1251267" flipH="1">
            <a:off x="-530510" y="53275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 rot="1251267" flipH="1">
            <a:off x="434840" y="6942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 rot="1250804" flipH="1">
            <a:off x="1256195" y="50192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36700" cy="40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/>
          <p:nvPr/>
        </p:nvSpPr>
        <p:spPr>
          <a:xfrm rot="10800000">
            <a:off x="-444075" y="3169658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/>
          <p:nvPr/>
        </p:nvSpPr>
        <p:spPr>
          <a:xfrm rot="10800000">
            <a:off x="204337" y="4366358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8"/>
          <p:cNvSpPr/>
          <p:nvPr/>
        </p:nvSpPr>
        <p:spPr>
          <a:xfrm rot="-10489599">
            <a:off x="-77639" y="178473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 rot="10800000">
            <a:off x="995422" y="463396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 rot="-10489656">
            <a:off x="-740403" y="50347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713225" y="38645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981200" y="1106125"/>
            <a:ext cx="5181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176500" y="3152225"/>
            <a:ext cx="4791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1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/>
          <p:nvPr/>
        </p:nvSpPr>
        <p:spPr>
          <a:xfrm flipH="1">
            <a:off x="-291675" y="2670863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 flipH="1">
            <a:off x="356737" y="1932813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 rot="-310401" flipH="1">
            <a:off x="74761" y="382321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 flipH="1">
            <a:off x="1147822" y="1805667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720000" y="2485600"/>
            <a:ext cx="2697900" cy="9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3580325"/>
            <a:ext cx="2507400" cy="4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/>
          <p:nvPr/>
        </p:nvSpPr>
        <p:spPr>
          <a:xfrm rot="-10489809">
            <a:off x="-115307" y="-278628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1333692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2"/>
          </p:nvPr>
        </p:nvSpPr>
        <p:spPr>
          <a:xfrm>
            <a:off x="1211142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3"/>
          </p:nvPr>
        </p:nvSpPr>
        <p:spPr>
          <a:xfrm>
            <a:off x="38013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4"/>
          </p:nvPr>
        </p:nvSpPr>
        <p:spPr>
          <a:xfrm>
            <a:off x="3678750" y="2020364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5"/>
          </p:nvPr>
        </p:nvSpPr>
        <p:spPr>
          <a:xfrm>
            <a:off x="62992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6"/>
          </p:nvPr>
        </p:nvSpPr>
        <p:spPr>
          <a:xfrm>
            <a:off x="6176650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7"/>
          </p:nvPr>
        </p:nvSpPr>
        <p:spPr>
          <a:xfrm>
            <a:off x="1333692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8"/>
          </p:nvPr>
        </p:nvSpPr>
        <p:spPr>
          <a:xfrm>
            <a:off x="1211142" y="381426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9"/>
          </p:nvPr>
        </p:nvSpPr>
        <p:spPr>
          <a:xfrm>
            <a:off x="38013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3"/>
          </p:nvPr>
        </p:nvSpPr>
        <p:spPr>
          <a:xfrm>
            <a:off x="3678750" y="3802958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4"/>
          </p:nvPr>
        </p:nvSpPr>
        <p:spPr>
          <a:xfrm>
            <a:off x="62992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5"/>
          </p:nvPr>
        </p:nvSpPr>
        <p:spPr>
          <a:xfrm>
            <a:off x="6176650" y="379640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hasCustomPrompt="1"/>
          </p:nvPr>
        </p:nvSpPr>
        <p:spPr>
          <a:xfrm>
            <a:off x="1531692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39993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17" hasCustomPrompt="1"/>
          </p:nvPr>
        </p:nvSpPr>
        <p:spPr>
          <a:xfrm>
            <a:off x="64972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 hasCustomPrompt="1"/>
          </p:nvPr>
        </p:nvSpPr>
        <p:spPr>
          <a:xfrm>
            <a:off x="1531692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39993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0" hasCustomPrompt="1"/>
          </p:nvPr>
        </p:nvSpPr>
        <p:spPr>
          <a:xfrm>
            <a:off x="64972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14"/>
          <p:cNvGrpSpPr/>
          <p:nvPr/>
        </p:nvGrpSpPr>
        <p:grpSpPr>
          <a:xfrm rot="-10403308">
            <a:off x="215761" y="258431"/>
            <a:ext cx="774556" cy="1059026"/>
            <a:chOff x="8487996" y="3199602"/>
            <a:chExt cx="1292466" cy="1767148"/>
          </a:xfrm>
        </p:grpSpPr>
        <p:sp>
          <p:nvSpPr>
            <p:cNvPr id="110" name="Google Shape;110;p14"/>
            <p:cNvSpPr/>
            <p:nvPr/>
          </p:nvSpPr>
          <p:spPr>
            <a:xfrm rot="10800000" flipH="1">
              <a:off x="8647963" y="3199602"/>
              <a:ext cx="1132500" cy="1131675"/>
            </a:xfrm>
            <a:custGeom>
              <a:avLst/>
              <a:gdLst/>
              <a:ahLst/>
              <a:cxnLst/>
              <a:rect l="l" t="t" r="r" b="b"/>
              <a:pathLst>
                <a:path w="45300" h="45267" extrusionOk="0">
                  <a:moveTo>
                    <a:pt x="22629" y="6872"/>
                  </a:moveTo>
                  <a:cubicBezTo>
                    <a:pt x="26731" y="6872"/>
                    <a:pt x="30760" y="8466"/>
                    <a:pt x="33792" y="11476"/>
                  </a:cubicBezTo>
                  <a:cubicBezTo>
                    <a:pt x="38295" y="16012"/>
                    <a:pt x="39629" y="22784"/>
                    <a:pt x="37194" y="28688"/>
                  </a:cubicBezTo>
                  <a:cubicBezTo>
                    <a:pt x="34759" y="34559"/>
                    <a:pt x="29021" y="38428"/>
                    <a:pt x="22617" y="38428"/>
                  </a:cubicBezTo>
                  <a:lnTo>
                    <a:pt x="22617" y="38395"/>
                  </a:lnTo>
                  <a:cubicBezTo>
                    <a:pt x="13911" y="38395"/>
                    <a:pt x="6872" y="31356"/>
                    <a:pt x="6872" y="22650"/>
                  </a:cubicBezTo>
                  <a:cubicBezTo>
                    <a:pt x="6839" y="16279"/>
                    <a:pt x="10708" y="10508"/>
                    <a:pt x="16579" y="8073"/>
                  </a:cubicBezTo>
                  <a:cubicBezTo>
                    <a:pt x="18538" y="7265"/>
                    <a:pt x="20592" y="6872"/>
                    <a:pt x="22629" y="6872"/>
                  </a:cubicBezTo>
                  <a:close/>
                  <a:moveTo>
                    <a:pt x="20916" y="1"/>
                  </a:moveTo>
                  <a:lnTo>
                    <a:pt x="20315" y="2102"/>
                  </a:lnTo>
                  <a:cubicBezTo>
                    <a:pt x="19148" y="2236"/>
                    <a:pt x="18014" y="2469"/>
                    <a:pt x="16913" y="2769"/>
                  </a:cubicBezTo>
                  <a:lnTo>
                    <a:pt x="15545" y="1068"/>
                  </a:lnTo>
                  <a:lnTo>
                    <a:pt x="12376" y="2369"/>
                  </a:lnTo>
                  <a:lnTo>
                    <a:pt x="12643" y="4571"/>
                  </a:lnTo>
                  <a:cubicBezTo>
                    <a:pt x="11609" y="5104"/>
                    <a:pt x="10642" y="5771"/>
                    <a:pt x="9741" y="6472"/>
                  </a:cubicBezTo>
                  <a:lnTo>
                    <a:pt x="7806" y="5405"/>
                  </a:lnTo>
                  <a:lnTo>
                    <a:pt x="5405" y="7840"/>
                  </a:lnTo>
                  <a:lnTo>
                    <a:pt x="6472" y="9774"/>
                  </a:lnTo>
                  <a:cubicBezTo>
                    <a:pt x="5772" y="10675"/>
                    <a:pt x="5104" y="11642"/>
                    <a:pt x="4537" y="12643"/>
                  </a:cubicBezTo>
                  <a:lnTo>
                    <a:pt x="2369" y="12410"/>
                  </a:lnTo>
                  <a:lnTo>
                    <a:pt x="1068" y="15545"/>
                  </a:lnTo>
                  <a:lnTo>
                    <a:pt x="2769" y="16913"/>
                  </a:lnTo>
                  <a:cubicBezTo>
                    <a:pt x="2436" y="18047"/>
                    <a:pt x="2236" y="19181"/>
                    <a:pt x="2102" y="20315"/>
                  </a:cubicBezTo>
                  <a:lnTo>
                    <a:pt x="1" y="20916"/>
                  </a:lnTo>
                  <a:lnTo>
                    <a:pt x="1" y="24351"/>
                  </a:lnTo>
                  <a:lnTo>
                    <a:pt x="2102" y="24952"/>
                  </a:lnTo>
                  <a:cubicBezTo>
                    <a:pt x="2236" y="26086"/>
                    <a:pt x="2469" y="27220"/>
                    <a:pt x="2769" y="28354"/>
                  </a:cubicBezTo>
                  <a:lnTo>
                    <a:pt x="1068" y="29722"/>
                  </a:lnTo>
                  <a:lnTo>
                    <a:pt x="2369" y="32857"/>
                  </a:lnTo>
                  <a:lnTo>
                    <a:pt x="4537" y="32624"/>
                  </a:lnTo>
                  <a:cubicBezTo>
                    <a:pt x="5104" y="33625"/>
                    <a:pt x="5772" y="34592"/>
                    <a:pt x="6472" y="35493"/>
                  </a:cubicBezTo>
                  <a:lnTo>
                    <a:pt x="5405" y="37427"/>
                  </a:lnTo>
                  <a:lnTo>
                    <a:pt x="7840" y="39863"/>
                  </a:lnTo>
                  <a:lnTo>
                    <a:pt x="9774" y="38795"/>
                  </a:lnTo>
                  <a:cubicBezTo>
                    <a:pt x="10675" y="39496"/>
                    <a:pt x="11642" y="40163"/>
                    <a:pt x="12643" y="40730"/>
                  </a:cubicBezTo>
                  <a:lnTo>
                    <a:pt x="12410" y="42898"/>
                  </a:lnTo>
                  <a:lnTo>
                    <a:pt x="15545" y="44199"/>
                  </a:lnTo>
                  <a:lnTo>
                    <a:pt x="16913" y="42498"/>
                  </a:lnTo>
                  <a:cubicBezTo>
                    <a:pt x="18047" y="42798"/>
                    <a:pt x="19181" y="43031"/>
                    <a:pt x="20349" y="43165"/>
                  </a:cubicBezTo>
                  <a:lnTo>
                    <a:pt x="20916" y="45266"/>
                  </a:lnTo>
                  <a:lnTo>
                    <a:pt x="24318" y="45266"/>
                  </a:lnTo>
                  <a:lnTo>
                    <a:pt x="24952" y="43165"/>
                  </a:lnTo>
                  <a:cubicBezTo>
                    <a:pt x="26086" y="43031"/>
                    <a:pt x="27220" y="42798"/>
                    <a:pt x="28354" y="42498"/>
                  </a:cubicBezTo>
                  <a:lnTo>
                    <a:pt x="29722" y="44199"/>
                  </a:lnTo>
                  <a:lnTo>
                    <a:pt x="32858" y="42898"/>
                  </a:lnTo>
                  <a:lnTo>
                    <a:pt x="32624" y="40730"/>
                  </a:lnTo>
                  <a:cubicBezTo>
                    <a:pt x="33625" y="40163"/>
                    <a:pt x="34592" y="39496"/>
                    <a:pt x="35493" y="38795"/>
                  </a:cubicBezTo>
                  <a:lnTo>
                    <a:pt x="37427" y="39863"/>
                  </a:lnTo>
                  <a:lnTo>
                    <a:pt x="39863" y="37461"/>
                  </a:lnTo>
                  <a:lnTo>
                    <a:pt x="38795" y="35526"/>
                  </a:lnTo>
                  <a:cubicBezTo>
                    <a:pt x="39496" y="34625"/>
                    <a:pt x="40163" y="33658"/>
                    <a:pt x="40730" y="32657"/>
                  </a:cubicBezTo>
                  <a:lnTo>
                    <a:pt x="42898" y="32891"/>
                  </a:lnTo>
                  <a:lnTo>
                    <a:pt x="44199" y="29722"/>
                  </a:lnTo>
                  <a:lnTo>
                    <a:pt x="42498" y="28354"/>
                  </a:lnTo>
                  <a:cubicBezTo>
                    <a:pt x="42798" y="27253"/>
                    <a:pt x="43031" y="26119"/>
                    <a:pt x="43165" y="24952"/>
                  </a:cubicBezTo>
                  <a:lnTo>
                    <a:pt x="45300" y="24351"/>
                  </a:lnTo>
                  <a:lnTo>
                    <a:pt x="45300" y="20916"/>
                  </a:lnTo>
                  <a:lnTo>
                    <a:pt x="43165" y="20315"/>
                  </a:lnTo>
                  <a:cubicBezTo>
                    <a:pt x="43031" y="19181"/>
                    <a:pt x="42798" y="18047"/>
                    <a:pt x="42498" y="16913"/>
                  </a:cubicBezTo>
                  <a:lnTo>
                    <a:pt x="44199" y="15545"/>
                  </a:lnTo>
                  <a:lnTo>
                    <a:pt x="42898" y="12376"/>
                  </a:lnTo>
                  <a:lnTo>
                    <a:pt x="40730" y="12643"/>
                  </a:lnTo>
                  <a:cubicBezTo>
                    <a:pt x="40163" y="11642"/>
                    <a:pt x="39496" y="10675"/>
                    <a:pt x="38795" y="9774"/>
                  </a:cubicBezTo>
                  <a:lnTo>
                    <a:pt x="39863" y="7840"/>
                  </a:lnTo>
                  <a:lnTo>
                    <a:pt x="37427" y="5405"/>
                  </a:lnTo>
                  <a:lnTo>
                    <a:pt x="35493" y="6472"/>
                  </a:lnTo>
                  <a:cubicBezTo>
                    <a:pt x="34592" y="5771"/>
                    <a:pt x="33658" y="5104"/>
                    <a:pt x="32624" y="4571"/>
                  </a:cubicBezTo>
                  <a:lnTo>
                    <a:pt x="32891" y="2369"/>
                  </a:lnTo>
                  <a:lnTo>
                    <a:pt x="29722" y="1068"/>
                  </a:lnTo>
                  <a:lnTo>
                    <a:pt x="28354" y="2769"/>
                  </a:lnTo>
                  <a:cubicBezTo>
                    <a:pt x="27220" y="2469"/>
                    <a:pt x="26086" y="2236"/>
                    <a:pt x="24952" y="2102"/>
                  </a:cubicBezTo>
                  <a:lnTo>
                    <a:pt x="24318" y="1"/>
                  </a:lnTo>
                  <a:close/>
                </a:path>
              </a:pathLst>
            </a:custGeom>
            <a:solidFill>
              <a:srgbClr val="64B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rot="10800000" flipH="1">
              <a:off x="8487996" y="4392929"/>
              <a:ext cx="573096" cy="573821"/>
            </a:xfrm>
            <a:custGeom>
              <a:avLst/>
              <a:gdLst/>
              <a:ahLst/>
              <a:cxnLst/>
              <a:rect l="l" t="t" r="r" b="b"/>
              <a:pathLst>
                <a:path w="26887" h="26921" extrusionOk="0">
                  <a:moveTo>
                    <a:pt x="13475" y="7342"/>
                  </a:moveTo>
                  <a:cubicBezTo>
                    <a:pt x="14975" y="7342"/>
                    <a:pt x="16504" y="7898"/>
                    <a:pt x="17747" y="9141"/>
                  </a:cubicBezTo>
                  <a:cubicBezTo>
                    <a:pt x="21583" y="12977"/>
                    <a:pt x="18881" y="19548"/>
                    <a:pt x="13443" y="19548"/>
                  </a:cubicBezTo>
                  <a:cubicBezTo>
                    <a:pt x="10074" y="19548"/>
                    <a:pt x="7339" y="16813"/>
                    <a:pt x="7339" y="13444"/>
                  </a:cubicBezTo>
                  <a:cubicBezTo>
                    <a:pt x="7339" y="9767"/>
                    <a:pt x="10343" y="7342"/>
                    <a:pt x="13475" y="7342"/>
                  </a:cubicBezTo>
                  <a:close/>
                  <a:moveTo>
                    <a:pt x="11209" y="1"/>
                  </a:moveTo>
                  <a:lnTo>
                    <a:pt x="9874" y="2102"/>
                  </a:lnTo>
                  <a:cubicBezTo>
                    <a:pt x="9107" y="2336"/>
                    <a:pt x="8407" y="2636"/>
                    <a:pt x="7739" y="3003"/>
                  </a:cubicBezTo>
                  <a:lnTo>
                    <a:pt x="5638" y="2569"/>
                  </a:lnTo>
                  <a:lnTo>
                    <a:pt x="2536" y="5672"/>
                  </a:lnTo>
                  <a:lnTo>
                    <a:pt x="3003" y="7740"/>
                  </a:lnTo>
                  <a:cubicBezTo>
                    <a:pt x="2602" y="8440"/>
                    <a:pt x="2302" y="9141"/>
                    <a:pt x="2069" y="9908"/>
                  </a:cubicBezTo>
                  <a:lnTo>
                    <a:pt x="1" y="11242"/>
                  </a:lnTo>
                  <a:lnTo>
                    <a:pt x="1" y="15645"/>
                  </a:lnTo>
                  <a:lnTo>
                    <a:pt x="2102" y="17013"/>
                  </a:lnTo>
                  <a:cubicBezTo>
                    <a:pt x="2336" y="17747"/>
                    <a:pt x="2636" y="18481"/>
                    <a:pt x="3003" y="19148"/>
                  </a:cubicBezTo>
                  <a:lnTo>
                    <a:pt x="2569" y="21249"/>
                  </a:lnTo>
                  <a:lnTo>
                    <a:pt x="5671" y="24352"/>
                  </a:lnTo>
                  <a:lnTo>
                    <a:pt x="7739" y="23918"/>
                  </a:lnTo>
                  <a:cubicBezTo>
                    <a:pt x="8440" y="24285"/>
                    <a:pt x="9140" y="24585"/>
                    <a:pt x="9908" y="24819"/>
                  </a:cubicBezTo>
                  <a:lnTo>
                    <a:pt x="11242" y="26920"/>
                  </a:lnTo>
                  <a:lnTo>
                    <a:pt x="15645" y="26920"/>
                  </a:lnTo>
                  <a:lnTo>
                    <a:pt x="16979" y="24819"/>
                  </a:lnTo>
                  <a:cubicBezTo>
                    <a:pt x="17713" y="24585"/>
                    <a:pt x="18447" y="24285"/>
                    <a:pt x="19114" y="23885"/>
                  </a:cubicBezTo>
                  <a:lnTo>
                    <a:pt x="21216" y="24352"/>
                  </a:lnTo>
                  <a:lnTo>
                    <a:pt x="24318" y="21249"/>
                  </a:lnTo>
                  <a:lnTo>
                    <a:pt x="23884" y="19148"/>
                  </a:lnTo>
                  <a:cubicBezTo>
                    <a:pt x="24251" y="18481"/>
                    <a:pt x="24551" y="17747"/>
                    <a:pt x="24785" y="17013"/>
                  </a:cubicBezTo>
                  <a:lnTo>
                    <a:pt x="26886" y="15645"/>
                  </a:lnTo>
                  <a:lnTo>
                    <a:pt x="26886" y="11242"/>
                  </a:lnTo>
                  <a:lnTo>
                    <a:pt x="24785" y="9908"/>
                  </a:lnTo>
                  <a:cubicBezTo>
                    <a:pt x="24551" y="9141"/>
                    <a:pt x="24251" y="8440"/>
                    <a:pt x="23884" y="7740"/>
                  </a:cubicBezTo>
                  <a:lnTo>
                    <a:pt x="24318" y="5672"/>
                  </a:lnTo>
                  <a:lnTo>
                    <a:pt x="21216" y="2569"/>
                  </a:lnTo>
                  <a:lnTo>
                    <a:pt x="19114" y="3003"/>
                  </a:lnTo>
                  <a:cubicBezTo>
                    <a:pt x="18447" y="2636"/>
                    <a:pt x="17713" y="2336"/>
                    <a:pt x="16979" y="2102"/>
                  </a:cubicBezTo>
                  <a:lnTo>
                    <a:pt x="15645" y="1"/>
                  </a:lnTo>
                  <a:close/>
                </a:path>
              </a:pathLst>
            </a:custGeom>
            <a:solidFill>
              <a:srgbClr val="7BD9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4"/>
          <p:cNvSpPr/>
          <p:nvPr/>
        </p:nvSpPr>
        <p:spPr>
          <a:xfrm rot="-463513" flipH="1">
            <a:off x="8631071" y="4656934"/>
            <a:ext cx="343032" cy="3434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 rot="1251267" flipH="1">
            <a:off x="-428677" y="62342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/>
          <p:nvPr/>
        </p:nvSpPr>
        <p:spPr>
          <a:xfrm rot="1251267" flipH="1">
            <a:off x="536673" y="9761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0"/>
          <p:cNvSpPr/>
          <p:nvPr/>
        </p:nvSpPr>
        <p:spPr>
          <a:xfrm rot="940743" flipH="1">
            <a:off x="-545427" y="1864560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"/>
          <p:cNvSpPr/>
          <p:nvPr/>
        </p:nvSpPr>
        <p:spPr>
          <a:xfrm rot="1250804" flipH="1">
            <a:off x="1358028" y="140861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 rot="-310401" flipH="1">
            <a:off x="528872" y="286330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/>
          <p:nvPr/>
        </p:nvSpPr>
        <p:spPr>
          <a:xfrm rot="-310344" flipH="1">
            <a:off x="-133892" y="425600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 rot="9548733">
            <a:off x="-352477" y="321351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 rot="9548733">
            <a:off x="612873" y="419798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 rot="9859257">
            <a:off x="-469227" y="1739767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 rot="9549196">
            <a:off x="1434228" y="429520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/>
          <p:nvPr/>
        </p:nvSpPr>
        <p:spPr>
          <a:xfrm rot="-10489599">
            <a:off x="605072" y="741078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1"/>
          <p:cNvSpPr/>
          <p:nvPr/>
        </p:nvSpPr>
        <p:spPr>
          <a:xfrm rot="-10489656">
            <a:off x="-57692" y="-993310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 rot="-6651267">
            <a:off x="3597833" y="-69456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 rot="-6651267">
            <a:off x="3072856" y="269948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 rot="-6340743">
            <a:off x="4838882" y="-811231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 rot="-6650804">
            <a:off x="2506417" y="187116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 rot="-5089599">
            <a:off x="5837625" y="263069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 rot="-5089656">
            <a:off x="7230204" y="-399571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 rot="4148733">
            <a:off x="4232259" y="471738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3"/>
          <p:cNvSpPr/>
          <p:nvPr/>
        </p:nvSpPr>
        <p:spPr>
          <a:xfrm rot="4148733">
            <a:off x="5217567" y="4211530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"/>
          <p:cNvSpPr/>
          <p:nvPr/>
        </p:nvSpPr>
        <p:spPr>
          <a:xfrm rot="4459257">
            <a:off x="2758430" y="4601442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/>
          <p:nvPr/>
        </p:nvSpPr>
        <p:spPr>
          <a:xfrm rot="4149196">
            <a:off x="5924296" y="4434829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3"/>
          <p:cNvSpPr/>
          <p:nvPr/>
        </p:nvSpPr>
        <p:spPr>
          <a:xfrm rot="5710401">
            <a:off x="1759741" y="3527196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/>
          <p:nvPr/>
        </p:nvSpPr>
        <p:spPr>
          <a:xfrm rot="5710344">
            <a:off x="25229" y="3848152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8B7B"/>
              </a:buClr>
              <a:buSzPts val="2800"/>
              <a:buFont typeface="Hammersmith One"/>
              <a:buNone/>
              <a:defRPr sz="2800">
                <a:solidFill>
                  <a:srgbClr val="FF8B7B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●"/>
              <a:defRPr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w3schools.com/sql/sql_datatypes.asp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accent3"/>
                </a:solidFill>
              </a:rPr>
              <a:t>SQL</a:t>
            </a:r>
            <a:endParaRPr sz="4800" dirty="0">
              <a:solidFill>
                <a:schemeClr val="accent3"/>
              </a:solidFill>
            </a:endParaRPr>
          </a:p>
        </p:txBody>
      </p:sp>
      <p:grpSp>
        <p:nvGrpSpPr>
          <p:cNvPr id="181" name="Google Shape;181;p26"/>
          <p:cNvGrpSpPr/>
          <p:nvPr/>
        </p:nvGrpSpPr>
        <p:grpSpPr>
          <a:xfrm>
            <a:off x="-5" y="1080518"/>
            <a:ext cx="4588711" cy="3523405"/>
            <a:chOff x="1190200" y="796850"/>
            <a:chExt cx="5212075" cy="4002050"/>
          </a:xfrm>
        </p:grpSpPr>
        <p:sp>
          <p:nvSpPr>
            <p:cNvPr id="182" name="Google Shape;182;p26"/>
            <p:cNvSpPr/>
            <p:nvPr/>
          </p:nvSpPr>
          <p:spPr>
            <a:xfrm>
              <a:off x="1190200" y="4224300"/>
              <a:ext cx="5212075" cy="2525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534950" y="4391925"/>
              <a:ext cx="345275" cy="2525"/>
            </a:xfrm>
            <a:custGeom>
              <a:avLst/>
              <a:gdLst/>
              <a:ahLst/>
              <a:cxnLst/>
              <a:rect l="l" t="t" r="r" b="b"/>
              <a:pathLst>
                <a:path w="1381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4234025" y="4420275"/>
              <a:ext cx="408650" cy="2525"/>
            </a:xfrm>
            <a:custGeom>
              <a:avLst/>
              <a:gdLst/>
              <a:ahLst/>
              <a:cxnLst/>
              <a:rect l="l" t="t" r="r" b="b"/>
              <a:pathLst>
                <a:path w="16346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6346" y="100"/>
                  </a:lnTo>
                  <a:lnTo>
                    <a:pt x="16346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4930350" y="4295175"/>
              <a:ext cx="593800" cy="2525"/>
            </a:xfrm>
            <a:custGeom>
              <a:avLst/>
              <a:gdLst/>
              <a:ahLst/>
              <a:cxnLst/>
              <a:rect l="l" t="t" r="r" b="b"/>
              <a:pathLst>
                <a:path w="2375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23751" y="101"/>
                  </a:lnTo>
                  <a:lnTo>
                    <a:pt x="23751" y="1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3008975" y="4312700"/>
              <a:ext cx="715550" cy="2525"/>
            </a:xfrm>
            <a:custGeom>
              <a:avLst/>
              <a:gdLst/>
              <a:ahLst/>
              <a:cxnLst/>
              <a:rect l="l" t="t" r="r" b="b"/>
              <a:pathLst>
                <a:path w="28622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8621" y="100"/>
                  </a:lnTo>
                  <a:lnTo>
                    <a:pt x="2862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3817075" y="4312700"/>
              <a:ext cx="65900" cy="2525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5" y="100"/>
                  </a:lnTo>
                  <a:lnTo>
                    <a:pt x="263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2215075" y="4356900"/>
              <a:ext cx="1321825" cy="2525"/>
            </a:xfrm>
            <a:custGeom>
              <a:avLst/>
              <a:gdLst/>
              <a:ahLst/>
              <a:cxnLst/>
              <a:rect l="l" t="t" r="r" b="b"/>
              <a:pathLst>
                <a:path w="52873" h="101" extrusionOk="0">
                  <a:moveTo>
                    <a:pt x="1" y="0"/>
                  </a:moveTo>
                  <a:lnTo>
                    <a:pt x="1" y="100"/>
                  </a:lnTo>
                  <a:lnTo>
                    <a:pt x="52872" y="100"/>
                  </a:lnTo>
                  <a:lnTo>
                    <a:pt x="5287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1929875" y="1081225"/>
              <a:ext cx="2290000" cy="1707900"/>
            </a:xfrm>
            <a:custGeom>
              <a:avLst/>
              <a:gdLst/>
              <a:ahLst/>
              <a:cxnLst/>
              <a:rect l="l" t="t" r="r" b="b"/>
              <a:pathLst>
                <a:path w="91600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91600" y="68316"/>
                  </a:lnTo>
                  <a:lnTo>
                    <a:pt x="9160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219850" y="1081225"/>
              <a:ext cx="14200" cy="1707900"/>
            </a:xfrm>
            <a:custGeom>
              <a:avLst/>
              <a:gdLst/>
              <a:ahLst/>
              <a:cxnLst/>
              <a:rect l="l" t="t" r="r" b="b"/>
              <a:pathLst>
                <a:path w="568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568" y="68316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043300" y="1194625"/>
              <a:ext cx="2063150" cy="1481100"/>
            </a:xfrm>
            <a:custGeom>
              <a:avLst/>
              <a:gdLst/>
              <a:ahLst/>
              <a:cxnLst/>
              <a:rect l="l" t="t" r="r" b="b"/>
              <a:pathLst>
                <a:path w="82526" h="59244" extrusionOk="0">
                  <a:moveTo>
                    <a:pt x="0" y="1"/>
                  </a:moveTo>
                  <a:lnTo>
                    <a:pt x="0" y="59243"/>
                  </a:lnTo>
                  <a:lnTo>
                    <a:pt x="82526" y="59243"/>
                  </a:lnTo>
                  <a:lnTo>
                    <a:pt x="8252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3557700" y="2241225"/>
              <a:ext cx="367800" cy="513725"/>
            </a:xfrm>
            <a:custGeom>
              <a:avLst/>
              <a:gdLst/>
              <a:ahLst/>
              <a:cxnLst/>
              <a:rect l="l" t="t" r="r" b="b"/>
              <a:pathLst>
                <a:path w="14712" h="20549" extrusionOk="0">
                  <a:moveTo>
                    <a:pt x="1" y="0"/>
                  </a:moveTo>
                  <a:lnTo>
                    <a:pt x="1" y="20548"/>
                  </a:lnTo>
                  <a:lnTo>
                    <a:pt x="14711" y="20548"/>
                  </a:lnTo>
                  <a:lnTo>
                    <a:pt x="147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3019825" y="2060250"/>
              <a:ext cx="392800" cy="513725"/>
            </a:xfrm>
            <a:custGeom>
              <a:avLst/>
              <a:gdLst/>
              <a:ahLst/>
              <a:cxnLst/>
              <a:rect l="l" t="t" r="r" b="b"/>
              <a:pathLst>
                <a:path w="15712" h="20549" extrusionOk="0">
                  <a:moveTo>
                    <a:pt x="1035" y="1"/>
                  </a:moveTo>
                  <a:lnTo>
                    <a:pt x="1" y="20549"/>
                  </a:lnTo>
                  <a:lnTo>
                    <a:pt x="14678" y="20549"/>
                  </a:lnTo>
                  <a:lnTo>
                    <a:pt x="157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789675" y="2241225"/>
              <a:ext cx="366950" cy="513725"/>
            </a:xfrm>
            <a:custGeom>
              <a:avLst/>
              <a:gdLst/>
              <a:ahLst/>
              <a:cxnLst/>
              <a:rect l="l" t="t" r="r" b="b"/>
              <a:pathLst>
                <a:path w="14678" h="20549" extrusionOk="0">
                  <a:moveTo>
                    <a:pt x="0" y="0"/>
                  </a:moveTo>
                  <a:lnTo>
                    <a:pt x="0" y="20548"/>
                  </a:lnTo>
                  <a:lnTo>
                    <a:pt x="14677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250950" y="2060250"/>
              <a:ext cx="393625" cy="513725"/>
            </a:xfrm>
            <a:custGeom>
              <a:avLst/>
              <a:gdLst/>
              <a:ahLst/>
              <a:cxnLst/>
              <a:rect l="l" t="t" r="r" b="b"/>
              <a:pathLst>
                <a:path w="15745" h="20549" extrusionOk="0">
                  <a:moveTo>
                    <a:pt x="1068" y="1"/>
                  </a:moveTo>
                  <a:lnTo>
                    <a:pt x="0" y="20549"/>
                  </a:lnTo>
                  <a:lnTo>
                    <a:pt x="14677" y="20549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561175" y="1235500"/>
              <a:ext cx="586275" cy="732200"/>
            </a:xfrm>
            <a:custGeom>
              <a:avLst/>
              <a:gdLst/>
              <a:ahLst/>
              <a:cxnLst/>
              <a:rect l="l" t="t" r="r" b="b"/>
              <a:pathLst>
                <a:path w="23451" h="29288" extrusionOk="0">
                  <a:moveTo>
                    <a:pt x="3436" y="0"/>
                  </a:moveTo>
                  <a:lnTo>
                    <a:pt x="0" y="27887"/>
                  </a:lnTo>
                  <a:lnTo>
                    <a:pt x="20014" y="29288"/>
                  </a:lnTo>
                  <a:lnTo>
                    <a:pt x="23450" y="14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3762850" y="1145425"/>
              <a:ext cx="393650" cy="514575"/>
            </a:xfrm>
            <a:custGeom>
              <a:avLst/>
              <a:gdLst/>
              <a:ahLst/>
              <a:cxnLst/>
              <a:rect l="l" t="t" r="r" b="b"/>
              <a:pathLst>
                <a:path w="15746" h="20583" extrusionOk="0">
                  <a:moveTo>
                    <a:pt x="1068" y="1"/>
                  </a:moveTo>
                  <a:lnTo>
                    <a:pt x="1" y="20582"/>
                  </a:lnTo>
                  <a:lnTo>
                    <a:pt x="14678" y="20582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3280850" y="1440650"/>
              <a:ext cx="388625" cy="529550"/>
            </a:xfrm>
            <a:custGeom>
              <a:avLst/>
              <a:gdLst/>
              <a:ahLst/>
              <a:cxnLst/>
              <a:rect l="l" t="t" r="r" b="b"/>
              <a:pathLst>
                <a:path w="15545" h="21182" extrusionOk="0">
                  <a:moveTo>
                    <a:pt x="868" y="0"/>
                  </a:moveTo>
                  <a:lnTo>
                    <a:pt x="0" y="20515"/>
                  </a:lnTo>
                  <a:lnTo>
                    <a:pt x="14644" y="21182"/>
                  </a:lnTo>
                  <a:lnTo>
                    <a:pt x="15545" y="6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979925" y="1286375"/>
              <a:ext cx="381950" cy="524550"/>
            </a:xfrm>
            <a:custGeom>
              <a:avLst/>
              <a:gdLst/>
              <a:ahLst/>
              <a:cxnLst/>
              <a:rect l="l" t="t" r="r" b="b"/>
              <a:pathLst>
                <a:path w="15278" h="20982" extrusionOk="0">
                  <a:moveTo>
                    <a:pt x="14677" y="0"/>
                  </a:moveTo>
                  <a:lnTo>
                    <a:pt x="0" y="434"/>
                  </a:lnTo>
                  <a:lnTo>
                    <a:pt x="601" y="20982"/>
                  </a:lnTo>
                  <a:lnTo>
                    <a:pt x="15278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4699350" y="1225475"/>
              <a:ext cx="932375" cy="1371850"/>
            </a:xfrm>
            <a:custGeom>
              <a:avLst/>
              <a:gdLst/>
              <a:ahLst/>
              <a:cxnLst/>
              <a:rect l="l" t="t" r="r" b="b"/>
              <a:pathLst>
                <a:path w="37295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7294" y="54874"/>
                  </a:lnTo>
                  <a:lnTo>
                    <a:pt x="3729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4642650" y="1225475"/>
              <a:ext cx="963225" cy="1371850"/>
            </a:xfrm>
            <a:custGeom>
              <a:avLst/>
              <a:gdLst/>
              <a:ahLst/>
              <a:cxnLst/>
              <a:rect l="l" t="t" r="r" b="b"/>
              <a:pathLst>
                <a:path w="38529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8528" y="54874"/>
                  </a:lnTo>
                  <a:lnTo>
                    <a:pt x="3852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4723550" y="1333900"/>
              <a:ext cx="802250" cy="1155025"/>
            </a:xfrm>
            <a:custGeom>
              <a:avLst/>
              <a:gdLst/>
              <a:ahLst/>
              <a:cxnLst/>
              <a:rect l="l" t="t" r="r" b="b"/>
              <a:pathLst>
                <a:path w="32090" h="46201" extrusionOk="0">
                  <a:moveTo>
                    <a:pt x="0" y="0"/>
                  </a:moveTo>
                  <a:lnTo>
                    <a:pt x="0" y="46200"/>
                  </a:lnTo>
                  <a:lnTo>
                    <a:pt x="32090" y="46200"/>
                  </a:lnTo>
                  <a:lnTo>
                    <a:pt x="32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024600" y="1767550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36"/>
                  </a:lnTo>
                  <a:cubicBezTo>
                    <a:pt x="0" y="7939"/>
                    <a:pt x="3569" y="11508"/>
                    <a:pt x="8006" y="11508"/>
                  </a:cubicBezTo>
                  <a:lnTo>
                    <a:pt x="8006" y="8006"/>
                  </a:lnTo>
                  <a:cubicBezTo>
                    <a:pt x="8006" y="3569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5024600" y="1471500"/>
              <a:ext cx="200150" cy="286900"/>
            </a:xfrm>
            <a:custGeom>
              <a:avLst/>
              <a:gdLst/>
              <a:ahLst/>
              <a:cxnLst/>
              <a:rect l="l" t="t" r="r" b="b"/>
              <a:pathLst>
                <a:path w="8006" h="11476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06"/>
                    <a:pt x="3569" y="11475"/>
                    <a:pt x="8006" y="11475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5024600" y="2064425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39"/>
                    <a:pt x="3569" y="11509"/>
                    <a:pt x="8006" y="11509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5183875" y="3211900"/>
              <a:ext cx="106775" cy="771425"/>
            </a:xfrm>
            <a:custGeom>
              <a:avLst/>
              <a:gdLst/>
              <a:ahLst/>
              <a:cxnLst/>
              <a:rect l="l" t="t" r="r" b="b"/>
              <a:pathLst>
                <a:path w="4271" h="30857" extrusionOk="0">
                  <a:moveTo>
                    <a:pt x="4270" y="1"/>
                  </a:moveTo>
                  <a:lnTo>
                    <a:pt x="1968" y="935"/>
                  </a:lnTo>
                  <a:cubicBezTo>
                    <a:pt x="267" y="5938"/>
                    <a:pt x="0" y="19682"/>
                    <a:pt x="0" y="29755"/>
                  </a:cubicBezTo>
                  <a:cubicBezTo>
                    <a:pt x="0" y="29956"/>
                    <a:pt x="267" y="30122"/>
                    <a:pt x="601" y="30122"/>
                  </a:cubicBezTo>
                  <a:cubicBezTo>
                    <a:pt x="934" y="30122"/>
                    <a:pt x="1235" y="29956"/>
                    <a:pt x="1235" y="29755"/>
                  </a:cubicBezTo>
                  <a:cubicBezTo>
                    <a:pt x="1135" y="28288"/>
                    <a:pt x="1268" y="30856"/>
                    <a:pt x="2469" y="16413"/>
                  </a:cubicBezTo>
                  <a:cubicBezTo>
                    <a:pt x="3703" y="936"/>
                    <a:pt x="4270" y="1"/>
                    <a:pt x="427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4617300" y="3052625"/>
              <a:ext cx="626650" cy="422000"/>
            </a:xfrm>
            <a:custGeom>
              <a:avLst/>
              <a:gdLst/>
              <a:ahLst/>
              <a:cxnLst/>
              <a:rect l="l" t="t" r="r" b="b"/>
              <a:pathLst>
                <a:path w="25066" h="16880" extrusionOk="0">
                  <a:moveTo>
                    <a:pt x="2872" y="0"/>
                  </a:moveTo>
                  <a:cubicBezTo>
                    <a:pt x="1" y="0"/>
                    <a:pt x="8716" y="6621"/>
                    <a:pt x="14591" y="9808"/>
                  </a:cubicBezTo>
                  <a:cubicBezTo>
                    <a:pt x="19027" y="12176"/>
                    <a:pt x="23864" y="14344"/>
                    <a:pt x="25065" y="16879"/>
                  </a:cubicBezTo>
                  <a:cubicBezTo>
                    <a:pt x="24765" y="11576"/>
                    <a:pt x="24698" y="7806"/>
                    <a:pt x="21329" y="5038"/>
                  </a:cubicBezTo>
                  <a:cubicBezTo>
                    <a:pt x="17960" y="2236"/>
                    <a:pt x="10655" y="167"/>
                    <a:pt x="2916" y="1"/>
                  </a:cubicBezTo>
                  <a:cubicBezTo>
                    <a:pt x="2901" y="0"/>
                    <a:pt x="2886" y="0"/>
                    <a:pt x="287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790525" y="3437075"/>
              <a:ext cx="437575" cy="294400"/>
            </a:xfrm>
            <a:custGeom>
              <a:avLst/>
              <a:gdLst/>
              <a:ahLst/>
              <a:cxnLst/>
              <a:rect l="l" t="t" r="r" b="b"/>
              <a:pathLst>
                <a:path w="17503" h="11776" extrusionOk="0">
                  <a:moveTo>
                    <a:pt x="2036" y="0"/>
                  </a:moveTo>
                  <a:cubicBezTo>
                    <a:pt x="0" y="0"/>
                    <a:pt x="6109" y="4612"/>
                    <a:pt x="10197" y="6838"/>
                  </a:cubicBezTo>
                  <a:cubicBezTo>
                    <a:pt x="13266" y="8506"/>
                    <a:pt x="16668" y="10007"/>
                    <a:pt x="17502" y="11775"/>
                  </a:cubicBezTo>
                  <a:cubicBezTo>
                    <a:pt x="17302" y="8073"/>
                    <a:pt x="17235" y="5471"/>
                    <a:pt x="14900" y="3503"/>
                  </a:cubicBezTo>
                  <a:cubicBezTo>
                    <a:pt x="12532" y="1568"/>
                    <a:pt x="7428" y="100"/>
                    <a:pt x="2058" y="0"/>
                  </a:cubicBezTo>
                  <a:cubicBezTo>
                    <a:pt x="2050" y="0"/>
                    <a:pt x="2043" y="0"/>
                    <a:pt x="2036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5208900" y="3218575"/>
              <a:ext cx="716250" cy="468700"/>
            </a:xfrm>
            <a:custGeom>
              <a:avLst/>
              <a:gdLst/>
              <a:ahLst/>
              <a:cxnLst/>
              <a:rect l="l" t="t" r="r" b="b"/>
              <a:pathLst>
                <a:path w="28650" h="18748" extrusionOk="0">
                  <a:moveTo>
                    <a:pt x="25310" y="1"/>
                  </a:moveTo>
                  <a:cubicBezTo>
                    <a:pt x="25301" y="1"/>
                    <a:pt x="25293" y="1"/>
                    <a:pt x="25285" y="1"/>
                  </a:cubicBezTo>
                  <a:cubicBezTo>
                    <a:pt x="16645" y="101"/>
                    <a:pt x="8406" y="2369"/>
                    <a:pt x="4537" y="5471"/>
                  </a:cubicBezTo>
                  <a:cubicBezTo>
                    <a:pt x="701" y="8573"/>
                    <a:pt x="500" y="12776"/>
                    <a:pt x="0" y="18747"/>
                  </a:cubicBezTo>
                  <a:cubicBezTo>
                    <a:pt x="1401" y="15879"/>
                    <a:pt x="7239" y="12143"/>
                    <a:pt x="12876" y="9941"/>
                  </a:cubicBezTo>
                  <a:cubicBezTo>
                    <a:pt x="20995" y="6780"/>
                    <a:pt x="28650" y="1"/>
                    <a:pt x="2531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5207225" y="2963725"/>
              <a:ext cx="472650" cy="395825"/>
            </a:xfrm>
            <a:custGeom>
              <a:avLst/>
              <a:gdLst/>
              <a:ahLst/>
              <a:cxnLst/>
              <a:rect l="l" t="t" r="r" b="b"/>
              <a:pathLst>
                <a:path w="18906" h="15833" extrusionOk="0">
                  <a:moveTo>
                    <a:pt x="17021" y="0"/>
                  </a:moveTo>
                  <a:cubicBezTo>
                    <a:pt x="16948" y="0"/>
                    <a:pt x="16867" y="7"/>
                    <a:pt x="16779" y="21"/>
                  </a:cubicBezTo>
                  <a:cubicBezTo>
                    <a:pt x="10708" y="921"/>
                    <a:pt x="5037" y="3323"/>
                    <a:pt x="2536" y="5925"/>
                  </a:cubicBezTo>
                  <a:cubicBezTo>
                    <a:pt x="0" y="8493"/>
                    <a:pt x="67" y="11529"/>
                    <a:pt x="67" y="15832"/>
                  </a:cubicBezTo>
                  <a:cubicBezTo>
                    <a:pt x="901" y="13630"/>
                    <a:pt x="4770" y="10261"/>
                    <a:pt x="8640" y="8227"/>
                  </a:cubicBezTo>
                  <a:cubicBezTo>
                    <a:pt x="15705" y="4469"/>
                    <a:pt x="18906" y="0"/>
                    <a:pt x="1702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5037925" y="3913250"/>
              <a:ext cx="394475" cy="311075"/>
            </a:xfrm>
            <a:custGeom>
              <a:avLst/>
              <a:gdLst/>
              <a:ahLst/>
              <a:cxnLst/>
              <a:rect l="l" t="t" r="r" b="b"/>
              <a:pathLst>
                <a:path w="15779" h="12443" extrusionOk="0">
                  <a:moveTo>
                    <a:pt x="1" y="0"/>
                  </a:moveTo>
                  <a:lnTo>
                    <a:pt x="601" y="11942"/>
                  </a:lnTo>
                  <a:cubicBezTo>
                    <a:pt x="601" y="12209"/>
                    <a:pt x="868" y="12442"/>
                    <a:pt x="1135" y="12442"/>
                  </a:cubicBezTo>
                  <a:lnTo>
                    <a:pt x="14611" y="12442"/>
                  </a:lnTo>
                  <a:cubicBezTo>
                    <a:pt x="14912" y="12442"/>
                    <a:pt x="15145" y="12209"/>
                    <a:pt x="15145" y="11942"/>
                  </a:cubicBezTo>
                  <a:lnTo>
                    <a:pt x="1577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999575" y="3861550"/>
              <a:ext cx="471200" cy="115100"/>
            </a:xfrm>
            <a:custGeom>
              <a:avLst/>
              <a:gdLst/>
              <a:ahLst/>
              <a:cxnLst/>
              <a:rect l="l" t="t" r="r" b="b"/>
              <a:pathLst>
                <a:path w="18848" h="4604" extrusionOk="0">
                  <a:moveTo>
                    <a:pt x="0" y="0"/>
                  </a:moveTo>
                  <a:lnTo>
                    <a:pt x="501" y="4603"/>
                  </a:lnTo>
                  <a:lnTo>
                    <a:pt x="18314" y="46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774775" y="4562875"/>
              <a:ext cx="4042900" cy="236025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5"/>
                    <a:pt x="0" y="4737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7"/>
                  </a:cubicBezTo>
                  <a:cubicBezTo>
                    <a:pt x="161716" y="2135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155525" y="1032850"/>
              <a:ext cx="20025" cy="60075"/>
            </a:xfrm>
            <a:custGeom>
              <a:avLst/>
              <a:gdLst/>
              <a:ahLst/>
              <a:cxnLst/>
              <a:rect l="l" t="t" r="r" b="b"/>
              <a:pathLst>
                <a:path w="801" h="2403" extrusionOk="0">
                  <a:moveTo>
                    <a:pt x="367" y="0"/>
                  </a:moveTo>
                  <a:cubicBezTo>
                    <a:pt x="367" y="768"/>
                    <a:pt x="267" y="1535"/>
                    <a:pt x="0" y="2269"/>
                  </a:cubicBezTo>
                  <a:lnTo>
                    <a:pt x="401" y="2402"/>
                  </a:lnTo>
                  <a:cubicBezTo>
                    <a:pt x="667" y="1635"/>
                    <a:pt x="801" y="801"/>
                    <a:pt x="80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043775" y="850225"/>
              <a:ext cx="123450" cy="130100"/>
            </a:xfrm>
            <a:custGeom>
              <a:avLst/>
              <a:gdLst/>
              <a:ahLst/>
              <a:cxnLst/>
              <a:rect l="l" t="t" r="r" b="b"/>
              <a:pathLst>
                <a:path w="4938" h="5204" extrusionOk="0">
                  <a:moveTo>
                    <a:pt x="134" y="0"/>
                  </a:moveTo>
                  <a:lnTo>
                    <a:pt x="0" y="400"/>
                  </a:lnTo>
                  <a:cubicBezTo>
                    <a:pt x="2169" y="1168"/>
                    <a:pt x="3870" y="2969"/>
                    <a:pt x="4537" y="5204"/>
                  </a:cubicBezTo>
                  <a:lnTo>
                    <a:pt x="4937" y="5070"/>
                  </a:lnTo>
                  <a:cubicBezTo>
                    <a:pt x="4237" y="2702"/>
                    <a:pt x="2435" y="834"/>
                    <a:pt x="1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786100" y="874600"/>
              <a:ext cx="352775" cy="347575"/>
            </a:xfrm>
            <a:custGeom>
              <a:avLst/>
              <a:gdLst/>
              <a:ahLst/>
              <a:cxnLst/>
              <a:rect l="l" t="t" r="r" b="b"/>
              <a:pathLst>
                <a:path w="14111" h="13903" extrusionOk="0">
                  <a:moveTo>
                    <a:pt x="7794" y="0"/>
                  </a:moveTo>
                  <a:cubicBezTo>
                    <a:pt x="6570" y="0"/>
                    <a:pt x="5313" y="362"/>
                    <a:pt x="4170" y="1160"/>
                  </a:cubicBezTo>
                  <a:cubicBezTo>
                    <a:pt x="0" y="4095"/>
                    <a:pt x="867" y="10533"/>
                    <a:pt x="5671" y="12235"/>
                  </a:cubicBezTo>
                  <a:lnTo>
                    <a:pt x="10007" y="13903"/>
                  </a:lnTo>
                  <a:lnTo>
                    <a:pt x="9207" y="12502"/>
                  </a:lnTo>
                  <a:cubicBezTo>
                    <a:pt x="12075" y="11834"/>
                    <a:pt x="14110" y="9266"/>
                    <a:pt x="14110" y="6330"/>
                  </a:cubicBezTo>
                  <a:cubicBezTo>
                    <a:pt x="14110" y="2591"/>
                    <a:pt x="11069" y="0"/>
                    <a:pt x="779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737725" y="1017650"/>
              <a:ext cx="258550" cy="255400"/>
            </a:xfrm>
            <a:custGeom>
              <a:avLst/>
              <a:gdLst/>
              <a:ahLst/>
              <a:cxnLst/>
              <a:rect l="l" t="t" r="r" b="b"/>
              <a:pathLst>
                <a:path w="10342" h="10216" extrusionOk="0">
                  <a:moveTo>
                    <a:pt x="4647" y="1"/>
                  </a:moveTo>
                  <a:cubicBezTo>
                    <a:pt x="2251" y="1"/>
                    <a:pt x="0" y="1897"/>
                    <a:pt x="0" y="4645"/>
                  </a:cubicBezTo>
                  <a:cubicBezTo>
                    <a:pt x="0" y="6780"/>
                    <a:pt x="1501" y="8648"/>
                    <a:pt x="3636" y="9148"/>
                  </a:cubicBezTo>
                  <a:lnTo>
                    <a:pt x="3002" y="10215"/>
                  </a:lnTo>
                  <a:lnTo>
                    <a:pt x="6205" y="8981"/>
                  </a:lnTo>
                  <a:cubicBezTo>
                    <a:pt x="9707" y="7714"/>
                    <a:pt x="10341" y="3010"/>
                    <a:pt x="7272" y="842"/>
                  </a:cubicBezTo>
                  <a:cubicBezTo>
                    <a:pt x="6449" y="263"/>
                    <a:pt x="5538" y="1"/>
                    <a:pt x="46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5134675" y="1472325"/>
              <a:ext cx="371125" cy="376975"/>
            </a:xfrm>
            <a:custGeom>
              <a:avLst/>
              <a:gdLst/>
              <a:ahLst/>
              <a:cxnLst/>
              <a:rect l="l" t="t" r="r" b="b"/>
              <a:pathLst>
                <a:path w="14845" h="15079" extrusionOk="0">
                  <a:moveTo>
                    <a:pt x="8707" y="1"/>
                  </a:moveTo>
                  <a:cubicBezTo>
                    <a:pt x="7072" y="1420"/>
                    <a:pt x="3782" y="2525"/>
                    <a:pt x="1608" y="2525"/>
                  </a:cubicBezTo>
                  <a:cubicBezTo>
                    <a:pt x="1431" y="2525"/>
                    <a:pt x="1262" y="2518"/>
                    <a:pt x="1101" y="2502"/>
                  </a:cubicBezTo>
                  <a:lnTo>
                    <a:pt x="1101" y="2502"/>
                  </a:lnTo>
                  <a:cubicBezTo>
                    <a:pt x="0" y="9507"/>
                    <a:pt x="5871" y="15078"/>
                    <a:pt x="5871" y="15078"/>
                  </a:cubicBezTo>
                  <a:cubicBezTo>
                    <a:pt x="5871" y="15078"/>
                    <a:pt x="13343" y="12009"/>
                    <a:pt x="14844" y="5104"/>
                  </a:cubicBezTo>
                  <a:cubicBezTo>
                    <a:pt x="12809" y="4504"/>
                    <a:pt x="9774" y="2069"/>
                    <a:pt x="870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5177200" y="1509850"/>
              <a:ext cx="297750" cy="307750"/>
            </a:xfrm>
            <a:custGeom>
              <a:avLst/>
              <a:gdLst/>
              <a:ahLst/>
              <a:cxnLst/>
              <a:rect l="l" t="t" r="r" b="b"/>
              <a:pathLst>
                <a:path w="11910" h="12310" extrusionOk="0">
                  <a:moveTo>
                    <a:pt x="6705" y="1"/>
                  </a:moveTo>
                  <a:cubicBezTo>
                    <a:pt x="4771" y="1168"/>
                    <a:pt x="2569" y="1869"/>
                    <a:pt x="334" y="2036"/>
                  </a:cubicBezTo>
                  <a:cubicBezTo>
                    <a:pt x="1" y="6872"/>
                    <a:pt x="3169" y="10942"/>
                    <a:pt x="4404" y="12310"/>
                  </a:cubicBezTo>
                  <a:cubicBezTo>
                    <a:pt x="6072" y="11476"/>
                    <a:pt x="10475" y="8840"/>
                    <a:pt x="11909" y="4237"/>
                  </a:cubicBezTo>
                  <a:cubicBezTo>
                    <a:pt x="9874" y="3236"/>
                    <a:pt x="8106" y="1802"/>
                    <a:pt x="6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3405925" y="84270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5705" y="1"/>
                  </a:moveTo>
                  <a:lnTo>
                    <a:pt x="1" y="6072"/>
                  </a:lnTo>
                  <a:lnTo>
                    <a:pt x="13244" y="3470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3380925" y="929050"/>
              <a:ext cx="427825" cy="304350"/>
            </a:xfrm>
            <a:custGeom>
              <a:avLst/>
              <a:gdLst/>
              <a:ahLst/>
              <a:cxnLst/>
              <a:rect l="l" t="t" r="r" b="b"/>
              <a:pathLst>
                <a:path w="17113" h="12174" extrusionOk="0">
                  <a:moveTo>
                    <a:pt x="14437" y="1"/>
                  </a:moveTo>
                  <a:cubicBezTo>
                    <a:pt x="14374" y="1"/>
                    <a:pt x="14309" y="6"/>
                    <a:pt x="14244" y="16"/>
                  </a:cubicBezTo>
                  <a:lnTo>
                    <a:pt x="1001" y="2618"/>
                  </a:lnTo>
                  <a:cubicBezTo>
                    <a:pt x="401" y="2718"/>
                    <a:pt x="0" y="3318"/>
                    <a:pt x="100" y="3919"/>
                  </a:cubicBezTo>
                  <a:lnTo>
                    <a:pt x="1535" y="11258"/>
                  </a:lnTo>
                  <a:cubicBezTo>
                    <a:pt x="1654" y="11796"/>
                    <a:pt x="2123" y="12173"/>
                    <a:pt x="2675" y="12173"/>
                  </a:cubicBezTo>
                  <a:cubicBezTo>
                    <a:pt x="2739" y="12173"/>
                    <a:pt x="2804" y="12168"/>
                    <a:pt x="2869" y="12158"/>
                  </a:cubicBezTo>
                  <a:lnTo>
                    <a:pt x="16112" y="9556"/>
                  </a:lnTo>
                  <a:cubicBezTo>
                    <a:pt x="16712" y="9456"/>
                    <a:pt x="17112" y="8856"/>
                    <a:pt x="17012" y="8255"/>
                  </a:cubicBezTo>
                  <a:lnTo>
                    <a:pt x="15578" y="917"/>
                  </a:lnTo>
                  <a:cubicBezTo>
                    <a:pt x="15458" y="378"/>
                    <a:pt x="14990" y="1"/>
                    <a:pt x="144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3405925" y="92945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13244" y="0"/>
                  </a:moveTo>
                  <a:lnTo>
                    <a:pt x="1" y="2602"/>
                  </a:lnTo>
                  <a:lnTo>
                    <a:pt x="7573" y="6071"/>
                  </a:lnTo>
                  <a:lnTo>
                    <a:pt x="13244" y="0"/>
                  </a:ln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3149075" y="1414800"/>
              <a:ext cx="253550" cy="252700"/>
            </a:xfrm>
            <a:custGeom>
              <a:avLst/>
              <a:gdLst/>
              <a:ahLst/>
              <a:cxnLst/>
              <a:rect l="l" t="t" r="r" b="b"/>
              <a:pathLst>
                <a:path w="10142" h="10108" extrusionOk="0">
                  <a:moveTo>
                    <a:pt x="5063" y="2982"/>
                  </a:moveTo>
                  <a:cubicBezTo>
                    <a:pt x="5924" y="2982"/>
                    <a:pt x="6780" y="3500"/>
                    <a:pt x="7073" y="4470"/>
                  </a:cubicBezTo>
                  <a:cubicBezTo>
                    <a:pt x="7406" y="5604"/>
                    <a:pt x="6739" y="6738"/>
                    <a:pt x="5638" y="7072"/>
                  </a:cubicBezTo>
                  <a:cubicBezTo>
                    <a:pt x="5442" y="7127"/>
                    <a:pt x="5248" y="7153"/>
                    <a:pt x="5061" y="7153"/>
                  </a:cubicBezTo>
                  <a:cubicBezTo>
                    <a:pt x="3559" y="7153"/>
                    <a:pt x="2436" y="5493"/>
                    <a:pt x="3237" y="4070"/>
                  </a:cubicBezTo>
                  <a:cubicBezTo>
                    <a:pt x="3643" y="3332"/>
                    <a:pt x="4355" y="2982"/>
                    <a:pt x="5063" y="2982"/>
                  </a:cubicBezTo>
                  <a:close/>
                  <a:moveTo>
                    <a:pt x="4704" y="0"/>
                  </a:moveTo>
                  <a:lnTo>
                    <a:pt x="2703" y="567"/>
                  </a:lnTo>
                  <a:lnTo>
                    <a:pt x="2636" y="1334"/>
                  </a:lnTo>
                  <a:cubicBezTo>
                    <a:pt x="2403" y="1501"/>
                    <a:pt x="2169" y="1668"/>
                    <a:pt x="1969" y="1868"/>
                  </a:cubicBezTo>
                  <a:lnTo>
                    <a:pt x="1235" y="1735"/>
                  </a:lnTo>
                  <a:lnTo>
                    <a:pt x="234" y="3603"/>
                  </a:lnTo>
                  <a:lnTo>
                    <a:pt x="735" y="4136"/>
                  </a:lnTo>
                  <a:cubicBezTo>
                    <a:pt x="668" y="4437"/>
                    <a:pt x="635" y="4703"/>
                    <a:pt x="635" y="5004"/>
                  </a:cubicBezTo>
                  <a:lnTo>
                    <a:pt x="1" y="5437"/>
                  </a:lnTo>
                  <a:lnTo>
                    <a:pt x="601" y="7439"/>
                  </a:lnTo>
                  <a:lnTo>
                    <a:pt x="1335" y="7472"/>
                  </a:lnTo>
                  <a:cubicBezTo>
                    <a:pt x="1502" y="7739"/>
                    <a:pt x="1669" y="7939"/>
                    <a:pt x="1869" y="8173"/>
                  </a:cubicBezTo>
                  <a:lnTo>
                    <a:pt x="1769" y="8906"/>
                  </a:lnTo>
                  <a:lnTo>
                    <a:pt x="3604" y="9907"/>
                  </a:lnTo>
                  <a:lnTo>
                    <a:pt x="4137" y="9407"/>
                  </a:lnTo>
                  <a:cubicBezTo>
                    <a:pt x="4437" y="9473"/>
                    <a:pt x="4738" y="9507"/>
                    <a:pt x="5005" y="9507"/>
                  </a:cubicBezTo>
                  <a:lnTo>
                    <a:pt x="5438" y="10107"/>
                  </a:lnTo>
                  <a:lnTo>
                    <a:pt x="7440" y="9540"/>
                  </a:lnTo>
                  <a:lnTo>
                    <a:pt x="7473" y="8773"/>
                  </a:lnTo>
                  <a:cubicBezTo>
                    <a:pt x="7740" y="8606"/>
                    <a:pt x="7973" y="8439"/>
                    <a:pt x="8173" y="8239"/>
                  </a:cubicBezTo>
                  <a:lnTo>
                    <a:pt x="8907" y="8373"/>
                  </a:lnTo>
                  <a:lnTo>
                    <a:pt x="9908" y="6538"/>
                  </a:lnTo>
                  <a:lnTo>
                    <a:pt x="9408" y="5971"/>
                  </a:lnTo>
                  <a:cubicBezTo>
                    <a:pt x="9474" y="5704"/>
                    <a:pt x="9508" y="5404"/>
                    <a:pt x="9508" y="5137"/>
                  </a:cubicBezTo>
                  <a:lnTo>
                    <a:pt x="10142" y="4703"/>
                  </a:lnTo>
                  <a:lnTo>
                    <a:pt x="9541" y="2669"/>
                  </a:lnTo>
                  <a:lnTo>
                    <a:pt x="8807" y="2635"/>
                  </a:lnTo>
                  <a:cubicBezTo>
                    <a:pt x="8640" y="2402"/>
                    <a:pt x="8474" y="2168"/>
                    <a:pt x="8274" y="1968"/>
                  </a:cubicBezTo>
                  <a:lnTo>
                    <a:pt x="8374" y="1234"/>
                  </a:lnTo>
                  <a:lnTo>
                    <a:pt x="6539" y="200"/>
                  </a:lnTo>
                  <a:lnTo>
                    <a:pt x="5972" y="701"/>
                  </a:lnTo>
                  <a:cubicBezTo>
                    <a:pt x="5705" y="634"/>
                    <a:pt x="5405" y="600"/>
                    <a:pt x="5138" y="600"/>
                  </a:cubicBezTo>
                  <a:lnTo>
                    <a:pt x="470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994800" y="14139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3106" y="995"/>
                  </a:moveTo>
                  <a:cubicBezTo>
                    <a:pt x="3975" y="995"/>
                    <a:pt x="4842" y="1524"/>
                    <a:pt x="5138" y="2502"/>
                  </a:cubicBezTo>
                  <a:cubicBezTo>
                    <a:pt x="5438" y="3603"/>
                    <a:pt x="4804" y="4771"/>
                    <a:pt x="3704" y="5104"/>
                  </a:cubicBezTo>
                  <a:cubicBezTo>
                    <a:pt x="3504" y="5160"/>
                    <a:pt x="3307" y="5186"/>
                    <a:pt x="3118" y="5186"/>
                  </a:cubicBezTo>
                  <a:cubicBezTo>
                    <a:pt x="1599" y="5186"/>
                    <a:pt x="501" y="3522"/>
                    <a:pt x="1302" y="2069"/>
                  </a:cubicBezTo>
                  <a:cubicBezTo>
                    <a:pt x="1704" y="1339"/>
                    <a:pt x="2405" y="995"/>
                    <a:pt x="3106" y="995"/>
                  </a:cubicBezTo>
                  <a:close/>
                  <a:moveTo>
                    <a:pt x="2903" y="1"/>
                  </a:moveTo>
                  <a:lnTo>
                    <a:pt x="1635" y="334"/>
                  </a:lnTo>
                  <a:lnTo>
                    <a:pt x="1602" y="801"/>
                  </a:lnTo>
                  <a:cubicBezTo>
                    <a:pt x="1469" y="901"/>
                    <a:pt x="1335" y="1001"/>
                    <a:pt x="1202" y="1135"/>
                  </a:cubicBezTo>
                  <a:lnTo>
                    <a:pt x="735" y="1068"/>
                  </a:lnTo>
                  <a:lnTo>
                    <a:pt x="134" y="2202"/>
                  </a:lnTo>
                  <a:lnTo>
                    <a:pt x="435" y="2536"/>
                  </a:lnTo>
                  <a:cubicBezTo>
                    <a:pt x="401" y="2703"/>
                    <a:pt x="368" y="2869"/>
                    <a:pt x="368" y="3070"/>
                  </a:cubicBezTo>
                  <a:lnTo>
                    <a:pt x="1" y="3303"/>
                  </a:lnTo>
                  <a:lnTo>
                    <a:pt x="368" y="4571"/>
                  </a:lnTo>
                  <a:lnTo>
                    <a:pt x="801" y="4604"/>
                  </a:lnTo>
                  <a:cubicBezTo>
                    <a:pt x="902" y="4737"/>
                    <a:pt x="1035" y="4871"/>
                    <a:pt x="1135" y="5004"/>
                  </a:cubicBezTo>
                  <a:lnTo>
                    <a:pt x="1068" y="5471"/>
                  </a:lnTo>
                  <a:lnTo>
                    <a:pt x="2202" y="6072"/>
                  </a:lnTo>
                  <a:lnTo>
                    <a:pt x="2536" y="5771"/>
                  </a:lnTo>
                  <a:cubicBezTo>
                    <a:pt x="2703" y="5805"/>
                    <a:pt x="2870" y="5838"/>
                    <a:pt x="3070" y="5838"/>
                  </a:cubicBezTo>
                  <a:lnTo>
                    <a:pt x="3337" y="6205"/>
                  </a:lnTo>
                  <a:lnTo>
                    <a:pt x="4571" y="5838"/>
                  </a:lnTo>
                  <a:lnTo>
                    <a:pt x="4604" y="5405"/>
                  </a:lnTo>
                  <a:cubicBezTo>
                    <a:pt x="4738" y="5304"/>
                    <a:pt x="4904" y="5204"/>
                    <a:pt x="5004" y="5071"/>
                  </a:cubicBezTo>
                  <a:lnTo>
                    <a:pt x="5471" y="5138"/>
                  </a:lnTo>
                  <a:lnTo>
                    <a:pt x="6105" y="4004"/>
                  </a:lnTo>
                  <a:lnTo>
                    <a:pt x="5772" y="3670"/>
                  </a:lnTo>
                  <a:cubicBezTo>
                    <a:pt x="5805" y="3503"/>
                    <a:pt x="5838" y="3336"/>
                    <a:pt x="5838" y="3136"/>
                  </a:cubicBezTo>
                  <a:lnTo>
                    <a:pt x="6205" y="2869"/>
                  </a:lnTo>
                  <a:lnTo>
                    <a:pt x="5872" y="1635"/>
                  </a:lnTo>
                  <a:lnTo>
                    <a:pt x="5405" y="1602"/>
                  </a:lnTo>
                  <a:cubicBezTo>
                    <a:pt x="5305" y="1468"/>
                    <a:pt x="5205" y="1335"/>
                    <a:pt x="5071" y="1202"/>
                  </a:cubicBezTo>
                  <a:lnTo>
                    <a:pt x="5138" y="735"/>
                  </a:lnTo>
                  <a:lnTo>
                    <a:pt x="4037" y="134"/>
                  </a:lnTo>
                  <a:lnTo>
                    <a:pt x="3670" y="434"/>
                  </a:lnTo>
                  <a:cubicBezTo>
                    <a:pt x="3503" y="401"/>
                    <a:pt x="3337" y="368"/>
                    <a:pt x="3170" y="3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153975" y="1241350"/>
              <a:ext cx="150575" cy="177925"/>
            </a:xfrm>
            <a:custGeom>
              <a:avLst/>
              <a:gdLst/>
              <a:ahLst/>
              <a:cxnLst/>
              <a:rect l="l" t="t" r="r" b="b"/>
              <a:pathLst>
                <a:path w="6023" h="7117" extrusionOk="0">
                  <a:moveTo>
                    <a:pt x="3311" y="0"/>
                  </a:moveTo>
                  <a:cubicBezTo>
                    <a:pt x="1852" y="0"/>
                    <a:pt x="1239" y="1108"/>
                    <a:pt x="1268" y="2602"/>
                  </a:cubicBezTo>
                  <a:cubicBezTo>
                    <a:pt x="1335" y="4303"/>
                    <a:pt x="0" y="6771"/>
                    <a:pt x="1702" y="7105"/>
                  </a:cubicBezTo>
                  <a:cubicBezTo>
                    <a:pt x="1741" y="7113"/>
                    <a:pt x="1781" y="7116"/>
                    <a:pt x="1822" y="7116"/>
                  </a:cubicBezTo>
                  <a:cubicBezTo>
                    <a:pt x="3524" y="7116"/>
                    <a:pt x="6022" y="425"/>
                    <a:pt x="3970" y="66"/>
                  </a:cubicBezTo>
                  <a:cubicBezTo>
                    <a:pt x="3734" y="22"/>
                    <a:pt x="3514" y="0"/>
                    <a:pt x="33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3681125" y="2469700"/>
              <a:ext cx="648825" cy="1984800"/>
            </a:xfrm>
            <a:custGeom>
              <a:avLst/>
              <a:gdLst/>
              <a:ahLst/>
              <a:cxnLst/>
              <a:rect l="l" t="t" r="r" b="b"/>
              <a:pathLst>
                <a:path w="25953" h="79392" extrusionOk="0">
                  <a:moveTo>
                    <a:pt x="10075" y="1"/>
                  </a:moveTo>
                  <a:cubicBezTo>
                    <a:pt x="10075" y="1"/>
                    <a:pt x="7640" y="27187"/>
                    <a:pt x="6272" y="38762"/>
                  </a:cubicBezTo>
                  <a:cubicBezTo>
                    <a:pt x="4838" y="50771"/>
                    <a:pt x="1" y="77423"/>
                    <a:pt x="1" y="77423"/>
                  </a:cubicBezTo>
                  <a:lnTo>
                    <a:pt x="6972" y="79391"/>
                  </a:lnTo>
                  <a:cubicBezTo>
                    <a:pt x="6972" y="79391"/>
                    <a:pt x="14778" y="53272"/>
                    <a:pt x="15779" y="38328"/>
                  </a:cubicBezTo>
                  <a:cubicBezTo>
                    <a:pt x="21550" y="21783"/>
                    <a:pt x="25953" y="234"/>
                    <a:pt x="25953" y="234"/>
                  </a:cubicBezTo>
                  <a:lnTo>
                    <a:pt x="1007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124775" y="2774925"/>
              <a:ext cx="100100" cy="501225"/>
            </a:xfrm>
            <a:custGeom>
              <a:avLst/>
              <a:gdLst/>
              <a:ahLst/>
              <a:cxnLst/>
              <a:rect l="l" t="t" r="r" b="b"/>
              <a:pathLst>
                <a:path w="4004" h="20049" extrusionOk="0">
                  <a:moveTo>
                    <a:pt x="1035" y="1"/>
                  </a:moveTo>
                  <a:cubicBezTo>
                    <a:pt x="1035" y="1"/>
                    <a:pt x="568" y="12710"/>
                    <a:pt x="1" y="20048"/>
                  </a:cubicBezTo>
                  <a:cubicBezTo>
                    <a:pt x="1502" y="15278"/>
                    <a:pt x="2836" y="10375"/>
                    <a:pt x="4004" y="5872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3484325" y="4394425"/>
              <a:ext cx="365275" cy="287475"/>
            </a:xfrm>
            <a:custGeom>
              <a:avLst/>
              <a:gdLst/>
              <a:ahLst/>
              <a:cxnLst/>
              <a:rect l="l" t="t" r="r" b="b"/>
              <a:pathLst>
                <a:path w="14611" h="11499" extrusionOk="0">
                  <a:moveTo>
                    <a:pt x="8974" y="0"/>
                  </a:moveTo>
                  <a:cubicBezTo>
                    <a:pt x="8974" y="0"/>
                    <a:pt x="8106" y="4103"/>
                    <a:pt x="7439" y="5204"/>
                  </a:cubicBezTo>
                  <a:cubicBezTo>
                    <a:pt x="6095" y="5597"/>
                    <a:pt x="4623" y="6506"/>
                    <a:pt x="2041" y="6506"/>
                  </a:cubicBezTo>
                  <a:cubicBezTo>
                    <a:pt x="1995" y="6506"/>
                    <a:pt x="1949" y="6506"/>
                    <a:pt x="1902" y="6505"/>
                  </a:cubicBezTo>
                  <a:cubicBezTo>
                    <a:pt x="668" y="6505"/>
                    <a:pt x="1" y="8306"/>
                    <a:pt x="1502" y="8740"/>
                  </a:cubicBezTo>
                  <a:cubicBezTo>
                    <a:pt x="3937" y="9474"/>
                    <a:pt x="5805" y="9707"/>
                    <a:pt x="7906" y="10341"/>
                  </a:cubicBezTo>
                  <a:cubicBezTo>
                    <a:pt x="9674" y="10875"/>
                    <a:pt x="10108" y="11175"/>
                    <a:pt x="11142" y="11475"/>
                  </a:cubicBezTo>
                  <a:cubicBezTo>
                    <a:pt x="11194" y="11491"/>
                    <a:pt x="11248" y="11498"/>
                    <a:pt x="11301" y="11498"/>
                  </a:cubicBezTo>
                  <a:cubicBezTo>
                    <a:pt x="11583" y="11498"/>
                    <a:pt x="11853" y="11284"/>
                    <a:pt x="11909" y="10975"/>
                  </a:cubicBezTo>
                  <a:lnTo>
                    <a:pt x="12509" y="7606"/>
                  </a:lnTo>
                  <a:cubicBezTo>
                    <a:pt x="12943" y="5871"/>
                    <a:pt x="14611" y="2002"/>
                    <a:pt x="14611" y="2002"/>
                  </a:cubicBezTo>
                  <a:lnTo>
                    <a:pt x="897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230700" y="4431950"/>
              <a:ext cx="291900" cy="248775"/>
            </a:xfrm>
            <a:custGeom>
              <a:avLst/>
              <a:gdLst/>
              <a:ahLst/>
              <a:cxnLst/>
              <a:rect l="l" t="t" r="r" b="b"/>
              <a:pathLst>
                <a:path w="11676" h="9951" extrusionOk="0">
                  <a:moveTo>
                    <a:pt x="10775" y="0"/>
                  </a:moveTo>
                  <a:lnTo>
                    <a:pt x="5171" y="134"/>
                  </a:lnTo>
                  <a:cubicBezTo>
                    <a:pt x="5171" y="134"/>
                    <a:pt x="5604" y="3870"/>
                    <a:pt x="5571" y="5204"/>
                  </a:cubicBezTo>
                  <a:cubicBezTo>
                    <a:pt x="4503" y="5971"/>
                    <a:pt x="3403" y="7005"/>
                    <a:pt x="1068" y="7706"/>
                  </a:cubicBezTo>
                  <a:cubicBezTo>
                    <a:pt x="0" y="8040"/>
                    <a:pt x="100" y="9941"/>
                    <a:pt x="1535" y="9941"/>
                  </a:cubicBezTo>
                  <a:cubicBezTo>
                    <a:pt x="1776" y="9948"/>
                    <a:pt x="2011" y="9951"/>
                    <a:pt x="2239" y="9951"/>
                  </a:cubicBezTo>
                  <a:cubicBezTo>
                    <a:pt x="4162" y="9951"/>
                    <a:pt x="5660" y="9738"/>
                    <a:pt x="7380" y="9738"/>
                  </a:cubicBezTo>
                  <a:cubicBezTo>
                    <a:pt x="7488" y="9738"/>
                    <a:pt x="7596" y="9739"/>
                    <a:pt x="7706" y="9741"/>
                  </a:cubicBezTo>
                  <a:cubicBezTo>
                    <a:pt x="9440" y="9774"/>
                    <a:pt x="9640" y="9941"/>
                    <a:pt x="10674" y="9941"/>
                  </a:cubicBezTo>
                  <a:cubicBezTo>
                    <a:pt x="11275" y="9941"/>
                    <a:pt x="11675" y="9374"/>
                    <a:pt x="11508" y="8807"/>
                  </a:cubicBezTo>
                  <a:lnTo>
                    <a:pt x="10841" y="5871"/>
                  </a:lnTo>
                  <a:cubicBezTo>
                    <a:pt x="10641" y="4103"/>
                    <a:pt x="10775" y="0"/>
                    <a:pt x="1077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080575" y="2472200"/>
              <a:ext cx="457025" cy="1962275"/>
            </a:xfrm>
            <a:custGeom>
              <a:avLst/>
              <a:gdLst/>
              <a:ahLst/>
              <a:cxnLst/>
              <a:rect l="l" t="t" r="r" b="b"/>
              <a:pathLst>
                <a:path w="18281" h="78491" extrusionOk="0">
                  <a:moveTo>
                    <a:pt x="1" y="1"/>
                  </a:moveTo>
                  <a:cubicBezTo>
                    <a:pt x="1" y="1"/>
                    <a:pt x="3870" y="27187"/>
                    <a:pt x="5772" y="38495"/>
                  </a:cubicBezTo>
                  <a:cubicBezTo>
                    <a:pt x="7673" y="49803"/>
                    <a:pt x="10342" y="78390"/>
                    <a:pt x="10342" y="78390"/>
                  </a:cubicBezTo>
                  <a:lnTo>
                    <a:pt x="17447" y="78490"/>
                  </a:lnTo>
                  <a:cubicBezTo>
                    <a:pt x="17447" y="78490"/>
                    <a:pt x="18281" y="50504"/>
                    <a:pt x="15545" y="37228"/>
                  </a:cubicBezTo>
                  <a:cubicBezTo>
                    <a:pt x="15045" y="20115"/>
                    <a:pt x="16980" y="10275"/>
                    <a:pt x="14445" y="2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3596900" y="1372350"/>
              <a:ext cx="528750" cy="459450"/>
            </a:xfrm>
            <a:custGeom>
              <a:avLst/>
              <a:gdLst/>
              <a:ahLst/>
              <a:cxnLst/>
              <a:rect l="l" t="t" r="r" b="b"/>
              <a:pathLst>
                <a:path w="21150" h="18378" extrusionOk="0">
                  <a:moveTo>
                    <a:pt x="1810" y="0"/>
                  </a:moveTo>
                  <a:cubicBezTo>
                    <a:pt x="1176" y="0"/>
                    <a:pt x="547" y="384"/>
                    <a:pt x="401" y="1164"/>
                  </a:cubicBezTo>
                  <a:cubicBezTo>
                    <a:pt x="201" y="2332"/>
                    <a:pt x="101" y="3499"/>
                    <a:pt x="67" y="4667"/>
                  </a:cubicBezTo>
                  <a:cubicBezTo>
                    <a:pt x="1" y="5834"/>
                    <a:pt x="34" y="7035"/>
                    <a:pt x="134" y="8203"/>
                  </a:cubicBezTo>
                  <a:cubicBezTo>
                    <a:pt x="234" y="9404"/>
                    <a:pt x="434" y="10638"/>
                    <a:pt x="768" y="11805"/>
                  </a:cubicBezTo>
                  <a:cubicBezTo>
                    <a:pt x="1102" y="13073"/>
                    <a:pt x="1635" y="14307"/>
                    <a:pt x="2302" y="15441"/>
                  </a:cubicBezTo>
                  <a:cubicBezTo>
                    <a:pt x="2636" y="16008"/>
                    <a:pt x="3203" y="16409"/>
                    <a:pt x="3837" y="16542"/>
                  </a:cubicBezTo>
                  <a:lnTo>
                    <a:pt x="4037" y="16575"/>
                  </a:lnTo>
                  <a:cubicBezTo>
                    <a:pt x="5204" y="16842"/>
                    <a:pt x="6372" y="17076"/>
                    <a:pt x="7539" y="17242"/>
                  </a:cubicBezTo>
                  <a:cubicBezTo>
                    <a:pt x="8707" y="17443"/>
                    <a:pt x="9874" y="17643"/>
                    <a:pt x="11075" y="17776"/>
                  </a:cubicBezTo>
                  <a:cubicBezTo>
                    <a:pt x="12243" y="17943"/>
                    <a:pt x="13410" y="18076"/>
                    <a:pt x="14578" y="18176"/>
                  </a:cubicBezTo>
                  <a:cubicBezTo>
                    <a:pt x="15779" y="18277"/>
                    <a:pt x="16946" y="18343"/>
                    <a:pt x="18180" y="18377"/>
                  </a:cubicBezTo>
                  <a:cubicBezTo>
                    <a:pt x="18201" y="18377"/>
                    <a:pt x="18221" y="18377"/>
                    <a:pt x="18241" y="18377"/>
                  </a:cubicBezTo>
                  <a:cubicBezTo>
                    <a:pt x="19748" y="18377"/>
                    <a:pt x="20984" y="17155"/>
                    <a:pt x="21082" y="15641"/>
                  </a:cubicBezTo>
                  <a:cubicBezTo>
                    <a:pt x="21149" y="14107"/>
                    <a:pt x="19982" y="12773"/>
                    <a:pt x="18447" y="12606"/>
                  </a:cubicBezTo>
                  <a:lnTo>
                    <a:pt x="18414" y="12606"/>
                  </a:lnTo>
                  <a:lnTo>
                    <a:pt x="11642" y="12105"/>
                  </a:lnTo>
                  <a:cubicBezTo>
                    <a:pt x="9741" y="11939"/>
                    <a:pt x="7840" y="11772"/>
                    <a:pt x="5972" y="11572"/>
                  </a:cubicBezTo>
                  <a:cubicBezTo>
                    <a:pt x="5738" y="11138"/>
                    <a:pt x="5505" y="10704"/>
                    <a:pt x="5338" y="10271"/>
                  </a:cubicBezTo>
                  <a:cubicBezTo>
                    <a:pt x="4938" y="9337"/>
                    <a:pt x="4637" y="8403"/>
                    <a:pt x="4371" y="7469"/>
                  </a:cubicBezTo>
                  <a:cubicBezTo>
                    <a:pt x="4137" y="6501"/>
                    <a:pt x="3904" y="5467"/>
                    <a:pt x="3737" y="4433"/>
                  </a:cubicBezTo>
                  <a:cubicBezTo>
                    <a:pt x="3537" y="3399"/>
                    <a:pt x="3370" y="2365"/>
                    <a:pt x="3270" y="1331"/>
                  </a:cubicBezTo>
                  <a:lnTo>
                    <a:pt x="3270" y="1264"/>
                  </a:lnTo>
                  <a:cubicBezTo>
                    <a:pt x="3150" y="426"/>
                    <a:pt x="2477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3869600" y="1664125"/>
              <a:ext cx="404475" cy="235975"/>
            </a:xfrm>
            <a:custGeom>
              <a:avLst/>
              <a:gdLst/>
              <a:ahLst/>
              <a:cxnLst/>
              <a:rect l="l" t="t" r="r" b="b"/>
              <a:pathLst>
                <a:path w="16179" h="9439" extrusionOk="0">
                  <a:moveTo>
                    <a:pt x="734" y="1"/>
                  </a:moveTo>
                  <a:cubicBezTo>
                    <a:pt x="1" y="2936"/>
                    <a:pt x="67" y="6038"/>
                    <a:pt x="901" y="8974"/>
                  </a:cubicBezTo>
                  <a:cubicBezTo>
                    <a:pt x="901" y="8974"/>
                    <a:pt x="1811" y="9438"/>
                    <a:pt x="4214" y="9438"/>
                  </a:cubicBezTo>
                  <a:cubicBezTo>
                    <a:pt x="5031" y="9438"/>
                    <a:pt x="6021" y="9385"/>
                    <a:pt x="7206" y="9241"/>
                  </a:cubicBezTo>
                  <a:cubicBezTo>
                    <a:pt x="12443" y="8574"/>
                    <a:pt x="16179" y="2236"/>
                    <a:pt x="11809" y="1335"/>
                  </a:cubicBezTo>
                  <a:cubicBezTo>
                    <a:pt x="8140" y="635"/>
                    <a:pt x="4437" y="201"/>
                    <a:pt x="73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3903800" y="1696625"/>
              <a:ext cx="657150" cy="836500"/>
            </a:xfrm>
            <a:custGeom>
              <a:avLst/>
              <a:gdLst/>
              <a:ahLst/>
              <a:cxnLst/>
              <a:rect l="l" t="t" r="r" b="b"/>
              <a:pathLst>
                <a:path w="26286" h="33460" extrusionOk="0">
                  <a:moveTo>
                    <a:pt x="10476" y="0"/>
                  </a:moveTo>
                  <a:cubicBezTo>
                    <a:pt x="6202" y="0"/>
                    <a:pt x="2890" y="2135"/>
                    <a:pt x="2068" y="6340"/>
                  </a:cubicBezTo>
                  <a:cubicBezTo>
                    <a:pt x="434" y="14912"/>
                    <a:pt x="0" y="23652"/>
                    <a:pt x="734" y="32358"/>
                  </a:cubicBezTo>
                  <a:cubicBezTo>
                    <a:pt x="750" y="33108"/>
                    <a:pt x="5442" y="33460"/>
                    <a:pt x="10427" y="33460"/>
                  </a:cubicBezTo>
                  <a:cubicBezTo>
                    <a:pt x="15643" y="33460"/>
                    <a:pt x="21180" y="33075"/>
                    <a:pt x="22016" y="32358"/>
                  </a:cubicBezTo>
                  <a:cubicBezTo>
                    <a:pt x="22716" y="26821"/>
                    <a:pt x="21916" y="20917"/>
                    <a:pt x="25552" y="8541"/>
                  </a:cubicBezTo>
                  <a:cubicBezTo>
                    <a:pt x="26286" y="6006"/>
                    <a:pt x="25151" y="2203"/>
                    <a:pt x="22616" y="1570"/>
                  </a:cubicBezTo>
                  <a:cubicBezTo>
                    <a:pt x="18680" y="669"/>
                    <a:pt x="14677" y="135"/>
                    <a:pt x="10674" y="2"/>
                  </a:cubicBezTo>
                  <a:cubicBezTo>
                    <a:pt x="10608" y="1"/>
                    <a:pt x="10542" y="0"/>
                    <a:pt x="10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156475" y="1825000"/>
              <a:ext cx="20875" cy="32700"/>
            </a:xfrm>
            <a:custGeom>
              <a:avLst/>
              <a:gdLst/>
              <a:ahLst/>
              <a:cxnLst/>
              <a:rect l="l" t="t" r="r" b="b"/>
              <a:pathLst>
                <a:path w="835" h="1308" extrusionOk="0">
                  <a:moveTo>
                    <a:pt x="529" y="1"/>
                  </a:moveTo>
                  <a:cubicBezTo>
                    <a:pt x="342" y="1"/>
                    <a:pt x="161" y="227"/>
                    <a:pt x="67" y="571"/>
                  </a:cubicBezTo>
                  <a:cubicBezTo>
                    <a:pt x="0" y="938"/>
                    <a:pt x="67" y="1271"/>
                    <a:pt x="267" y="1305"/>
                  </a:cubicBezTo>
                  <a:cubicBezTo>
                    <a:pt x="280" y="1307"/>
                    <a:pt x="293" y="1308"/>
                    <a:pt x="305" y="1308"/>
                  </a:cubicBezTo>
                  <a:cubicBezTo>
                    <a:pt x="492" y="1308"/>
                    <a:pt x="674" y="1081"/>
                    <a:pt x="768" y="738"/>
                  </a:cubicBezTo>
                  <a:cubicBezTo>
                    <a:pt x="834" y="404"/>
                    <a:pt x="768" y="37"/>
                    <a:pt x="567" y="4"/>
                  </a:cubicBezTo>
                  <a:cubicBezTo>
                    <a:pt x="555" y="2"/>
                    <a:pt x="542" y="1"/>
                    <a:pt x="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418325" y="1458900"/>
              <a:ext cx="603800" cy="431625"/>
            </a:xfrm>
            <a:custGeom>
              <a:avLst/>
              <a:gdLst/>
              <a:ahLst/>
              <a:cxnLst/>
              <a:rect l="l" t="t" r="r" b="b"/>
              <a:pathLst>
                <a:path w="24152" h="17265" extrusionOk="0">
                  <a:moveTo>
                    <a:pt x="22555" y="0"/>
                  </a:moveTo>
                  <a:cubicBezTo>
                    <a:pt x="21938" y="0"/>
                    <a:pt x="21326" y="352"/>
                    <a:pt x="21116" y="1105"/>
                  </a:cubicBezTo>
                  <a:lnTo>
                    <a:pt x="21082" y="1205"/>
                  </a:lnTo>
                  <a:cubicBezTo>
                    <a:pt x="20815" y="2239"/>
                    <a:pt x="20482" y="3340"/>
                    <a:pt x="20115" y="4374"/>
                  </a:cubicBezTo>
                  <a:cubicBezTo>
                    <a:pt x="19781" y="5441"/>
                    <a:pt x="19414" y="6475"/>
                    <a:pt x="18981" y="7443"/>
                  </a:cubicBezTo>
                  <a:cubicBezTo>
                    <a:pt x="18580" y="8410"/>
                    <a:pt x="18080" y="9344"/>
                    <a:pt x="17580" y="10245"/>
                  </a:cubicBezTo>
                  <a:cubicBezTo>
                    <a:pt x="17313" y="10678"/>
                    <a:pt x="17013" y="11112"/>
                    <a:pt x="16712" y="11512"/>
                  </a:cubicBezTo>
                  <a:cubicBezTo>
                    <a:pt x="14711" y="11445"/>
                    <a:pt x="12676" y="11345"/>
                    <a:pt x="10675" y="11212"/>
                  </a:cubicBezTo>
                  <a:lnTo>
                    <a:pt x="3503" y="10712"/>
                  </a:lnTo>
                  <a:lnTo>
                    <a:pt x="3470" y="10712"/>
                  </a:lnTo>
                  <a:cubicBezTo>
                    <a:pt x="3368" y="10701"/>
                    <a:pt x="3268" y="10697"/>
                    <a:pt x="3168" y="10697"/>
                  </a:cubicBezTo>
                  <a:cubicBezTo>
                    <a:pt x="1624" y="10697"/>
                    <a:pt x="291" y="11882"/>
                    <a:pt x="134" y="13480"/>
                  </a:cubicBezTo>
                  <a:cubicBezTo>
                    <a:pt x="1" y="15148"/>
                    <a:pt x="1235" y="16649"/>
                    <a:pt x="2903" y="16783"/>
                  </a:cubicBezTo>
                  <a:cubicBezTo>
                    <a:pt x="4204" y="16949"/>
                    <a:pt x="5404" y="17049"/>
                    <a:pt x="6672" y="17116"/>
                  </a:cubicBezTo>
                  <a:cubicBezTo>
                    <a:pt x="7940" y="17216"/>
                    <a:pt x="9174" y="17250"/>
                    <a:pt x="10441" y="17250"/>
                  </a:cubicBezTo>
                  <a:cubicBezTo>
                    <a:pt x="10853" y="17261"/>
                    <a:pt x="11268" y="17264"/>
                    <a:pt x="11684" y="17264"/>
                  </a:cubicBezTo>
                  <a:cubicBezTo>
                    <a:pt x="12517" y="17264"/>
                    <a:pt x="13355" y="17250"/>
                    <a:pt x="14177" y="17250"/>
                  </a:cubicBezTo>
                  <a:cubicBezTo>
                    <a:pt x="15445" y="17250"/>
                    <a:pt x="16712" y="17150"/>
                    <a:pt x="17980" y="17083"/>
                  </a:cubicBezTo>
                  <a:lnTo>
                    <a:pt x="18214" y="17083"/>
                  </a:lnTo>
                  <a:cubicBezTo>
                    <a:pt x="18881" y="17049"/>
                    <a:pt x="19514" y="16716"/>
                    <a:pt x="19948" y="16182"/>
                  </a:cubicBezTo>
                  <a:cubicBezTo>
                    <a:pt x="20849" y="15081"/>
                    <a:pt x="21583" y="13881"/>
                    <a:pt x="22116" y="12580"/>
                  </a:cubicBezTo>
                  <a:cubicBezTo>
                    <a:pt x="22617" y="11412"/>
                    <a:pt x="23017" y="10178"/>
                    <a:pt x="23317" y="8910"/>
                  </a:cubicBezTo>
                  <a:cubicBezTo>
                    <a:pt x="23617" y="7676"/>
                    <a:pt x="23851" y="6442"/>
                    <a:pt x="23984" y="5208"/>
                  </a:cubicBezTo>
                  <a:cubicBezTo>
                    <a:pt x="24118" y="3940"/>
                    <a:pt x="24151" y="2706"/>
                    <a:pt x="24118" y="1472"/>
                  </a:cubicBezTo>
                  <a:cubicBezTo>
                    <a:pt x="24063" y="520"/>
                    <a:pt x="23305" y="0"/>
                    <a:pt x="22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273225" y="1718025"/>
              <a:ext cx="422000" cy="247600"/>
            </a:xfrm>
            <a:custGeom>
              <a:avLst/>
              <a:gdLst/>
              <a:ahLst/>
              <a:cxnLst/>
              <a:rect l="l" t="t" r="r" b="b"/>
              <a:pathLst>
                <a:path w="16880" h="9904" extrusionOk="0">
                  <a:moveTo>
                    <a:pt x="8535" y="1"/>
                  </a:moveTo>
                  <a:cubicBezTo>
                    <a:pt x="7281" y="1"/>
                    <a:pt x="6026" y="27"/>
                    <a:pt x="4770" y="80"/>
                  </a:cubicBezTo>
                  <a:cubicBezTo>
                    <a:pt x="0" y="380"/>
                    <a:pt x="3003" y="7585"/>
                    <a:pt x="8340" y="9053"/>
                  </a:cubicBezTo>
                  <a:cubicBezTo>
                    <a:pt x="10820" y="9737"/>
                    <a:pt x="12511" y="9904"/>
                    <a:pt x="13570" y="9904"/>
                  </a:cubicBezTo>
                  <a:cubicBezTo>
                    <a:pt x="14576" y="9904"/>
                    <a:pt x="15011" y="9753"/>
                    <a:pt x="15011" y="9753"/>
                  </a:cubicBezTo>
                  <a:cubicBezTo>
                    <a:pt x="16345" y="6785"/>
                    <a:pt x="16879" y="3549"/>
                    <a:pt x="16546" y="347"/>
                  </a:cubicBezTo>
                  <a:cubicBezTo>
                    <a:pt x="13887" y="119"/>
                    <a:pt x="11213" y="1"/>
                    <a:pt x="85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922025" y="1403950"/>
              <a:ext cx="162625" cy="137625"/>
            </a:xfrm>
            <a:custGeom>
              <a:avLst/>
              <a:gdLst/>
              <a:ahLst/>
              <a:cxnLst/>
              <a:rect l="l" t="t" r="r" b="b"/>
              <a:pathLst>
                <a:path w="6505" h="5505" extrusionOk="0">
                  <a:moveTo>
                    <a:pt x="2702" y="0"/>
                  </a:moveTo>
                  <a:cubicBezTo>
                    <a:pt x="2702" y="0"/>
                    <a:pt x="0" y="2569"/>
                    <a:pt x="1068" y="4237"/>
                  </a:cubicBezTo>
                  <a:lnTo>
                    <a:pt x="3236" y="5504"/>
                  </a:lnTo>
                  <a:lnTo>
                    <a:pt x="6505" y="3069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4988725" y="1349025"/>
              <a:ext cx="135975" cy="131675"/>
            </a:xfrm>
            <a:custGeom>
              <a:avLst/>
              <a:gdLst/>
              <a:ahLst/>
              <a:cxnLst/>
              <a:rect l="l" t="t" r="r" b="b"/>
              <a:pathLst>
                <a:path w="5439" h="5267" extrusionOk="0">
                  <a:moveTo>
                    <a:pt x="2348" y="1"/>
                  </a:moveTo>
                  <a:cubicBezTo>
                    <a:pt x="1931" y="1"/>
                    <a:pt x="1525" y="200"/>
                    <a:pt x="1268" y="563"/>
                  </a:cubicBezTo>
                  <a:lnTo>
                    <a:pt x="1" y="2197"/>
                  </a:lnTo>
                  <a:lnTo>
                    <a:pt x="3804" y="5266"/>
                  </a:lnTo>
                  <a:lnTo>
                    <a:pt x="5071" y="2998"/>
                  </a:lnTo>
                  <a:cubicBezTo>
                    <a:pt x="5438" y="2297"/>
                    <a:pt x="5238" y="1430"/>
                    <a:pt x="4537" y="1030"/>
                  </a:cubicBezTo>
                  <a:lnTo>
                    <a:pt x="3036" y="196"/>
                  </a:lnTo>
                  <a:cubicBezTo>
                    <a:pt x="2820" y="64"/>
                    <a:pt x="2582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417575" y="1800925"/>
              <a:ext cx="698775" cy="373075"/>
            </a:xfrm>
            <a:custGeom>
              <a:avLst/>
              <a:gdLst/>
              <a:ahLst/>
              <a:cxnLst/>
              <a:rect l="l" t="t" r="r" b="b"/>
              <a:pathLst>
                <a:path w="27951" h="14923" extrusionOk="0">
                  <a:moveTo>
                    <a:pt x="4077" y="0"/>
                  </a:moveTo>
                  <a:cubicBezTo>
                    <a:pt x="1889" y="0"/>
                    <a:pt x="0" y="2741"/>
                    <a:pt x="1899" y="4870"/>
                  </a:cubicBezTo>
                  <a:cubicBezTo>
                    <a:pt x="2732" y="5770"/>
                    <a:pt x="3566" y="6571"/>
                    <a:pt x="4400" y="7405"/>
                  </a:cubicBezTo>
                  <a:cubicBezTo>
                    <a:pt x="5234" y="8239"/>
                    <a:pt x="6102" y="9039"/>
                    <a:pt x="7002" y="9840"/>
                  </a:cubicBezTo>
                  <a:cubicBezTo>
                    <a:pt x="7869" y="10607"/>
                    <a:pt x="8770" y="11374"/>
                    <a:pt x="9704" y="12141"/>
                  </a:cubicBezTo>
                  <a:cubicBezTo>
                    <a:pt x="10605" y="12875"/>
                    <a:pt x="11572" y="13609"/>
                    <a:pt x="12506" y="14343"/>
                  </a:cubicBezTo>
                  <a:lnTo>
                    <a:pt x="12706" y="14476"/>
                  </a:lnTo>
                  <a:cubicBezTo>
                    <a:pt x="13091" y="14759"/>
                    <a:pt x="13574" y="14922"/>
                    <a:pt x="14065" y="14922"/>
                  </a:cubicBezTo>
                  <a:cubicBezTo>
                    <a:pt x="14213" y="14922"/>
                    <a:pt x="14361" y="14908"/>
                    <a:pt x="14508" y="14877"/>
                  </a:cubicBezTo>
                  <a:cubicBezTo>
                    <a:pt x="15742" y="14643"/>
                    <a:pt x="16943" y="14310"/>
                    <a:pt x="18110" y="13909"/>
                  </a:cubicBezTo>
                  <a:cubicBezTo>
                    <a:pt x="19211" y="13476"/>
                    <a:pt x="20312" y="13009"/>
                    <a:pt x="21379" y="12475"/>
                  </a:cubicBezTo>
                  <a:cubicBezTo>
                    <a:pt x="22413" y="11941"/>
                    <a:pt x="23414" y="11374"/>
                    <a:pt x="24415" y="10774"/>
                  </a:cubicBezTo>
                  <a:cubicBezTo>
                    <a:pt x="25382" y="10140"/>
                    <a:pt x="26349" y="9506"/>
                    <a:pt x="27283" y="8806"/>
                  </a:cubicBezTo>
                  <a:cubicBezTo>
                    <a:pt x="27750" y="8405"/>
                    <a:pt x="27950" y="7738"/>
                    <a:pt x="27717" y="7138"/>
                  </a:cubicBezTo>
                  <a:cubicBezTo>
                    <a:pt x="27509" y="6566"/>
                    <a:pt x="26957" y="6217"/>
                    <a:pt x="26360" y="6217"/>
                  </a:cubicBezTo>
                  <a:cubicBezTo>
                    <a:pt x="26191" y="6217"/>
                    <a:pt x="26018" y="6245"/>
                    <a:pt x="25849" y="6304"/>
                  </a:cubicBezTo>
                  <a:lnTo>
                    <a:pt x="25816" y="6304"/>
                  </a:lnTo>
                  <a:cubicBezTo>
                    <a:pt x="24815" y="6671"/>
                    <a:pt x="23781" y="7071"/>
                    <a:pt x="22780" y="7438"/>
                  </a:cubicBezTo>
                  <a:cubicBezTo>
                    <a:pt x="21779" y="7772"/>
                    <a:pt x="20745" y="8139"/>
                    <a:pt x="19745" y="8439"/>
                  </a:cubicBezTo>
                  <a:cubicBezTo>
                    <a:pt x="18711" y="8772"/>
                    <a:pt x="17710" y="9039"/>
                    <a:pt x="16709" y="9273"/>
                  </a:cubicBezTo>
                  <a:cubicBezTo>
                    <a:pt x="16142" y="9406"/>
                    <a:pt x="15608" y="9506"/>
                    <a:pt x="15041" y="9606"/>
                  </a:cubicBezTo>
                  <a:cubicBezTo>
                    <a:pt x="13674" y="8305"/>
                    <a:pt x="12273" y="7004"/>
                    <a:pt x="10872" y="5637"/>
                  </a:cubicBezTo>
                  <a:lnTo>
                    <a:pt x="6068" y="867"/>
                  </a:lnTo>
                  <a:lnTo>
                    <a:pt x="6035" y="833"/>
                  </a:lnTo>
                  <a:cubicBezTo>
                    <a:pt x="5418" y="248"/>
                    <a:pt x="4734" y="0"/>
                    <a:pt x="4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363925" y="1733250"/>
              <a:ext cx="342975" cy="346200"/>
            </a:xfrm>
            <a:custGeom>
              <a:avLst/>
              <a:gdLst/>
              <a:ahLst/>
              <a:cxnLst/>
              <a:rect l="l" t="t" r="r" b="b"/>
              <a:pathLst>
                <a:path w="13719" h="13848" extrusionOk="0">
                  <a:moveTo>
                    <a:pt x="3892" y="0"/>
                  </a:moveTo>
                  <a:cubicBezTo>
                    <a:pt x="1280" y="0"/>
                    <a:pt x="1" y="5556"/>
                    <a:pt x="2510" y="9278"/>
                  </a:cubicBezTo>
                  <a:cubicBezTo>
                    <a:pt x="5112" y="13147"/>
                    <a:pt x="6847" y="13848"/>
                    <a:pt x="6847" y="13848"/>
                  </a:cubicBezTo>
                  <a:cubicBezTo>
                    <a:pt x="9582" y="12547"/>
                    <a:pt x="11950" y="10545"/>
                    <a:pt x="13718" y="8077"/>
                  </a:cubicBezTo>
                  <a:cubicBezTo>
                    <a:pt x="11116" y="5408"/>
                    <a:pt x="8348" y="2907"/>
                    <a:pt x="5446" y="605"/>
                  </a:cubicBezTo>
                  <a:cubicBezTo>
                    <a:pt x="4893" y="187"/>
                    <a:pt x="4370" y="0"/>
                    <a:pt x="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041275" y="1897625"/>
              <a:ext cx="145125" cy="125125"/>
            </a:xfrm>
            <a:custGeom>
              <a:avLst/>
              <a:gdLst/>
              <a:ahLst/>
              <a:cxnLst/>
              <a:rect l="l" t="t" r="r" b="b"/>
              <a:pathLst>
                <a:path w="5805" h="5005" extrusionOk="0">
                  <a:moveTo>
                    <a:pt x="3103" y="1"/>
                  </a:moveTo>
                  <a:cubicBezTo>
                    <a:pt x="3103" y="1"/>
                    <a:pt x="0" y="1669"/>
                    <a:pt x="601" y="3503"/>
                  </a:cubicBezTo>
                  <a:lnTo>
                    <a:pt x="2169" y="5004"/>
                  </a:lnTo>
                  <a:lnTo>
                    <a:pt x="5804" y="37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116325" y="1862350"/>
              <a:ext cx="123450" cy="128700"/>
            </a:xfrm>
            <a:custGeom>
              <a:avLst/>
              <a:gdLst/>
              <a:ahLst/>
              <a:cxnLst/>
              <a:rect l="l" t="t" r="r" b="b"/>
              <a:pathLst>
                <a:path w="4938" h="5148" extrusionOk="0">
                  <a:moveTo>
                    <a:pt x="2341" y="1"/>
                  </a:moveTo>
                  <a:cubicBezTo>
                    <a:pt x="2063" y="1"/>
                    <a:pt x="1781" y="93"/>
                    <a:pt x="1535" y="278"/>
                  </a:cubicBezTo>
                  <a:lnTo>
                    <a:pt x="0" y="1479"/>
                  </a:lnTo>
                  <a:lnTo>
                    <a:pt x="2769" y="5148"/>
                  </a:lnTo>
                  <a:lnTo>
                    <a:pt x="4404" y="3447"/>
                  </a:lnTo>
                  <a:cubicBezTo>
                    <a:pt x="4937" y="2913"/>
                    <a:pt x="4937" y="2046"/>
                    <a:pt x="4404" y="1512"/>
                  </a:cubicBezTo>
                  <a:lnTo>
                    <a:pt x="3236" y="378"/>
                  </a:lnTo>
                  <a:cubicBezTo>
                    <a:pt x="2985" y="126"/>
                    <a:pt x="2666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192325" y="1708200"/>
              <a:ext cx="210175" cy="141925"/>
            </a:xfrm>
            <a:custGeom>
              <a:avLst/>
              <a:gdLst/>
              <a:ahLst/>
              <a:cxnLst/>
              <a:rect l="l" t="t" r="r" b="b"/>
              <a:pathLst>
                <a:path w="8407" h="5677" extrusionOk="0">
                  <a:moveTo>
                    <a:pt x="7411" y="0"/>
                  </a:moveTo>
                  <a:cubicBezTo>
                    <a:pt x="7364" y="0"/>
                    <a:pt x="7339" y="6"/>
                    <a:pt x="7339" y="6"/>
                  </a:cubicBezTo>
                  <a:cubicBezTo>
                    <a:pt x="7339" y="6"/>
                    <a:pt x="4671" y="2307"/>
                    <a:pt x="1" y="3175"/>
                  </a:cubicBezTo>
                  <a:cubicBezTo>
                    <a:pt x="601" y="3875"/>
                    <a:pt x="901" y="4776"/>
                    <a:pt x="901" y="5676"/>
                  </a:cubicBezTo>
                  <a:cubicBezTo>
                    <a:pt x="4804" y="5009"/>
                    <a:pt x="8006" y="3108"/>
                    <a:pt x="8407" y="539"/>
                  </a:cubicBezTo>
                  <a:cubicBezTo>
                    <a:pt x="7925" y="58"/>
                    <a:pt x="7559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087250" y="1692950"/>
              <a:ext cx="118450" cy="132150"/>
            </a:xfrm>
            <a:custGeom>
              <a:avLst/>
              <a:gdLst/>
              <a:ahLst/>
              <a:cxnLst/>
              <a:rect l="l" t="t" r="r" b="b"/>
              <a:pathLst>
                <a:path w="4738" h="5286" extrusionOk="0">
                  <a:moveTo>
                    <a:pt x="4204" y="1"/>
                  </a:moveTo>
                  <a:cubicBezTo>
                    <a:pt x="3848" y="1"/>
                    <a:pt x="3492" y="60"/>
                    <a:pt x="3136" y="149"/>
                  </a:cubicBezTo>
                  <a:cubicBezTo>
                    <a:pt x="1935" y="749"/>
                    <a:pt x="1" y="3851"/>
                    <a:pt x="1502" y="5286"/>
                  </a:cubicBezTo>
                  <a:cubicBezTo>
                    <a:pt x="2202" y="4485"/>
                    <a:pt x="3170" y="3985"/>
                    <a:pt x="4204" y="3785"/>
                  </a:cubicBezTo>
                  <a:cubicBezTo>
                    <a:pt x="3103" y="916"/>
                    <a:pt x="4737" y="49"/>
                    <a:pt x="4737" y="49"/>
                  </a:cubicBezTo>
                  <a:cubicBezTo>
                    <a:pt x="4560" y="15"/>
                    <a:pt x="4382" y="1"/>
                    <a:pt x="4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143125" y="1483175"/>
              <a:ext cx="249375" cy="308650"/>
            </a:xfrm>
            <a:custGeom>
              <a:avLst/>
              <a:gdLst/>
              <a:ahLst/>
              <a:cxnLst/>
              <a:rect l="l" t="t" r="r" b="b"/>
              <a:pathLst>
                <a:path w="9975" h="12346" extrusionOk="0">
                  <a:moveTo>
                    <a:pt x="9974" y="0"/>
                  </a:moveTo>
                  <a:lnTo>
                    <a:pt x="4204" y="3870"/>
                  </a:lnTo>
                  <a:cubicBezTo>
                    <a:pt x="4471" y="5905"/>
                    <a:pt x="4337" y="8039"/>
                    <a:pt x="1835" y="8640"/>
                  </a:cubicBezTo>
                  <a:cubicBezTo>
                    <a:pt x="1235" y="8773"/>
                    <a:pt x="735" y="9174"/>
                    <a:pt x="468" y="9741"/>
                  </a:cubicBezTo>
                  <a:cubicBezTo>
                    <a:pt x="1" y="10841"/>
                    <a:pt x="134" y="12109"/>
                    <a:pt x="2603" y="12309"/>
                  </a:cubicBezTo>
                  <a:cubicBezTo>
                    <a:pt x="2869" y="12333"/>
                    <a:pt x="3136" y="12345"/>
                    <a:pt x="3402" y="12345"/>
                  </a:cubicBezTo>
                  <a:cubicBezTo>
                    <a:pt x="5331" y="12345"/>
                    <a:pt x="7220" y="11714"/>
                    <a:pt x="8774" y="10541"/>
                  </a:cubicBezTo>
                  <a:cubicBezTo>
                    <a:pt x="9274" y="10174"/>
                    <a:pt x="9474" y="9474"/>
                    <a:pt x="9241" y="8907"/>
                  </a:cubicBezTo>
                  <a:cubicBezTo>
                    <a:pt x="8273" y="6505"/>
                    <a:pt x="9241" y="2369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248200" y="1523200"/>
              <a:ext cx="86750" cy="95925"/>
            </a:xfrm>
            <a:custGeom>
              <a:avLst/>
              <a:gdLst/>
              <a:ahLst/>
              <a:cxnLst/>
              <a:rect l="l" t="t" r="r" b="b"/>
              <a:pathLst>
                <a:path w="3470" h="3837" extrusionOk="0">
                  <a:moveTo>
                    <a:pt x="3403" y="0"/>
                  </a:moveTo>
                  <a:lnTo>
                    <a:pt x="1" y="2269"/>
                  </a:lnTo>
                  <a:cubicBezTo>
                    <a:pt x="67" y="2802"/>
                    <a:pt x="101" y="3303"/>
                    <a:pt x="101" y="3837"/>
                  </a:cubicBezTo>
                  <a:cubicBezTo>
                    <a:pt x="1268" y="3803"/>
                    <a:pt x="3036" y="2702"/>
                    <a:pt x="3303" y="1468"/>
                  </a:cubicBezTo>
                  <a:cubicBezTo>
                    <a:pt x="3436" y="1001"/>
                    <a:pt x="3470" y="501"/>
                    <a:pt x="3403" y="0"/>
                  </a:cubicBezTo>
                  <a:close/>
                </a:path>
              </a:pathLst>
            </a:custGeom>
            <a:solidFill>
              <a:srgbClr val="9E51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156875" y="1227025"/>
              <a:ext cx="319850" cy="367775"/>
            </a:xfrm>
            <a:custGeom>
              <a:avLst/>
              <a:gdLst/>
              <a:ahLst/>
              <a:cxnLst/>
              <a:rect l="l" t="t" r="r" b="b"/>
              <a:pathLst>
                <a:path w="12794" h="14711" extrusionOk="0">
                  <a:moveTo>
                    <a:pt x="6881" y="1"/>
                  </a:moveTo>
                  <a:cubicBezTo>
                    <a:pt x="6600" y="1"/>
                    <a:pt x="6313" y="24"/>
                    <a:pt x="6022" y="72"/>
                  </a:cubicBezTo>
                  <a:cubicBezTo>
                    <a:pt x="2086" y="673"/>
                    <a:pt x="151" y="5977"/>
                    <a:pt x="51" y="9479"/>
                  </a:cubicBezTo>
                  <a:cubicBezTo>
                    <a:pt x="1" y="12410"/>
                    <a:pt x="2324" y="14710"/>
                    <a:pt x="4976" y="14710"/>
                  </a:cubicBezTo>
                  <a:cubicBezTo>
                    <a:pt x="5825" y="14710"/>
                    <a:pt x="6707" y="14475"/>
                    <a:pt x="7556" y="13949"/>
                  </a:cubicBezTo>
                  <a:cubicBezTo>
                    <a:pt x="9891" y="12515"/>
                    <a:pt x="10425" y="10346"/>
                    <a:pt x="11593" y="6744"/>
                  </a:cubicBezTo>
                  <a:cubicBezTo>
                    <a:pt x="12794" y="3386"/>
                    <a:pt x="10269" y="1"/>
                    <a:pt x="68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145625" y="1271600"/>
              <a:ext cx="114275" cy="141550"/>
            </a:xfrm>
            <a:custGeom>
              <a:avLst/>
              <a:gdLst/>
              <a:ahLst/>
              <a:cxnLst/>
              <a:rect l="l" t="t" r="r" b="b"/>
              <a:pathLst>
                <a:path w="4571" h="5662" extrusionOk="0">
                  <a:moveTo>
                    <a:pt x="2836" y="224"/>
                  </a:moveTo>
                  <a:cubicBezTo>
                    <a:pt x="2970" y="224"/>
                    <a:pt x="3136" y="224"/>
                    <a:pt x="3270" y="291"/>
                  </a:cubicBezTo>
                  <a:cubicBezTo>
                    <a:pt x="3737" y="491"/>
                    <a:pt x="4104" y="925"/>
                    <a:pt x="4204" y="1458"/>
                  </a:cubicBezTo>
                  <a:cubicBezTo>
                    <a:pt x="4371" y="2125"/>
                    <a:pt x="4304" y="2793"/>
                    <a:pt x="4070" y="3460"/>
                  </a:cubicBezTo>
                  <a:cubicBezTo>
                    <a:pt x="3642" y="4658"/>
                    <a:pt x="2726" y="5466"/>
                    <a:pt x="1865" y="5466"/>
                  </a:cubicBezTo>
                  <a:cubicBezTo>
                    <a:pt x="1719" y="5466"/>
                    <a:pt x="1575" y="5443"/>
                    <a:pt x="1435" y="5394"/>
                  </a:cubicBezTo>
                  <a:cubicBezTo>
                    <a:pt x="968" y="5194"/>
                    <a:pt x="601" y="4761"/>
                    <a:pt x="501" y="4227"/>
                  </a:cubicBezTo>
                  <a:cubicBezTo>
                    <a:pt x="201" y="2859"/>
                    <a:pt x="701" y="1458"/>
                    <a:pt x="1802" y="591"/>
                  </a:cubicBezTo>
                  <a:cubicBezTo>
                    <a:pt x="2102" y="358"/>
                    <a:pt x="2436" y="224"/>
                    <a:pt x="2836" y="224"/>
                  </a:cubicBezTo>
                  <a:close/>
                  <a:moveTo>
                    <a:pt x="2769" y="0"/>
                  </a:moveTo>
                  <a:cubicBezTo>
                    <a:pt x="2384" y="0"/>
                    <a:pt x="1993" y="134"/>
                    <a:pt x="1669" y="424"/>
                  </a:cubicBezTo>
                  <a:cubicBezTo>
                    <a:pt x="534" y="1358"/>
                    <a:pt x="1" y="2826"/>
                    <a:pt x="301" y="4294"/>
                  </a:cubicBezTo>
                  <a:cubicBezTo>
                    <a:pt x="434" y="4861"/>
                    <a:pt x="835" y="5361"/>
                    <a:pt x="1368" y="5595"/>
                  </a:cubicBezTo>
                  <a:cubicBezTo>
                    <a:pt x="1535" y="5628"/>
                    <a:pt x="1702" y="5661"/>
                    <a:pt x="1869" y="5661"/>
                  </a:cubicBezTo>
                  <a:cubicBezTo>
                    <a:pt x="2836" y="5661"/>
                    <a:pt x="3837" y="4794"/>
                    <a:pt x="4270" y="3526"/>
                  </a:cubicBezTo>
                  <a:cubicBezTo>
                    <a:pt x="4537" y="2826"/>
                    <a:pt x="4571" y="2092"/>
                    <a:pt x="4404" y="1392"/>
                  </a:cubicBezTo>
                  <a:cubicBezTo>
                    <a:pt x="4271" y="526"/>
                    <a:pt x="3533" y="0"/>
                    <a:pt x="27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4249875" y="1309675"/>
              <a:ext cx="116775" cy="141000"/>
            </a:xfrm>
            <a:custGeom>
              <a:avLst/>
              <a:gdLst/>
              <a:ahLst/>
              <a:cxnLst/>
              <a:rect l="l" t="t" r="r" b="b"/>
              <a:pathLst>
                <a:path w="4671" h="5640" extrusionOk="0">
                  <a:moveTo>
                    <a:pt x="2936" y="202"/>
                  </a:moveTo>
                  <a:cubicBezTo>
                    <a:pt x="3069" y="202"/>
                    <a:pt x="3236" y="236"/>
                    <a:pt x="3369" y="269"/>
                  </a:cubicBezTo>
                  <a:cubicBezTo>
                    <a:pt x="3870" y="469"/>
                    <a:pt x="4203" y="903"/>
                    <a:pt x="4303" y="1436"/>
                  </a:cubicBezTo>
                  <a:cubicBezTo>
                    <a:pt x="4470" y="2104"/>
                    <a:pt x="4437" y="2804"/>
                    <a:pt x="4203" y="3438"/>
                  </a:cubicBezTo>
                  <a:cubicBezTo>
                    <a:pt x="3775" y="4636"/>
                    <a:pt x="2859" y="5444"/>
                    <a:pt x="1998" y="5444"/>
                  </a:cubicBezTo>
                  <a:cubicBezTo>
                    <a:pt x="1852" y="5444"/>
                    <a:pt x="1708" y="5421"/>
                    <a:pt x="1568" y="5373"/>
                  </a:cubicBezTo>
                  <a:cubicBezTo>
                    <a:pt x="601" y="5039"/>
                    <a:pt x="234" y="3605"/>
                    <a:pt x="734" y="2204"/>
                  </a:cubicBezTo>
                  <a:cubicBezTo>
                    <a:pt x="934" y="1570"/>
                    <a:pt x="1335" y="1003"/>
                    <a:pt x="1868" y="569"/>
                  </a:cubicBezTo>
                  <a:cubicBezTo>
                    <a:pt x="2169" y="336"/>
                    <a:pt x="2536" y="202"/>
                    <a:pt x="2936" y="202"/>
                  </a:cubicBezTo>
                  <a:close/>
                  <a:moveTo>
                    <a:pt x="2845" y="1"/>
                  </a:moveTo>
                  <a:cubicBezTo>
                    <a:pt x="2469" y="1"/>
                    <a:pt x="2088" y="127"/>
                    <a:pt x="1768" y="402"/>
                  </a:cubicBezTo>
                  <a:cubicBezTo>
                    <a:pt x="1201" y="836"/>
                    <a:pt x="768" y="1470"/>
                    <a:pt x="534" y="2137"/>
                  </a:cubicBezTo>
                  <a:cubicBezTo>
                    <a:pt x="0" y="3638"/>
                    <a:pt x="434" y="5172"/>
                    <a:pt x="1468" y="5573"/>
                  </a:cubicBezTo>
                  <a:cubicBezTo>
                    <a:pt x="1635" y="5606"/>
                    <a:pt x="1802" y="5639"/>
                    <a:pt x="1968" y="5639"/>
                  </a:cubicBezTo>
                  <a:cubicBezTo>
                    <a:pt x="2902" y="5639"/>
                    <a:pt x="3903" y="4772"/>
                    <a:pt x="4370" y="3505"/>
                  </a:cubicBezTo>
                  <a:cubicBezTo>
                    <a:pt x="4604" y="2837"/>
                    <a:pt x="4670" y="2070"/>
                    <a:pt x="4504" y="1370"/>
                  </a:cubicBezTo>
                  <a:cubicBezTo>
                    <a:pt x="4347" y="521"/>
                    <a:pt x="3607" y="1"/>
                    <a:pt x="28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247375" y="1355900"/>
              <a:ext cx="20875" cy="10550"/>
            </a:xfrm>
            <a:custGeom>
              <a:avLst/>
              <a:gdLst/>
              <a:ahLst/>
              <a:cxnLst/>
              <a:rect l="l" t="t" r="r" b="b"/>
              <a:pathLst>
                <a:path w="835" h="422" extrusionOk="0">
                  <a:moveTo>
                    <a:pt x="237" y="0"/>
                  </a:moveTo>
                  <a:cubicBezTo>
                    <a:pt x="180" y="0"/>
                    <a:pt x="123" y="7"/>
                    <a:pt x="67" y="21"/>
                  </a:cubicBezTo>
                  <a:cubicBezTo>
                    <a:pt x="34" y="21"/>
                    <a:pt x="0" y="88"/>
                    <a:pt x="34" y="154"/>
                  </a:cubicBezTo>
                  <a:cubicBezTo>
                    <a:pt x="34" y="188"/>
                    <a:pt x="100" y="221"/>
                    <a:pt x="134" y="221"/>
                  </a:cubicBezTo>
                  <a:cubicBezTo>
                    <a:pt x="178" y="207"/>
                    <a:pt x="222" y="200"/>
                    <a:pt x="264" y="200"/>
                  </a:cubicBezTo>
                  <a:cubicBezTo>
                    <a:pt x="417" y="200"/>
                    <a:pt x="556" y="284"/>
                    <a:pt x="634" y="388"/>
                  </a:cubicBezTo>
                  <a:cubicBezTo>
                    <a:pt x="667" y="421"/>
                    <a:pt x="701" y="421"/>
                    <a:pt x="734" y="421"/>
                  </a:cubicBezTo>
                  <a:cubicBezTo>
                    <a:pt x="734" y="421"/>
                    <a:pt x="768" y="421"/>
                    <a:pt x="801" y="388"/>
                  </a:cubicBezTo>
                  <a:cubicBezTo>
                    <a:pt x="834" y="355"/>
                    <a:pt x="834" y="288"/>
                    <a:pt x="801" y="255"/>
                  </a:cubicBezTo>
                  <a:cubicBezTo>
                    <a:pt x="669" y="96"/>
                    <a:pt x="453" y="0"/>
                    <a:pt x="2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4351875" y="1398850"/>
              <a:ext cx="80650" cy="47650"/>
            </a:xfrm>
            <a:custGeom>
              <a:avLst/>
              <a:gdLst/>
              <a:ahLst/>
              <a:cxnLst/>
              <a:rect l="l" t="t" r="r" b="b"/>
              <a:pathLst>
                <a:path w="3226" h="1906" extrusionOk="0">
                  <a:moveTo>
                    <a:pt x="128" y="1"/>
                  </a:moveTo>
                  <a:cubicBezTo>
                    <a:pt x="19" y="1"/>
                    <a:pt x="0" y="174"/>
                    <a:pt x="123" y="204"/>
                  </a:cubicBezTo>
                  <a:cubicBezTo>
                    <a:pt x="123" y="204"/>
                    <a:pt x="924" y="371"/>
                    <a:pt x="3025" y="1906"/>
                  </a:cubicBezTo>
                  <a:lnTo>
                    <a:pt x="3092" y="1906"/>
                  </a:lnTo>
                  <a:cubicBezTo>
                    <a:pt x="3126" y="1906"/>
                    <a:pt x="3159" y="1906"/>
                    <a:pt x="3192" y="1872"/>
                  </a:cubicBezTo>
                  <a:cubicBezTo>
                    <a:pt x="3226" y="1839"/>
                    <a:pt x="3192" y="1772"/>
                    <a:pt x="3159" y="1739"/>
                  </a:cubicBezTo>
                  <a:cubicBezTo>
                    <a:pt x="991" y="171"/>
                    <a:pt x="190" y="4"/>
                    <a:pt x="157" y="4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196700" y="1101925"/>
              <a:ext cx="398450" cy="369600"/>
            </a:xfrm>
            <a:custGeom>
              <a:avLst/>
              <a:gdLst/>
              <a:ahLst/>
              <a:cxnLst/>
              <a:rect l="l" t="t" r="r" b="b"/>
              <a:pathLst>
                <a:path w="15938" h="14784" extrusionOk="0">
                  <a:moveTo>
                    <a:pt x="4940" y="0"/>
                  </a:moveTo>
                  <a:cubicBezTo>
                    <a:pt x="3062" y="0"/>
                    <a:pt x="393" y="1194"/>
                    <a:pt x="159" y="3809"/>
                  </a:cubicBezTo>
                  <a:cubicBezTo>
                    <a:pt x="1" y="5648"/>
                    <a:pt x="1259" y="6854"/>
                    <a:pt x="2587" y="6854"/>
                  </a:cubicBezTo>
                  <a:cubicBezTo>
                    <a:pt x="2656" y="6854"/>
                    <a:pt x="2725" y="6851"/>
                    <a:pt x="2795" y="6844"/>
                  </a:cubicBezTo>
                  <a:cubicBezTo>
                    <a:pt x="2938" y="6829"/>
                    <a:pt x="3069" y="6822"/>
                    <a:pt x="3191" y="6822"/>
                  </a:cubicBezTo>
                  <a:cubicBezTo>
                    <a:pt x="5184" y="6822"/>
                    <a:pt x="4598" y="8716"/>
                    <a:pt x="8823" y="8716"/>
                  </a:cubicBezTo>
                  <a:cubicBezTo>
                    <a:pt x="8923" y="8716"/>
                    <a:pt x="9026" y="8714"/>
                    <a:pt x="9132" y="8712"/>
                  </a:cubicBezTo>
                  <a:lnTo>
                    <a:pt x="9132" y="8712"/>
                  </a:lnTo>
                  <a:cubicBezTo>
                    <a:pt x="7932" y="10180"/>
                    <a:pt x="9399" y="10847"/>
                    <a:pt x="8432" y="11448"/>
                  </a:cubicBezTo>
                  <a:cubicBezTo>
                    <a:pt x="7565" y="12015"/>
                    <a:pt x="6197" y="13482"/>
                    <a:pt x="7598" y="14783"/>
                  </a:cubicBezTo>
                  <a:cubicBezTo>
                    <a:pt x="9099" y="14683"/>
                    <a:pt x="10533" y="14316"/>
                    <a:pt x="11934" y="13749"/>
                  </a:cubicBezTo>
                  <a:cubicBezTo>
                    <a:pt x="14069" y="12749"/>
                    <a:pt x="15937" y="9013"/>
                    <a:pt x="12568" y="8179"/>
                  </a:cubicBezTo>
                  <a:cubicBezTo>
                    <a:pt x="12835" y="4943"/>
                    <a:pt x="10700" y="6277"/>
                    <a:pt x="8999" y="4743"/>
                  </a:cubicBezTo>
                  <a:cubicBezTo>
                    <a:pt x="7798" y="3642"/>
                    <a:pt x="8232" y="2508"/>
                    <a:pt x="5963" y="2308"/>
                  </a:cubicBezTo>
                  <a:cubicBezTo>
                    <a:pt x="5063" y="2208"/>
                    <a:pt x="4663" y="1007"/>
                    <a:pt x="6664" y="640"/>
                  </a:cubicBezTo>
                  <a:cubicBezTo>
                    <a:pt x="6404" y="220"/>
                    <a:pt x="5744" y="0"/>
                    <a:pt x="49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481700" y="1238000"/>
              <a:ext cx="85925" cy="70000"/>
            </a:xfrm>
            <a:custGeom>
              <a:avLst/>
              <a:gdLst/>
              <a:ahLst/>
              <a:cxnLst/>
              <a:rect l="l" t="t" r="r" b="b"/>
              <a:pathLst>
                <a:path w="3437" h="2800" extrusionOk="0">
                  <a:moveTo>
                    <a:pt x="2402" y="0"/>
                  </a:moveTo>
                  <a:lnTo>
                    <a:pt x="2402" y="0"/>
                  </a:lnTo>
                  <a:cubicBezTo>
                    <a:pt x="2569" y="1435"/>
                    <a:pt x="1435" y="2669"/>
                    <a:pt x="1" y="2669"/>
                  </a:cubicBezTo>
                  <a:cubicBezTo>
                    <a:pt x="388" y="2755"/>
                    <a:pt x="757" y="2799"/>
                    <a:pt x="1093" y="2799"/>
                  </a:cubicBezTo>
                  <a:cubicBezTo>
                    <a:pt x="2583" y="2799"/>
                    <a:pt x="3437" y="1933"/>
                    <a:pt x="24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4364375" y="1427350"/>
              <a:ext cx="114025" cy="93400"/>
            </a:xfrm>
            <a:custGeom>
              <a:avLst/>
              <a:gdLst/>
              <a:ahLst/>
              <a:cxnLst/>
              <a:rect l="l" t="t" r="r" b="b"/>
              <a:pathLst>
                <a:path w="4561" h="3736" extrusionOk="0">
                  <a:moveTo>
                    <a:pt x="3120" y="1"/>
                  </a:moveTo>
                  <a:cubicBezTo>
                    <a:pt x="2229" y="1"/>
                    <a:pt x="1198" y="900"/>
                    <a:pt x="691" y="1633"/>
                  </a:cubicBezTo>
                  <a:cubicBezTo>
                    <a:pt x="0" y="2619"/>
                    <a:pt x="120" y="3735"/>
                    <a:pt x="1241" y="3735"/>
                  </a:cubicBezTo>
                  <a:cubicBezTo>
                    <a:pt x="1258" y="3735"/>
                    <a:pt x="1274" y="3735"/>
                    <a:pt x="1291" y="3734"/>
                  </a:cubicBezTo>
                  <a:cubicBezTo>
                    <a:pt x="2192" y="3668"/>
                    <a:pt x="3026" y="3267"/>
                    <a:pt x="3693" y="2634"/>
                  </a:cubicBezTo>
                  <a:cubicBezTo>
                    <a:pt x="4494" y="1800"/>
                    <a:pt x="4560" y="532"/>
                    <a:pt x="3593" y="98"/>
                  </a:cubicBezTo>
                  <a:cubicBezTo>
                    <a:pt x="3443" y="31"/>
                    <a:pt x="3284" y="1"/>
                    <a:pt x="31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4399150" y="1453100"/>
              <a:ext cx="70900" cy="63500"/>
            </a:xfrm>
            <a:custGeom>
              <a:avLst/>
              <a:gdLst/>
              <a:ahLst/>
              <a:cxnLst/>
              <a:rect l="l" t="t" r="r" b="b"/>
              <a:pathLst>
                <a:path w="2836" h="2540" extrusionOk="0">
                  <a:moveTo>
                    <a:pt x="1738" y="0"/>
                  </a:moveTo>
                  <a:cubicBezTo>
                    <a:pt x="1375" y="0"/>
                    <a:pt x="965" y="172"/>
                    <a:pt x="634" y="503"/>
                  </a:cubicBezTo>
                  <a:cubicBezTo>
                    <a:pt x="100" y="1037"/>
                    <a:pt x="0" y="1837"/>
                    <a:pt x="401" y="2271"/>
                  </a:cubicBezTo>
                  <a:cubicBezTo>
                    <a:pt x="582" y="2452"/>
                    <a:pt x="826" y="2540"/>
                    <a:pt x="1089" y="2540"/>
                  </a:cubicBezTo>
                  <a:cubicBezTo>
                    <a:pt x="1456" y="2540"/>
                    <a:pt x="1857" y="2368"/>
                    <a:pt x="2169" y="2037"/>
                  </a:cubicBezTo>
                  <a:cubicBezTo>
                    <a:pt x="2736" y="1504"/>
                    <a:pt x="2836" y="703"/>
                    <a:pt x="2402" y="269"/>
                  </a:cubicBezTo>
                  <a:cubicBezTo>
                    <a:pt x="2235" y="88"/>
                    <a:pt x="1998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229025" y="1504100"/>
              <a:ext cx="45175" cy="35600"/>
            </a:xfrm>
            <a:custGeom>
              <a:avLst/>
              <a:gdLst/>
              <a:ahLst/>
              <a:cxnLst/>
              <a:rect l="l" t="t" r="r" b="b"/>
              <a:pathLst>
                <a:path w="1807" h="1424" extrusionOk="0">
                  <a:moveTo>
                    <a:pt x="937" y="1"/>
                  </a:moveTo>
                  <a:cubicBezTo>
                    <a:pt x="871" y="1"/>
                    <a:pt x="803" y="10"/>
                    <a:pt x="734" y="31"/>
                  </a:cubicBezTo>
                  <a:cubicBezTo>
                    <a:pt x="134" y="197"/>
                    <a:pt x="0" y="965"/>
                    <a:pt x="501" y="1332"/>
                  </a:cubicBezTo>
                  <a:cubicBezTo>
                    <a:pt x="625" y="1393"/>
                    <a:pt x="758" y="1423"/>
                    <a:pt x="889" y="1423"/>
                  </a:cubicBezTo>
                  <a:cubicBezTo>
                    <a:pt x="1182" y="1423"/>
                    <a:pt x="1463" y="1274"/>
                    <a:pt x="1602" y="998"/>
                  </a:cubicBezTo>
                  <a:cubicBezTo>
                    <a:pt x="1807" y="499"/>
                    <a:pt x="1419" y="1"/>
                    <a:pt x="9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4245375" y="1489425"/>
              <a:ext cx="182150" cy="42150"/>
            </a:xfrm>
            <a:custGeom>
              <a:avLst/>
              <a:gdLst/>
              <a:ahLst/>
              <a:cxnLst/>
              <a:rect l="l" t="t" r="r" b="b"/>
              <a:pathLst>
                <a:path w="7286" h="1686" extrusionOk="0">
                  <a:moveTo>
                    <a:pt x="7052" y="0"/>
                  </a:moveTo>
                  <a:cubicBezTo>
                    <a:pt x="7002" y="0"/>
                    <a:pt x="6952" y="17"/>
                    <a:pt x="6919" y="51"/>
                  </a:cubicBezTo>
                  <a:cubicBezTo>
                    <a:pt x="6068" y="854"/>
                    <a:pt x="4146" y="1256"/>
                    <a:pt x="2374" y="1256"/>
                  </a:cubicBezTo>
                  <a:cubicBezTo>
                    <a:pt x="1645" y="1256"/>
                    <a:pt x="941" y="1187"/>
                    <a:pt x="347" y="1051"/>
                  </a:cubicBezTo>
                  <a:cubicBezTo>
                    <a:pt x="327" y="1046"/>
                    <a:pt x="307" y="1044"/>
                    <a:pt x="289" y="1044"/>
                  </a:cubicBezTo>
                  <a:cubicBezTo>
                    <a:pt x="67" y="1044"/>
                    <a:pt x="1" y="1390"/>
                    <a:pt x="247" y="1452"/>
                  </a:cubicBezTo>
                  <a:cubicBezTo>
                    <a:pt x="948" y="1618"/>
                    <a:pt x="1681" y="1685"/>
                    <a:pt x="2382" y="1685"/>
                  </a:cubicBezTo>
                  <a:cubicBezTo>
                    <a:pt x="4250" y="1685"/>
                    <a:pt x="6285" y="1251"/>
                    <a:pt x="7185" y="351"/>
                  </a:cubicBezTo>
                  <a:cubicBezTo>
                    <a:pt x="7285" y="251"/>
                    <a:pt x="7285" y="117"/>
                    <a:pt x="7185" y="51"/>
                  </a:cubicBezTo>
                  <a:cubicBezTo>
                    <a:pt x="7152" y="17"/>
                    <a:pt x="7102" y="0"/>
                    <a:pt x="70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4283225" y="1368600"/>
              <a:ext cx="21700" cy="27150"/>
            </a:xfrm>
            <a:custGeom>
              <a:avLst/>
              <a:gdLst/>
              <a:ahLst/>
              <a:cxnLst/>
              <a:rect l="l" t="t" r="r" b="b"/>
              <a:pathLst>
                <a:path w="868" h="1086" extrusionOk="0">
                  <a:moveTo>
                    <a:pt x="554" y="0"/>
                  </a:moveTo>
                  <a:cubicBezTo>
                    <a:pt x="375" y="0"/>
                    <a:pt x="188" y="182"/>
                    <a:pt x="101" y="414"/>
                  </a:cubicBezTo>
                  <a:cubicBezTo>
                    <a:pt x="1" y="714"/>
                    <a:pt x="67" y="1014"/>
                    <a:pt x="268" y="1081"/>
                  </a:cubicBezTo>
                  <a:cubicBezTo>
                    <a:pt x="284" y="1084"/>
                    <a:pt x="302" y="1085"/>
                    <a:pt x="319" y="1085"/>
                  </a:cubicBezTo>
                  <a:cubicBezTo>
                    <a:pt x="506" y="1085"/>
                    <a:pt x="710" y="922"/>
                    <a:pt x="801" y="647"/>
                  </a:cubicBezTo>
                  <a:cubicBezTo>
                    <a:pt x="868" y="347"/>
                    <a:pt x="801" y="80"/>
                    <a:pt x="634" y="13"/>
                  </a:cubicBezTo>
                  <a:cubicBezTo>
                    <a:pt x="608" y="5"/>
                    <a:pt x="581" y="0"/>
                    <a:pt x="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4193175" y="1337125"/>
              <a:ext cx="22525" cy="27150"/>
            </a:xfrm>
            <a:custGeom>
              <a:avLst/>
              <a:gdLst/>
              <a:ahLst/>
              <a:cxnLst/>
              <a:rect l="l" t="t" r="r" b="b"/>
              <a:pathLst>
                <a:path w="901" h="1086" extrusionOk="0">
                  <a:moveTo>
                    <a:pt x="590" y="1"/>
                  </a:moveTo>
                  <a:cubicBezTo>
                    <a:pt x="423" y="1"/>
                    <a:pt x="192" y="164"/>
                    <a:pt x="100" y="438"/>
                  </a:cubicBezTo>
                  <a:cubicBezTo>
                    <a:pt x="0" y="739"/>
                    <a:pt x="100" y="1006"/>
                    <a:pt x="267" y="1072"/>
                  </a:cubicBezTo>
                  <a:cubicBezTo>
                    <a:pt x="293" y="1081"/>
                    <a:pt x="320" y="1085"/>
                    <a:pt x="347" y="1085"/>
                  </a:cubicBezTo>
                  <a:cubicBezTo>
                    <a:pt x="526" y="1085"/>
                    <a:pt x="714" y="904"/>
                    <a:pt x="801" y="672"/>
                  </a:cubicBezTo>
                  <a:cubicBezTo>
                    <a:pt x="901" y="372"/>
                    <a:pt x="834" y="72"/>
                    <a:pt x="634" y="5"/>
                  </a:cubicBezTo>
                  <a:cubicBezTo>
                    <a:pt x="620" y="2"/>
                    <a:pt x="605" y="1"/>
                    <a:pt x="5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180650" y="1378100"/>
              <a:ext cx="65075" cy="62575"/>
            </a:xfrm>
            <a:custGeom>
              <a:avLst/>
              <a:gdLst/>
              <a:ahLst/>
              <a:cxnLst/>
              <a:rect l="l" t="t" r="r" b="b"/>
              <a:pathLst>
                <a:path w="2603" h="2503" extrusionOk="0">
                  <a:moveTo>
                    <a:pt x="2603" y="0"/>
                  </a:moveTo>
                  <a:lnTo>
                    <a:pt x="2603" y="0"/>
                  </a:lnTo>
                  <a:cubicBezTo>
                    <a:pt x="1702" y="467"/>
                    <a:pt x="835" y="968"/>
                    <a:pt x="1" y="1535"/>
                  </a:cubicBezTo>
                  <a:cubicBezTo>
                    <a:pt x="201" y="2235"/>
                    <a:pt x="1302" y="2502"/>
                    <a:pt x="1302" y="2502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4213175" y="1464275"/>
              <a:ext cx="61750" cy="11725"/>
            </a:xfrm>
            <a:custGeom>
              <a:avLst/>
              <a:gdLst/>
              <a:ahLst/>
              <a:cxnLst/>
              <a:rect l="l" t="t" r="r" b="b"/>
              <a:pathLst>
                <a:path w="2470" h="469" extrusionOk="0">
                  <a:moveTo>
                    <a:pt x="2390" y="1"/>
                  </a:moveTo>
                  <a:cubicBezTo>
                    <a:pt x="2369" y="1"/>
                    <a:pt x="2350" y="9"/>
                    <a:pt x="2336" y="22"/>
                  </a:cubicBezTo>
                  <a:cubicBezTo>
                    <a:pt x="1977" y="210"/>
                    <a:pt x="1592" y="302"/>
                    <a:pt x="1208" y="302"/>
                  </a:cubicBezTo>
                  <a:cubicBezTo>
                    <a:pt x="842" y="302"/>
                    <a:pt x="476" y="219"/>
                    <a:pt x="134" y="56"/>
                  </a:cubicBezTo>
                  <a:cubicBezTo>
                    <a:pt x="124" y="46"/>
                    <a:pt x="112" y="42"/>
                    <a:pt x="98" y="42"/>
                  </a:cubicBezTo>
                  <a:cubicBezTo>
                    <a:pt x="65" y="42"/>
                    <a:pt x="24" y="66"/>
                    <a:pt x="1" y="89"/>
                  </a:cubicBezTo>
                  <a:cubicBezTo>
                    <a:pt x="1" y="123"/>
                    <a:pt x="1" y="189"/>
                    <a:pt x="34" y="223"/>
                  </a:cubicBezTo>
                  <a:cubicBezTo>
                    <a:pt x="167" y="256"/>
                    <a:pt x="301" y="323"/>
                    <a:pt x="434" y="356"/>
                  </a:cubicBezTo>
                  <a:cubicBezTo>
                    <a:pt x="672" y="431"/>
                    <a:pt x="924" y="469"/>
                    <a:pt x="1179" y="469"/>
                  </a:cubicBezTo>
                  <a:cubicBezTo>
                    <a:pt x="1604" y="469"/>
                    <a:pt x="2040" y="364"/>
                    <a:pt x="2436" y="156"/>
                  </a:cubicBezTo>
                  <a:cubicBezTo>
                    <a:pt x="2469" y="156"/>
                    <a:pt x="2469" y="89"/>
                    <a:pt x="2469" y="56"/>
                  </a:cubicBezTo>
                  <a:cubicBezTo>
                    <a:pt x="2450" y="17"/>
                    <a:pt x="2419" y="1"/>
                    <a:pt x="23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316575" y="1337025"/>
              <a:ext cx="35900" cy="35050"/>
            </a:xfrm>
            <a:custGeom>
              <a:avLst/>
              <a:gdLst/>
              <a:ahLst/>
              <a:cxnLst/>
              <a:rect l="l" t="t" r="r" b="b"/>
              <a:pathLst>
                <a:path w="1436" h="1402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42"/>
                    <a:pt x="68" y="342"/>
                    <a:pt x="168" y="342"/>
                  </a:cubicBezTo>
                  <a:cubicBezTo>
                    <a:pt x="601" y="509"/>
                    <a:pt x="935" y="843"/>
                    <a:pt x="1068" y="1276"/>
                  </a:cubicBezTo>
                  <a:cubicBezTo>
                    <a:pt x="1102" y="1343"/>
                    <a:pt x="1135" y="1376"/>
                    <a:pt x="1202" y="1376"/>
                  </a:cubicBezTo>
                  <a:cubicBezTo>
                    <a:pt x="1219" y="1393"/>
                    <a:pt x="1235" y="1401"/>
                    <a:pt x="1252" y="1401"/>
                  </a:cubicBezTo>
                  <a:cubicBezTo>
                    <a:pt x="1269" y="1401"/>
                    <a:pt x="1285" y="1393"/>
                    <a:pt x="1302" y="1376"/>
                  </a:cubicBezTo>
                  <a:cubicBezTo>
                    <a:pt x="1402" y="1343"/>
                    <a:pt x="1435" y="1243"/>
                    <a:pt x="1402" y="1176"/>
                  </a:cubicBezTo>
                  <a:cubicBezTo>
                    <a:pt x="1235" y="609"/>
                    <a:pt x="802" y="1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4193175" y="1299350"/>
              <a:ext cx="47550" cy="14350"/>
            </a:xfrm>
            <a:custGeom>
              <a:avLst/>
              <a:gdLst/>
              <a:ahLst/>
              <a:cxnLst/>
              <a:rect l="l" t="t" r="r" b="b"/>
              <a:pathLst>
                <a:path w="1902" h="574" extrusionOk="0">
                  <a:moveTo>
                    <a:pt x="1009" y="1"/>
                  </a:moveTo>
                  <a:cubicBezTo>
                    <a:pt x="701" y="1"/>
                    <a:pt x="391" y="85"/>
                    <a:pt x="100" y="248"/>
                  </a:cubicBezTo>
                  <a:cubicBezTo>
                    <a:pt x="0" y="315"/>
                    <a:pt x="0" y="482"/>
                    <a:pt x="100" y="548"/>
                  </a:cubicBezTo>
                  <a:lnTo>
                    <a:pt x="134" y="548"/>
                  </a:lnTo>
                  <a:cubicBezTo>
                    <a:pt x="150" y="565"/>
                    <a:pt x="175" y="573"/>
                    <a:pt x="204" y="573"/>
                  </a:cubicBezTo>
                  <a:cubicBezTo>
                    <a:pt x="234" y="573"/>
                    <a:pt x="267" y="565"/>
                    <a:pt x="300" y="548"/>
                  </a:cubicBezTo>
                  <a:cubicBezTo>
                    <a:pt x="523" y="418"/>
                    <a:pt x="767" y="350"/>
                    <a:pt x="1015" y="350"/>
                  </a:cubicBezTo>
                  <a:cubicBezTo>
                    <a:pt x="1211" y="350"/>
                    <a:pt x="1409" y="393"/>
                    <a:pt x="1601" y="482"/>
                  </a:cubicBezTo>
                  <a:cubicBezTo>
                    <a:pt x="1628" y="491"/>
                    <a:pt x="1655" y="495"/>
                    <a:pt x="1680" y="495"/>
                  </a:cubicBezTo>
                  <a:cubicBezTo>
                    <a:pt x="1750" y="495"/>
                    <a:pt x="1810" y="464"/>
                    <a:pt x="1835" y="415"/>
                  </a:cubicBezTo>
                  <a:cubicBezTo>
                    <a:pt x="1901" y="315"/>
                    <a:pt x="1868" y="215"/>
                    <a:pt x="1768" y="182"/>
                  </a:cubicBezTo>
                  <a:cubicBezTo>
                    <a:pt x="1525" y="60"/>
                    <a:pt x="1267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3551875" y="1309725"/>
              <a:ext cx="153475" cy="127600"/>
            </a:xfrm>
            <a:custGeom>
              <a:avLst/>
              <a:gdLst/>
              <a:ahLst/>
              <a:cxnLst/>
              <a:rect l="l" t="t" r="r" b="b"/>
              <a:pathLst>
                <a:path w="6139" h="5104" extrusionOk="0">
                  <a:moveTo>
                    <a:pt x="3803" y="0"/>
                  </a:moveTo>
                  <a:lnTo>
                    <a:pt x="0" y="2602"/>
                  </a:lnTo>
                  <a:lnTo>
                    <a:pt x="2903" y="5104"/>
                  </a:lnTo>
                  <a:lnTo>
                    <a:pt x="5004" y="4103"/>
                  </a:lnTo>
                  <a:cubicBezTo>
                    <a:pt x="6138" y="2602"/>
                    <a:pt x="3803" y="0"/>
                    <a:pt x="3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3519576" y="1253626"/>
              <a:ext cx="128450" cy="121375"/>
            </a:xfrm>
            <a:custGeom>
              <a:avLst/>
              <a:gdLst/>
              <a:ahLst/>
              <a:cxnLst/>
              <a:rect l="l" t="t" r="r" b="b"/>
              <a:pathLst>
                <a:path w="5138" h="4855" extrusionOk="0">
                  <a:moveTo>
                    <a:pt x="3014" y="1"/>
                  </a:moveTo>
                  <a:cubicBezTo>
                    <a:pt x="2832" y="1"/>
                    <a:pt x="2646" y="39"/>
                    <a:pt x="2469" y="118"/>
                  </a:cubicBezTo>
                  <a:lnTo>
                    <a:pt x="1001" y="785"/>
                  </a:lnTo>
                  <a:cubicBezTo>
                    <a:pt x="300" y="1119"/>
                    <a:pt x="0" y="1919"/>
                    <a:pt x="334" y="2620"/>
                  </a:cubicBezTo>
                  <a:lnTo>
                    <a:pt x="1334" y="4855"/>
                  </a:lnTo>
                  <a:lnTo>
                    <a:pt x="5137" y="2253"/>
                  </a:lnTo>
                  <a:lnTo>
                    <a:pt x="4103" y="618"/>
                  </a:lnTo>
                  <a:cubicBezTo>
                    <a:pt x="3868" y="218"/>
                    <a:pt x="3450" y="1"/>
                    <a:pt x="30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3321900" y="1807950"/>
              <a:ext cx="742025" cy="252325"/>
            </a:xfrm>
            <a:custGeom>
              <a:avLst/>
              <a:gdLst/>
              <a:ahLst/>
              <a:cxnLst/>
              <a:rect l="l" t="t" r="r" b="b"/>
              <a:pathLst>
                <a:path w="29681" h="10093" extrusionOk="0">
                  <a:moveTo>
                    <a:pt x="1925" y="1"/>
                  </a:moveTo>
                  <a:cubicBezTo>
                    <a:pt x="770" y="1"/>
                    <a:pt x="0" y="1517"/>
                    <a:pt x="994" y="2454"/>
                  </a:cubicBezTo>
                  <a:cubicBezTo>
                    <a:pt x="1894" y="3254"/>
                    <a:pt x="2795" y="3988"/>
                    <a:pt x="3762" y="4689"/>
                  </a:cubicBezTo>
                  <a:cubicBezTo>
                    <a:pt x="4696" y="5389"/>
                    <a:pt x="5664" y="6056"/>
                    <a:pt x="6664" y="6723"/>
                  </a:cubicBezTo>
                  <a:cubicBezTo>
                    <a:pt x="7665" y="7357"/>
                    <a:pt x="8699" y="7958"/>
                    <a:pt x="9800" y="8525"/>
                  </a:cubicBezTo>
                  <a:cubicBezTo>
                    <a:pt x="10901" y="9125"/>
                    <a:pt x="12102" y="9592"/>
                    <a:pt x="13302" y="9992"/>
                  </a:cubicBezTo>
                  <a:cubicBezTo>
                    <a:pt x="13569" y="10059"/>
                    <a:pt x="13803" y="10093"/>
                    <a:pt x="14070" y="10093"/>
                  </a:cubicBezTo>
                  <a:lnTo>
                    <a:pt x="14236" y="10093"/>
                  </a:lnTo>
                  <a:cubicBezTo>
                    <a:pt x="15437" y="9992"/>
                    <a:pt x="16605" y="9826"/>
                    <a:pt x="17772" y="9626"/>
                  </a:cubicBezTo>
                  <a:cubicBezTo>
                    <a:pt x="18373" y="9525"/>
                    <a:pt x="18940" y="9392"/>
                    <a:pt x="19507" y="9259"/>
                  </a:cubicBezTo>
                  <a:cubicBezTo>
                    <a:pt x="20107" y="9125"/>
                    <a:pt x="20674" y="8958"/>
                    <a:pt x="21208" y="8792"/>
                  </a:cubicBezTo>
                  <a:cubicBezTo>
                    <a:pt x="22342" y="8491"/>
                    <a:pt x="23443" y="8091"/>
                    <a:pt x="24544" y="7657"/>
                  </a:cubicBezTo>
                  <a:cubicBezTo>
                    <a:pt x="25111" y="7457"/>
                    <a:pt x="25645" y="7257"/>
                    <a:pt x="26178" y="6990"/>
                  </a:cubicBezTo>
                  <a:cubicBezTo>
                    <a:pt x="26445" y="6857"/>
                    <a:pt x="26712" y="6723"/>
                    <a:pt x="26979" y="6590"/>
                  </a:cubicBezTo>
                  <a:cubicBezTo>
                    <a:pt x="27246" y="6457"/>
                    <a:pt x="27513" y="6323"/>
                    <a:pt x="27813" y="6156"/>
                  </a:cubicBezTo>
                  <a:cubicBezTo>
                    <a:pt x="29147" y="5456"/>
                    <a:pt x="29681" y="3821"/>
                    <a:pt x="29014" y="2454"/>
                  </a:cubicBezTo>
                  <a:cubicBezTo>
                    <a:pt x="28528" y="1433"/>
                    <a:pt x="27511" y="820"/>
                    <a:pt x="26453" y="820"/>
                  </a:cubicBezTo>
                  <a:cubicBezTo>
                    <a:pt x="26058" y="820"/>
                    <a:pt x="25658" y="905"/>
                    <a:pt x="25278" y="1086"/>
                  </a:cubicBezTo>
                  <a:lnTo>
                    <a:pt x="25144" y="1153"/>
                  </a:lnTo>
                  <a:lnTo>
                    <a:pt x="24510" y="1453"/>
                  </a:lnTo>
                  <a:lnTo>
                    <a:pt x="23810" y="1753"/>
                  </a:lnTo>
                  <a:cubicBezTo>
                    <a:pt x="23343" y="1953"/>
                    <a:pt x="22876" y="2187"/>
                    <a:pt x="22409" y="2354"/>
                  </a:cubicBezTo>
                  <a:cubicBezTo>
                    <a:pt x="21442" y="2787"/>
                    <a:pt x="20508" y="3121"/>
                    <a:pt x="19540" y="3454"/>
                  </a:cubicBezTo>
                  <a:cubicBezTo>
                    <a:pt x="18573" y="3788"/>
                    <a:pt x="17572" y="4088"/>
                    <a:pt x="16605" y="4355"/>
                  </a:cubicBezTo>
                  <a:cubicBezTo>
                    <a:pt x="15737" y="4589"/>
                    <a:pt x="14870" y="4755"/>
                    <a:pt x="14003" y="4922"/>
                  </a:cubicBezTo>
                  <a:cubicBezTo>
                    <a:pt x="13269" y="4722"/>
                    <a:pt x="12468" y="4488"/>
                    <a:pt x="11668" y="4188"/>
                  </a:cubicBezTo>
                  <a:cubicBezTo>
                    <a:pt x="10701" y="3821"/>
                    <a:pt x="9666" y="3421"/>
                    <a:pt x="8666" y="2954"/>
                  </a:cubicBezTo>
                  <a:cubicBezTo>
                    <a:pt x="7665" y="2520"/>
                    <a:pt x="6631" y="2053"/>
                    <a:pt x="5630" y="1586"/>
                  </a:cubicBezTo>
                  <a:lnTo>
                    <a:pt x="2595" y="152"/>
                  </a:lnTo>
                  <a:lnTo>
                    <a:pt x="2561" y="152"/>
                  </a:lnTo>
                  <a:cubicBezTo>
                    <a:pt x="2342" y="48"/>
                    <a:pt x="2128" y="1"/>
                    <a:pt x="1925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3790375" y="1776625"/>
              <a:ext cx="353300" cy="298650"/>
            </a:xfrm>
            <a:custGeom>
              <a:avLst/>
              <a:gdLst/>
              <a:ahLst/>
              <a:cxnLst/>
              <a:rect l="l" t="t" r="r" b="b"/>
              <a:pathLst>
                <a:path w="14132" h="11946" extrusionOk="0">
                  <a:moveTo>
                    <a:pt x="10980" y="0"/>
                  </a:moveTo>
                  <a:cubicBezTo>
                    <a:pt x="10687" y="0"/>
                    <a:pt x="10363" y="54"/>
                    <a:pt x="10008" y="171"/>
                  </a:cubicBezTo>
                  <a:cubicBezTo>
                    <a:pt x="6572" y="1372"/>
                    <a:pt x="3236" y="2773"/>
                    <a:pt x="1" y="4441"/>
                  </a:cubicBezTo>
                  <a:cubicBezTo>
                    <a:pt x="835" y="7276"/>
                    <a:pt x="2369" y="9878"/>
                    <a:pt x="4504" y="11946"/>
                  </a:cubicBezTo>
                  <a:cubicBezTo>
                    <a:pt x="4504" y="11946"/>
                    <a:pt x="6305" y="11846"/>
                    <a:pt x="9974" y="9077"/>
                  </a:cubicBezTo>
                  <a:cubicBezTo>
                    <a:pt x="13728" y="6270"/>
                    <a:pt x="14131" y="0"/>
                    <a:pt x="1098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3274175" y="1764200"/>
              <a:ext cx="121775" cy="114275"/>
            </a:xfrm>
            <a:custGeom>
              <a:avLst/>
              <a:gdLst/>
              <a:ahLst/>
              <a:cxnLst/>
              <a:rect l="l" t="t" r="r" b="b"/>
              <a:pathLst>
                <a:path w="4871" h="4571" extrusionOk="0">
                  <a:moveTo>
                    <a:pt x="1535" y="1"/>
                  </a:moveTo>
                  <a:lnTo>
                    <a:pt x="1" y="4237"/>
                  </a:lnTo>
                  <a:lnTo>
                    <a:pt x="3737" y="4571"/>
                  </a:lnTo>
                  <a:lnTo>
                    <a:pt x="4837" y="2603"/>
                  </a:lnTo>
                  <a:cubicBezTo>
                    <a:pt x="4871" y="735"/>
                    <a:pt x="1535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3201851" y="1745001"/>
              <a:ext cx="111750" cy="126200"/>
            </a:xfrm>
            <a:custGeom>
              <a:avLst/>
              <a:gdLst/>
              <a:ahLst/>
              <a:cxnLst/>
              <a:rect l="l" t="t" r="r" b="b"/>
              <a:pathLst>
                <a:path w="4470" h="5048" extrusionOk="0">
                  <a:moveTo>
                    <a:pt x="2225" y="0"/>
                  </a:moveTo>
                  <a:cubicBezTo>
                    <a:pt x="1790" y="0"/>
                    <a:pt x="1384" y="235"/>
                    <a:pt x="1168" y="644"/>
                  </a:cubicBezTo>
                  <a:lnTo>
                    <a:pt x="367" y="2012"/>
                  </a:lnTo>
                  <a:cubicBezTo>
                    <a:pt x="0" y="2679"/>
                    <a:pt x="234" y="3479"/>
                    <a:pt x="901" y="3846"/>
                  </a:cubicBezTo>
                  <a:lnTo>
                    <a:pt x="2936" y="5047"/>
                  </a:lnTo>
                  <a:lnTo>
                    <a:pt x="4470" y="811"/>
                  </a:lnTo>
                  <a:lnTo>
                    <a:pt x="2735" y="110"/>
                  </a:lnTo>
                  <a:cubicBezTo>
                    <a:pt x="2567" y="36"/>
                    <a:pt x="2394" y="0"/>
                    <a:pt x="2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2112525" y="2701550"/>
              <a:ext cx="3367425" cy="54225"/>
            </a:xfrm>
            <a:custGeom>
              <a:avLst/>
              <a:gdLst/>
              <a:ahLst/>
              <a:cxnLst/>
              <a:rect l="l" t="t" r="r" b="b"/>
              <a:pathLst>
                <a:path w="134697" h="2169" extrusionOk="0">
                  <a:moveTo>
                    <a:pt x="1101" y="0"/>
                  </a:moveTo>
                  <a:cubicBezTo>
                    <a:pt x="500" y="0"/>
                    <a:pt x="0" y="501"/>
                    <a:pt x="33" y="1101"/>
                  </a:cubicBezTo>
                  <a:cubicBezTo>
                    <a:pt x="33" y="1668"/>
                    <a:pt x="500" y="2168"/>
                    <a:pt x="1101" y="2168"/>
                  </a:cubicBezTo>
                  <a:lnTo>
                    <a:pt x="133595" y="2168"/>
                  </a:lnTo>
                  <a:cubicBezTo>
                    <a:pt x="134196" y="2168"/>
                    <a:pt x="134663" y="1668"/>
                    <a:pt x="134663" y="1101"/>
                  </a:cubicBezTo>
                  <a:cubicBezTo>
                    <a:pt x="134696" y="501"/>
                    <a:pt x="134196" y="0"/>
                    <a:pt x="13359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733550" y="2502225"/>
              <a:ext cx="157650" cy="199350"/>
            </a:xfrm>
            <a:custGeom>
              <a:avLst/>
              <a:gdLst/>
              <a:ahLst/>
              <a:cxnLst/>
              <a:rect l="l" t="t" r="r" b="b"/>
              <a:pathLst>
                <a:path w="6306" h="7974" extrusionOk="0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lnTo>
                    <a:pt x="1" y="7439"/>
                  </a:lnTo>
                  <a:cubicBezTo>
                    <a:pt x="1" y="7740"/>
                    <a:pt x="234" y="7973"/>
                    <a:pt x="534" y="7973"/>
                  </a:cubicBezTo>
                  <a:lnTo>
                    <a:pt x="5771" y="7973"/>
                  </a:lnTo>
                  <a:cubicBezTo>
                    <a:pt x="6072" y="7973"/>
                    <a:pt x="6305" y="7740"/>
                    <a:pt x="6305" y="7439"/>
                  </a:cubicBezTo>
                  <a:lnTo>
                    <a:pt x="6305" y="535"/>
                  </a:lnTo>
                  <a:cubicBezTo>
                    <a:pt x="6305" y="234"/>
                    <a:pt x="6072" y="1"/>
                    <a:pt x="57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795250" y="2529925"/>
              <a:ext cx="167650" cy="143300"/>
            </a:xfrm>
            <a:custGeom>
              <a:avLst/>
              <a:gdLst/>
              <a:ahLst/>
              <a:cxnLst/>
              <a:rect l="l" t="t" r="r" b="b"/>
              <a:pathLst>
                <a:path w="6706" h="5732" extrusionOk="0">
                  <a:moveTo>
                    <a:pt x="3797" y="861"/>
                  </a:moveTo>
                  <a:cubicBezTo>
                    <a:pt x="3810" y="861"/>
                    <a:pt x="3824" y="861"/>
                    <a:pt x="3837" y="861"/>
                  </a:cubicBezTo>
                  <a:cubicBezTo>
                    <a:pt x="4971" y="861"/>
                    <a:pt x="5872" y="1762"/>
                    <a:pt x="5872" y="2862"/>
                  </a:cubicBezTo>
                  <a:cubicBezTo>
                    <a:pt x="5872" y="4107"/>
                    <a:pt x="4859" y="4921"/>
                    <a:pt x="3812" y="4921"/>
                  </a:cubicBezTo>
                  <a:cubicBezTo>
                    <a:pt x="3315" y="4921"/>
                    <a:pt x="2811" y="4738"/>
                    <a:pt x="2403" y="4330"/>
                  </a:cubicBezTo>
                  <a:cubicBezTo>
                    <a:pt x="1112" y="3039"/>
                    <a:pt x="2022" y="861"/>
                    <a:pt x="3797" y="861"/>
                  </a:cubicBezTo>
                  <a:close/>
                  <a:moveTo>
                    <a:pt x="3816" y="0"/>
                  </a:moveTo>
                  <a:cubicBezTo>
                    <a:pt x="3108" y="0"/>
                    <a:pt x="2387" y="266"/>
                    <a:pt x="1802" y="861"/>
                  </a:cubicBezTo>
                  <a:cubicBezTo>
                    <a:pt x="1" y="2662"/>
                    <a:pt x="1269" y="5731"/>
                    <a:pt x="3837" y="5731"/>
                  </a:cubicBezTo>
                  <a:cubicBezTo>
                    <a:pt x="5438" y="5731"/>
                    <a:pt x="6706" y="4463"/>
                    <a:pt x="6706" y="2862"/>
                  </a:cubicBezTo>
                  <a:cubicBezTo>
                    <a:pt x="6706" y="1150"/>
                    <a:pt x="5290" y="0"/>
                    <a:pt x="38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505050" y="2701550"/>
              <a:ext cx="974900" cy="54225"/>
            </a:xfrm>
            <a:custGeom>
              <a:avLst/>
              <a:gdLst/>
              <a:ahLst/>
              <a:cxnLst/>
              <a:rect l="l" t="t" r="r" b="b"/>
              <a:pathLst>
                <a:path w="38996" h="2169" extrusionOk="0">
                  <a:moveTo>
                    <a:pt x="1068" y="0"/>
                  </a:moveTo>
                  <a:cubicBezTo>
                    <a:pt x="468" y="0"/>
                    <a:pt x="1" y="501"/>
                    <a:pt x="1" y="1101"/>
                  </a:cubicBezTo>
                  <a:cubicBezTo>
                    <a:pt x="1" y="1668"/>
                    <a:pt x="468" y="2168"/>
                    <a:pt x="1068" y="2168"/>
                  </a:cubicBezTo>
                  <a:lnTo>
                    <a:pt x="37894" y="2168"/>
                  </a:lnTo>
                  <a:cubicBezTo>
                    <a:pt x="38495" y="2168"/>
                    <a:pt x="38962" y="1668"/>
                    <a:pt x="38962" y="1101"/>
                  </a:cubicBezTo>
                  <a:cubicBezTo>
                    <a:pt x="38995" y="501"/>
                    <a:pt x="38495" y="0"/>
                    <a:pt x="37894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941200" y="2755750"/>
              <a:ext cx="101775" cy="813100"/>
            </a:xfrm>
            <a:custGeom>
              <a:avLst/>
              <a:gdLst/>
              <a:ahLst/>
              <a:cxnLst/>
              <a:rect l="l" t="t" r="r" b="b"/>
              <a:pathLst>
                <a:path w="4071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145500" y="2755750"/>
              <a:ext cx="194350" cy="41725"/>
            </a:xfrm>
            <a:custGeom>
              <a:avLst/>
              <a:gdLst/>
              <a:ahLst/>
              <a:cxnLst/>
              <a:rect l="l" t="t" r="r" b="b"/>
              <a:pathLst>
                <a:path w="7774" h="1669" extrusionOk="0">
                  <a:moveTo>
                    <a:pt x="1" y="0"/>
                  </a:moveTo>
                  <a:lnTo>
                    <a:pt x="1" y="768"/>
                  </a:lnTo>
                  <a:cubicBezTo>
                    <a:pt x="1" y="1268"/>
                    <a:pt x="401" y="1668"/>
                    <a:pt x="902" y="1668"/>
                  </a:cubicBezTo>
                  <a:lnTo>
                    <a:pt x="6873" y="1668"/>
                  </a:lnTo>
                  <a:cubicBezTo>
                    <a:pt x="7373" y="1668"/>
                    <a:pt x="7773" y="1268"/>
                    <a:pt x="7773" y="768"/>
                  </a:cubicBezTo>
                  <a:lnTo>
                    <a:pt x="777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9161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1" y="0"/>
                  </a:moveTo>
                  <a:lnTo>
                    <a:pt x="1" y="32524"/>
                  </a:lnTo>
                  <a:lnTo>
                    <a:pt x="6072" y="32524"/>
                  </a:lnTo>
                  <a:lnTo>
                    <a:pt x="607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4891175" y="3868200"/>
              <a:ext cx="202650" cy="813125"/>
            </a:xfrm>
            <a:custGeom>
              <a:avLst/>
              <a:gdLst/>
              <a:ahLst/>
              <a:cxnLst/>
              <a:rect l="l" t="t" r="r" b="b"/>
              <a:pathLst>
                <a:path w="8106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4772750" y="4636250"/>
              <a:ext cx="438675" cy="45075"/>
            </a:xfrm>
            <a:custGeom>
              <a:avLst/>
              <a:gdLst/>
              <a:ahLst/>
              <a:cxnLst/>
              <a:rect l="l" t="t" r="r" b="b"/>
              <a:pathLst>
                <a:path w="17547" h="1803" extrusionOk="0">
                  <a:moveTo>
                    <a:pt x="1802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6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549500" y="2755750"/>
              <a:ext cx="101750" cy="813100"/>
            </a:xfrm>
            <a:custGeom>
              <a:avLst/>
              <a:gdLst/>
              <a:ahLst/>
              <a:cxnLst/>
              <a:rect l="l" t="t" r="r" b="b"/>
              <a:pathLst>
                <a:path w="4070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5244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6071" y="32524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498625" y="3868200"/>
              <a:ext cx="202675" cy="813125"/>
            </a:xfrm>
            <a:custGeom>
              <a:avLst/>
              <a:gdLst/>
              <a:ahLst/>
              <a:cxnLst/>
              <a:rect l="l" t="t" r="r" b="b"/>
              <a:pathLst>
                <a:path w="8107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2381050" y="4636250"/>
              <a:ext cx="438650" cy="45075"/>
            </a:xfrm>
            <a:custGeom>
              <a:avLst/>
              <a:gdLst/>
              <a:ahLst/>
              <a:cxnLst/>
              <a:rect l="l" t="t" r="r" b="b"/>
              <a:pathLst>
                <a:path w="17546" h="1803" extrusionOk="0">
                  <a:moveTo>
                    <a:pt x="1801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5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495375" y="2086925"/>
              <a:ext cx="1060700" cy="598800"/>
            </a:xfrm>
            <a:custGeom>
              <a:avLst/>
              <a:gdLst/>
              <a:ahLst/>
              <a:cxnLst/>
              <a:rect l="l" t="t" r="r" b="b"/>
              <a:pathLst>
                <a:path w="42428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40659" y="23951"/>
                  </a:lnTo>
                  <a:cubicBezTo>
                    <a:pt x="41660" y="23951"/>
                    <a:pt x="42427" y="23084"/>
                    <a:pt x="42260" y="22083"/>
                  </a:cubicBezTo>
                  <a:lnTo>
                    <a:pt x="39325" y="1869"/>
                  </a:lnTo>
                  <a:cubicBezTo>
                    <a:pt x="39158" y="802"/>
                    <a:pt x="38258" y="34"/>
                    <a:pt x="37224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495375" y="2086925"/>
              <a:ext cx="673750" cy="598800"/>
            </a:xfrm>
            <a:custGeom>
              <a:avLst/>
              <a:gdLst/>
              <a:ahLst/>
              <a:cxnLst/>
              <a:rect l="l" t="t" r="r" b="b"/>
              <a:pathLst>
                <a:path w="26950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11805" y="23951"/>
                  </a:lnTo>
                  <a:cubicBezTo>
                    <a:pt x="13073" y="23951"/>
                    <a:pt x="14240" y="23284"/>
                    <a:pt x="14874" y="22183"/>
                  </a:cubicBezTo>
                  <a:lnTo>
                    <a:pt x="26216" y="2803"/>
                  </a:lnTo>
                  <a:cubicBezTo>
                    <a:pt x="26950" y="1569"/>
                    <a:pt x="26049" y="1"/>
                    <a:pt x="24615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61D5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1"/>
          </p:nvPr>
        </p:nvSpPr>
        <p:spPr>
          <a:xfrm>
            <a:off x="766622" y="2310939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What is a Database?</a:t>
            </a:r>
            <a:endParaRPr sz="1400" dirty="0"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3"/>
          </p:nvPr>
        </p:nvSpPr>
        <p:spPr>
          <a:xfrm>
            <a:off x="2296919" y="2291322"/>
            <a:ext cx="211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SQL Environment Setup</a:t>
            </a:r>
            <a:endParaRPr sz="1400" dirty="0"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4"/>
          </p:nvPr>
        </p:nvSpPr>
        <p:spPr>
          <a:xfrm>
            <a:off x="2276582" y="2743388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Database Setup for Development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SQL Starting Commands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SQL Constraints</a:t>
            </a:r>
            <a:endParaRPr sz="1200"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5"/>
          </p:nvPr>
        </p:nvSpPr>
        <p:spPr>
          <a:xfrm>
            <a:off x="4619753" y="2316867"/>
            <a:ext cx="18311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400" dirty="0"/>
              <a:t>Database Design</a:t>
            </a:r>
            <a:endParaRPr sz="1400"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6"/>
          </p:nvPr>
        </p:nvSpPr>
        <p:spPr>
          <a:xfrm>
            <a:off x="4321778" y="2743388"/>
            <a:ext cx="2307135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What is a Database Schema?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Three-Schema Approach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ERD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Table Relationships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Relationship Constraints</a:t>
            </a:r>
            <a:endParaRPr sz="1200" dirty="0"/>
          </a:p>
        </p:txBody>
      </p:sp>
      <p:sp>
        <p:nvSpPr>
          <p:cNvPr id="316" name="Google Shape;316;p28"/>
          <p:cNvSpPr txBox="1">
            <a:spLocks noGrp="1"/>
          </p:cNvSpPr>
          <p:nvPr>
            <p:ph type="title"/>
          </p:nvPr>
        </p:nvSpPr>
        <p:spPr>
          <a:xfrm>
            <a:off x="964622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7" name="Google Shape;317;p28"/>
          <p:cNvSpPr txBox="1">
            <a:spLocks noGrp="1"/>
          </p:cNvSpPr>
          <p:nvPr>
            <p:ph type="title" idx="16"/>
          </p:nvPr>
        </p:nvSpPr>
        <p:spPr>
          <a:xfrm>
            <a:off x="2780432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8" name="Google Shape;318;p28"/>
          <p:cNvSpPr txBox="1">
            <a:spLocks noGrp="1"/>
          </p:cNvSpPr>
          <p:nvPr>
            <p:ph type="title" idx="17"/>
          </p:nvPr>
        </p:nvSpPr>
        <p:spPr>
          <a:xfrm>
            <a:off x="4920495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" name="Google Shape;304;p28">
            <a:extLst>
              <a:ext uri="{FF2B5EF4-FFF2-40B4-BE49-F238E27FC236}">
                <a16:creationId xmlns:a16="http://schemas.microsoft.com/office/drawing/2014/main" id="{94557444-5CD2-1064-4AA0-59D857CEA8A1}"/>
              </a:ext>
            </a:extLst>
          </p:cNvPr>
          <p:cNvSpPr txBox="1">
            <a:spLocks/>
          </p:cNvSpPr>
          <p:nvPr/>
        </p:nvSpPr>
        <p:spPr>
          <a:xfrm>
            <a:off x="6499786" y="2254849"/>
            <a:ext cx="211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marL="0" indent="0"/>
            <a:r>
              <a:rPr lang="en-US" sz="1400" dirty="0"/>
              <a:t>Database Normalization</a:t>
            </a:r>
          </a:p>
        </p:txBody>
      </p:sp>
      <p:sp>
        <p:nvSpPr>
          <p:cNvPr id="21" name="Google Shape;316;p28">
            <a:extLst>
              <a:ext uri="{FF2B5EF4-FFF2-40B4-BE49-F238E27FC236}">
                <a16:creationId xmlns:a16="http://schemas.microsoft.com/office/drawing/2014/main" id="{AA5EB95D-774A-51BF-C762-3E2005BF9DDF}"/>
              </a:ext>
            </a:extLst>
          </p:cNvPr>
          <p:cNvSpPr txBox="1">
            <a:spLocks/>
          </p:cNvSpPr>
          <p:nvPr/>
        </p:nvSpPr>
        <p:spPr>
          <a:xfrm>
            <a:off x="7003636" y="1939539"/>
            <a:ext cx="1109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Hammersmith One"/>
              <a:buNone/>
              <a:defRPr sz="2000" b="0" i="0" u="none" strike="noStrike" cap="none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23" name="Google Shape;307;p28">
            <a:extLst>
              <a:ext uri="{FF2B5EF4-FFF2-40B4-BE49-F238E27FC236}">
                <a16:creationId xmlns:a16="http://schemas.microsoft.com/office/drawing/2014/main" id="{A10FE33A-EE6B-3FD0-A92B-CFCB520D6698}"/>
              </a:ext>
            </a:extLst>
          </p:cNvPr>
          <p:cNvSpPr txBox="1">
            <a:spLocks/>
          </p:cNvSpPr>
          <p:nvPr/>
        </p:nvSpPr>
        <p:spPr>
          <a:xfrm>
            <a:off x="6676687" y="2827549"/>
            <a:ext cx="21174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1rst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2</a:t>
            </a:r>
            <a:r>
              <a:rPr lang="en-US" baseline="30000" dirty="0"/>
              <a:t>nd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3</a:t>
            </a:r>
            <a:r>
              <a:rPr lang="en-US" baseline="30000" dirty="0"/>
              <a:t>rd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aseline="30000" dirty="0"/>
              <a:t>Data Mapping Algorithm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Database?</a:t>
            </a:r>
            <a:endParaRPr dirty="0"/>
          </a:p>
        </p:txBody>
      </p:sp>
      <p:sp>
        <p:nvSpPr>
          <p:cNvPr id="406" name="Google Shape;406;p30"/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/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/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/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DA61-D066-B24D-410B-FB6D3D17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95D1-74C0-E655-F2AB-BDB09070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24B64-6EF3-902C-A556-262BF2DD25DC}"/>
              </a:ext>
            </a:extLst>
          </p:cNvPr>
          <p:cNvSpPr txBox="1"/>
          <p:nvPr/>
        </p:nvSpPr>
        <p:spPr>
          <a:xfrm>
            <a:off x="1400400" y="1368000"/>
            <a:ext cx="6343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Relational Databases </a:t>
            </a:r>
            <a:r>
              <a:rPr lang="en-US" dirty="0">
                <a:solidFill>
                  <a:schemeClr val="bg1"/>
                </a:solidFill>
              </a:rPr>
              <a:t>: Organized data in tables, with row and columns. Usually some flavor of SQL may be used to query and manipulate the database (e.g. MySQL, </a:t>
            </a:r>
            <a:r>
              <a:rPr lang="en-US" dirty="0" err="1">
                <a:solidFill>
                  <a:schemeClr val="bg1"/>
                </a:solidFill>
              </a:rPr>
              <a:t>PostgresSQL</a:t>
            </a:r>
            <a:r>
              <a:rPr lang="en-US" dirty="0">
                <a:solidFill>
                  <a:schemeClr val="bg1"/>
                </a:solidFill>
              </a:rPr>
              <a:t>, Oracle)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NoSQL Databases </a:t>
            </a:r>
            <a:r>
              <a:rPr lang="en-US" dirty="0">
                <a:solidFill>
                  <a:schemeClr val="bg1"/>
                </a:solidFill>
              </a:rPr>
              <a:t>: Designed for handling unstructured, semi-structured, or rapidly changing data. (e.g. MongoDB, Cassandra, Redis)</a:t>
            </a:r>
          </a:p>
        </p:txBody>
      </p:sp>
    </p:spTree>
    <p:extLst>
      <p:ext uri="{BB962C8B-B14F-4D97-AF65-F5344CB8AC3E}">
        <p14:creationId xmlns:p14="http://schemas.microsoft.com/office/powerpoint/2010/main" val="23746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B8C4BFD6-A15A-D80F-3F19-2359A706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CD228EB6-293E-F74B-EE6B-26ED740F0D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SQL Evironment Setup</a:t>
            </a:r>
            <a:endParaRPr sz="28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964FB991-4253-C55D-4EAB-672CD8BBC5B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6C07BE6D-0C13-80CE-4C31-D1CA62583F0F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94C70B83-7F57-2144-9555-89F81F6F2218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B6329E31-AAEC-E6AF-5E66-614FD42A170F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4FA80183-F5ED-6CE2-E882-DEA19C9D5D4C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7CFA0C05-96A0-CF64-3382-42DA8224DA90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A9540EAB-621D-01E9-099D-12217E50A5A5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1CC656FE-E6E8-CDAE-70AF-2896FFFB39DA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7E1E017A-A4D9-518E-EDDD-F5FC0A680686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B9C106D9-BBCD-8DA9-E4C8-BDDF76608E8C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010A75B1-6FC7-886A-B69A-37BFC289A410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FC1DFD94-F8F0-F5C8-A383-7A06B26B2434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F353D704-ACAD-6607-F8C4-70FCC15040EE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BDDFB41A-56F1-A0C1-CF9F-D6FD0514072E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68A3B3B1-B3FA-AA54-07A4-9DF14D5A0145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A530C155-3930-5AEF-DE26-B22C0F9F6531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6E110B92-7A06-3DCD-5D2C-7C2F71A621C3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5438C37B-9986-5FB2-F17B-610A69733BC2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25D0416D-BBD4-5858-6C2B-790EFDDB692C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1B9A748A-5CFB-B461-6BC1-D60D5A3F2988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0F5564AC-DBF1-C5F6-AA24-AA210783CB81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30AC956A-83FF-0551-C833-307281E49355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15C42A70-61CB-9CEE-60E2-A1CE91664BC8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9BB4FDF2-AD6B-F862-696B-A43E5FA792A6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3EC32838-0492-A440-CE75-A7C5EFB1D0F9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C9D1A78C-7314-0ADE-D652-A578025CBAFB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9E23C0D4-16D4-383D-D7D1-9632D4C0FA76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3D1D60EC-134F-293B-C309-B999C8FBEEC6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6DFAFBBB-2CBE-F51F-07A3-D78EBDF46108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BAECDF04-BA89-7BF7-AE54-A20DB80B0DA6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B41507BF-85F0-1DD4-5D0B-36A6DE9007D7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C85BA918-799A-905F-17ED-A8C974F02021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A68FB576-2D62-4B90-234F-F036D0E1C142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7F3FC6F3-082E-3757-BC9F-70B774ABF2CC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AE57E487-5D48-303B-5B74-58F6DE48D045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92917217-2DCA-FA99-E84B-0BBE16993220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F1DD416C-CD02-FAC8-7185-A5A30B1BEB45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608DF1F6-7336-1201-11FA-575AD892C10A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8710D4DA-5570-A272-03C8-3945EA120458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EC20E97B-9657-9881-8B8D-FA999F997884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7BACC1A5-F62F-D10A-D234-47D1D5B4E7E2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EFE7E254-6010-A065-B941-2B3FE6C97E3E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64C91D49-A37C-DDA1-AE8A-322FD3208EEA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9593D5FA-8637-3771-6B27-A320FE619F15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DD28A731-C2D2-61C7-8B94-DE625CD37B06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5296AFC3-3504-72CE-9418-41A9D84C035F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35A8C68B-776E-D505-3030-46375893F28C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4724A7E4-F72F-A797-F844-75B978914BD6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4641D74B-72C7-5721-4BD0-498F0751B979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D10BBBF9-5B85-FF1D-37DA-8DF6927E66BF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814304F1-4A51-4F42-01A9-239DD52A1B9E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D1866B17-DE69-CDFC-8E9F-F93748433EB7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0BEA4273-649B-28BC-3497-E54309C74BB2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DE5FB5EE-D11A-7EF4-5182-43235DFE8FB0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CE5B1239-7891-20E5-70DC-DB0E087C1742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CEDE39A8-E057-3803-3AA7-9BBF1065E146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A2787519-AA25-939A-8777-528732DFA762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B60D6327-AE33-4CD7-CD7A-4B2D6032C220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582C17EC-2058-36B1-F34C-8D5522460D2B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F0F901C6-7F6B-3844-714D-34B339B90D2E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FABA5C07-901C-A6C6-A609-8B9307814EB4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703E2723-E9A7-BFB5-AC19-ECF74DFC0F86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814E2691-C4A0-A6A9-C9D5-2982BFD72639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81D41E2E-A42F-9F3D-1D54-AEB6419372F3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CCCE769D-0951-6A13-A259-454FF62AB741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3485D498-4471-794D-96AF-AF82B8AFA76B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4A9EDA7F-E3E9-EBA6-865B-B37DE2AE2C21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0883DA92-CADE-6663-8BBA-3B027ADAB922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99AEEB93-C55B-6A03-F75A-2F63BFB417B7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86723918-EEC1-064A-F9B1-6975DD45FBC1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8CEFFD8D-89CA-A501-ACB0-BD5241B8E356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6CBC047E-378C-2D18-9229-34B6926D4B73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E69073C7-6F0A-B5F4-89CB-D9C957E1F302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74C72EA7-3726-7C39-DF83-37893FEE2C83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7C2D9987-B70B-1D5C-FAED-F6793905B1DA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7AAC01E0-0079-BA67-AA40-CC473C83FD45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10B355C0-E3BA-5112-4F34-28D3B6719A0F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95CBEC9F-3654-8AD7-3ED3-2DBA5B54439E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6610482D-0D88-6031-DA3A-9B3A04A3EB0F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55977729-7F1C-58A6-326A-07035AB405B0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01F2A918-E096-ABEB-04C5-A3B410887956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9E63E087-A7EC-03B3-3F26-95CC83DCD995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CF433FB2-1780-DB93-ED51-1963686D7C79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B0A7A446-6065-CD52-F96F-DF5C8980C641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310D64BF-C312-065A-F03B-0445CE047D6A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91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F0EBE-DFD6-F237-8C4B-450002CF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D1C1-978C-2562-CF1F-86E849D1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Setup for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5FCDB-CE52-8E18-A106-E1B75F448671}"/>
              </a:ext>
            </a:extLst>
          </p:cNvPr>
          <p:cNvSpPr txBox="1"/>
          <p:nvPr/>
        </p:nvSpPr>
        <p:spPr>
          <a:xfrm>
            <a:off x="446825" y="1042745"/>
            <a:ext cx="4881465" cy="199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docker run –e “</a:t>
            </a:r>
            <a:r>
              <a:rPr lang="en-US" dirty="0" err="1">
                <a:solidFill>
                  <a:schemeClr val="bg1"/>
                </a:solidFill>
              </a:rPr>
              <a:t>Accept_EULA</a:t>
            </a:r>
            <a:r>
              <a:rPr lang="en-US" dirty="0">
                <a:solidFill>
                  <a:schemeClr val="bg1"/>
                </a:solidFill>
              </a:rPr>
              <a:t>=Y”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–e “MSSQL_SA_PASSWORD=Password123!”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–e “MSSQL_PID=Express”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-p 1433:1433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-d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mcr.Microsoft.com/</a:t>
            </a:r>
            <a:r>
              <a:rPr lang="en-US" dirty="0" err="1">
                <a:solidFill>
                  <a:schemeClr val="bg1"/>
                </a:solidFill>
              </a:rPr>
              <a:t>mssql</a:t>
            </a:r>
            <a:r>
              <a:rPr lang="en-US" dirty="0">
                <a:solidFill>
                  <a:schemeClr val="bg1"/>
                </a:solidFill>
              </a:rPr>
              <a:t>/server:2022-latest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492E14-3C94-5A41-244C-4E719099655E}"/>
              </a:ext>
            </a:extLst>
          </p:cNvPr>
          <p:cNvCxnSpPr/>
          <p:nvPr/>
        </p:nvCxnSpPr>
        <p:spPr>
          <a:xfrm>
            <a:off x="7070400" y="1447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row: Right 5">
            <a:extLst>
              <a:ext uri="{FF2B5EF4-FFF2-40B4-BE49-F238E27FC236}">
                <a16:creationId xmlns:a16="http://schemas.microsoft.com/office/drawing/2014/main" id="{B776C738-53DE-9929-2465-D44F3A1CB989}"/>
              </a:ext>
            </a:extLst>
          </p:cNvPr>
          <p:cNvSpPr/>
          <p:nvPr/>
        </p:nvSpPr>
        <p:spPr>
          <a:xfrm flipH="1">
            <a:off x="5202836" y="1433977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762477E-6F90-29FD-B04C-DAAC17DF5DD5}"/>
              </a:ext>
            </a:extLst>
          </p:cNvPr>
          <p:cNvSpPr/>
          <p:nvPr/>
        </p:nvSpPr>
        <p:spPr>
          <a:xfrm flipH="1">
            <a:off x="5124514" y="2095522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EB531A6-92C5-323C-D397-8773CA06EFE8}"/>
              </a:ext>
            </a:extLst>
          </p:cNvPr>
          <p:cNvSpPr/>
          <p:nvPr/>
        </p:nvSpPr>
        <p:spPr>
          <a:xfrm flipH="1">
            <a:off x="5124514" y="2389803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8C835-FF18-BA37-31E5-C38E920DD455}"/>
              </a:ext>
            </a:extLst>
          </p:cNvPr>
          <p:cNvSpPr txBox="1"/>
          <p:nvPr/>
        </p:nvSpPr>
        <p:spPr>
          <a:xfrm>
            <a:off x="5640889" y="1398888"/>
            <a:ext cx="2343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Sets environment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74E5C-B433-55BE-15F9-6023331B20AA}"/>
              </a:ext>
            </a:extLst>
          </p:cNvPr>
          <p:cNvSpPr txBox="1"/>
          <p:nvPr/>
        </p:nvSpPr>
        <p:spPr>
          <a:xfrm>
            <a:off x="5527714" y="2044214"/>
            <a:ext cx="2730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Determines the ports to be 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01AB9D-FCAC-7C48-725C-98612FC5B33B}"/>
              </a:ext>
            </a:extLst>
          </p:cNvPr>
          <p:cNvSpPr txBox="1"/>
          <p:nvPr/>
        </p:nvSpPr>
        <p:spPr>
          <a:xfrm>
            <a:off x="5521950" y="2351991"/>
            <a:ext cx="32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Container starts in the background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E2F4BDB-CAAD-3957-DE91-76F80304BACA}"/>
              </a:ext>
            </a:extLst>
          </p:cNvPr>
          <p:cNvSpPr/>
          <p:nvPr/>
        </p:nvSpPr>
        <p:spPr>
          <a:xfrm flipH="1">
            <a:off x="5124514" y="2735387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9C75F6-8BC0-3E8D-44BA-2D531280A63A}"/>
              </a:ext>
            </a:extLst>
          </p:cNvPr>
          <p:cNvSpPr txBox="1"/>
          <p:nvPr/>
        </p:nvSpPr>
        <p:spPr>
          <a:xfrm>
            <a:off x="5606036" y="2699149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container image to use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B4E5B35-F962-0A7D-CE45-84182AAC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22" y="3385899"/>
            <a:ext cx="7442556" cy="133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46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4D54B-83F4-19A8-B1E7-92D3E70D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4D67B-DB89-1D5C-ACEE-D82F8277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Setup for Development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EAB37E1-014B-437C-A647-3C496B8A379E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D36DE0CB-108B-1002-2EB6-695D7BFAE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00" y="1593470"/>
            <a:ext cx="3101400" cy="3328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00E156-B388-478D-DBF3-72ECCAD35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727" y="1665249"/>
            <a:ext cx="4952381" cy="3185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5FC5E6-66E9-00F8-A231-1B4E9E1CF940}"/>
              </a:ext>
            </a:extLst>
          </p:cNvPr>
          <p:cNvSpPr txBox="1"/>
          <p:nvPr/>
        </p:nvSpPr>
        <p:spPr>
          <a:xfrm>
            <a:off x="1368000" y="965236"/>
            <a:ext cx="686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Tools like Microsoft SQL Server Studio, and the </a:t>
            </a:r>
            <a:r>
              <a:rPr lang="en-US" dirty="0" err="1">
                <a:solidFill>
                  <a:schemeClr val="bg1"/>
                </a:solidFill>
              </a:rPr>
              <a:t>mssql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vscode</a:t>
            </a:r>
            <a:r>
              <a:rPr lang="en-US" dirty="0">
                <a:solidFill>
                  <a:schemeClr val="bg1"/>
                </a:solidFill>
              </a:rPr>
              <a:t> extension can be used to help manage our database.</a:t>
            </a:r>
          </a:p>
        </p:txBody>
      </p:sp>
    </p:spTree>
    <p:extLst>
      <p:ext uri="{BB962C8B-B14F-4D97-AF65-F5344CB8AC3E}">
        <p14:creationId xmlns:p14="http://schemas.microsoft.com/office/powerpoint/2010/main" val="374732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547C-6A9E-EB56-6397-2DBDCBBB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6FF4-85E0-5DA2-5B11-E45F9DF3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Starting Commands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B1ED-3E13-D8A3-CF73-F7063C627A79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F1A4A78-4F1D-E465-AF19-FA10A4987A23}"/>
              </a:ext>
            </a:extLst>
          </p:cNvPr>
          <p:cNvSpPr txBox="1"/>
          <p:nvPr/>
        </p:nvSpPr>
        <p:spPr>
          <a:xfrm>
            <a:off x="947894" y="1536181"/>
            <a:ext cx="56522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DATABASE Project1;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USE Project1;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SCHEMA p1;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C3E0CA3-B738-68BD-E246-51C1BAC9323A}"/>
              </a:ext>
            </a:extLst>
          </p:cNvPr>
          <p:cNvSpPr/>
          <p:nvPr/>
        </p:nvSpPr>
        <p:spPr>
          <a:xfrm flipH="1">
            <a:off x="3774033" y="1536181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A8876EC-3EF5-F104-803F-6FD1607283D2}"/>
              </a:ext>
            </a:extLst>
          </p:cNvPr>
          <p:cNvSpPr/>
          <p:nvPr/>
        </p:nvSpPr>
        <p:spPr>
          <a:xfrm flipH="1">
            <a:off x="3774033" y="1984235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F434974-1170-39AB-84B6-61946593FBDA}"/>
              </a:ext>
            </a:extLst>
          </p:cNvPr>
          <p:cNvSpPr/>
          <p:nvPr/>
        </p:nvSpPr>
        <p:spPr>
          <a:xfrm flipH="1">
            <a:off x="3774033" y="2452950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467F44-06A4-391C-E2CA-0967FC82E50D}"/>
              </a:ext>
            </a:extLst>
          </p:cNvPr>
          <p:cNvSpPr txBox="1"/>
          <p:nvPr/>
        </p:nvSpPr>
        <p:spPr>
          <a:xfrm>
            <a:off x="4177233" y="1510194"/>
            <a:ext cx="4562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Database houses tables.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622B09-04BB-E1A9-16A1-1B85157D49AC}"/>
              </a:ext>
            </a:extLst>
          </p:cNvPr>
          <p:cNvSpPr txBox="1"/>
          <p:nvPr/>
        </p:nvSpPr>
        <p:spPr>
          <a:xfrm>
            <a:off x="4177233" y="1955280"/>
            <a:ext cx="4317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Switch to a target database to issue commands.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294C6-A056-0F7A-711B-2BD0CE5F7FBD}"/>
              </a:ext>
            </a:extLst>
          </p:cNvPr>
          <p:cNvSpPr txBox="1"/>
          <p:nvPr/>
        </p:nvSpPr>
        <p:spPr>
          <a:xfrm>
            <a:off x="4177233" y="2364961"/>
            <a:ext cx="43170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Creates a schema, which holds our tables and other configuration data which may be placed inside. This is a Microsoft SQL Server feature specifically and shouldn’t be confused with the broader term ‘database schema’.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schema in Microsoft SQL Server may also have security rules applied. I.e. database users may have varying levels of access to tables &amp; queries.</a:t>
            </a:r>
          </a:p>
        </p:txBody>
      </p:sp>
    </p:spTree>
    <p:extLst>
      <p:ext uri="{BB962C8B-B14F-4D97-AF65-F5344CB8AC3E}">
        <p14:creationId xmlns:p14="http://schemas.microsoft.com/office/powerpoint/2010/main" val="3944813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F8506-803C-6E89-4DE5-6C07F703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E880-343B-8D30-52F6-9EA623F48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Starting Commands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D66A9E-B40A-E766-2B35-10CC7387E49E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83BC3B-DB2F-1D43-09A3-B21D6C64A104}"/>
              </a:ext>
            </a:extLst>
          </p:cNvPr>
          <p:cNvSpPr txBox="1"/>
          <p:nvPr/>
        </p:nvSpPr>
        <p:spPr>
          <a:xfrm>
            <a:off x="3584468" y="919530"/>
            <a:ext cx="2185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2"/>
              </a:rPr>
              <a:t>SQL Datatype Reference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40D34-ECB8-0B04-0AAE-12C4B9673CF3}"/>
              </a:ext>
            </a:extLst>
          </p:cNvPr>
          <p:cNvSpPr txBox="1"/>
          <p:nvPr/>
        </p:nvSpPr>
        <p:spPr>
          <a:xfrm>
            <a:off x="2999475" y="2986489"/>
            <a:ext cx="335519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SQL Constraints </a:t>
            </a:r>
            <a:r>
              <a:rPr lang="en-US" sz="1600" dirty="0">
                <a:solidFill>
                  <a:schemeClr val="bg1"/>
                </a:solidFill>
              </a:rPr>
              <a:t>specify rules for data in a table.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accent3"/>
                </a:solidFill>
              </a:rPr>
              <a:t>PRIMARY KEY </a:t>
            </a:r>
            <a:r>
              <a:rPr lang="en-US" sz="1200" dirty="0">
                <a:solidFill>
                  <a:schemeClr val="bg1"/>
                </a:solidFill>
              </a:rPr>
              <a:t>= combo of ‘NOT NULL’ and ‘UNIQUE’.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accent3"/>
                </a:solidFill>
              </a:rPr>
              <a:t>IDENTITY</a:t>
            </a:r>
            <a:r>
              <a:rPr lang="en-US" sz="1200" dirty="0">
                <a:solidFill>
                  <a:schemeClr val="bg1"/>
                </a:solidFill>
              </a:rPr>
              <a:t> = Generates ids by incrementing numbers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B2F4E5-07DA-6ABA-EA91-9B72906AE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650" y="1349555"/>
            <a:ext cx="4829849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5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B890-0CB3-C3A4-0A40-86D75EC3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Challenge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27513-341F-981E-5D5E-619F62E2C4BC}"/>
              </a:ext>
            </a:extLst>
          </p:cNvPr>
          <p:cNvSpPr txBox="1"/>
          <p:nvPr/>
        </p:nvSpPr>
        <p:spPr>
          <a:xfrm>
            <a:off x="779228" y="1327868"/>
            <a:ext cx="19878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database and insert a record.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5BA2C-C335-E1A0-7D63-C94522D8DFDA}"/>
              </a:ext>
            </a:extLst>
          </p:cNvPr>
          <p:cNvSpPr txBox="1"/>
          <p:nvPr/>
        </p:nvSpPr>
        <p:spPr>
          <a:xfrm>
            <a:off x="2830664" y="1327868"/>
            <a:ext cx="576469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 table to track pets, then create another to track pet owners (customers).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Pet table fields:</a:t>
            </a:r>
          </a:p>
          <a:p>
            <a:r>
              <a:rPr lang="en-US" dirty="0">
                <a:solidFill>
                  <a:schemeClr val="bg1"/>
                </a:solidFill>
              </a:rPr>
              <a:t>Name, birthday, id (int PRIMARY KEY IDENTITY),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Customer table fields:</a:t>
            </a:r>
          </a:p>
          <a:p>
            <a:r>
              <a:rPr lang="en-US" dirty="0">
                <a:solidFill>
                  <a:schemeClr val="bg1"/>
                </a:solidFill>
              </a:rPr>
              <a:t>Name, id (int PRIMARY KEY IDENTITY), phone, email, </a:t>
            </a:r>
            <a:r>
              <a:rPr lang="en-US" dirty="0" err="1">
                <a:solidFill>
                  <a:schemeClr val="bg1"/>
                </a:solidFill>
              </a:rPr>
              <a:t>isClubMember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subscriptionEndDate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Insert 1 sample record into each.</a:t>
            </a:r>
          </a:p>
        </p:txBody>
      </p:sp>
    </p:spTree>
    <p:extLst>
      <p:ext uri="{BB962C8B-B14F-4D97-AF65-F5344CB8AC3E}">
        <p14:creationId xmlns:p14="http://schemas.microsoft.com/office/powerpoint/2010/main" val="247408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82F20-60D6-F34B-6322-4096A638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0629-C2ED-4C01-B8A6-82345927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Constraints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10CAC-ED24-17A2-AA49-1FB95316267C}"/>
              </a:ext>
            </a:extLst>
          </p:cNvPr>
          <p:cNvSpPr txBox="1"/>
          <p:nvPr/>
        </p:nvSpPr>
        <p:spPr>
          <a:xfrm>
            <a:off x="2399770" y="1152000"/>
            <a:ext cx="4344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SQL Constraints may be table level or column level.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CA4DF-AF96-D1CE-1C0B-86FA9A585934}"/>
              </a:ext>
            </a:extLst>
          </p:cNvPr>
          <p:cNvSpPr txBox="1"/>
          <p:nvPr/>
        </p:nvSpPr>
        <p:spPr>
          <a:xfrm>
            <a:off x="1375199" y="1893600"/>
            <a:ext cx="639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NOT NULL </a:t>
            </a:r>
            <a:r>
              <a:rPr lang="en-US" dirty="0">
                <a:solidFill>
                  <a:schemeClr val="bg1"/>
                </a:solidFill>
              </a:rPr>
              <a:t>– Ensures that a column cannot have a NULL value.</a:t>
            </a:r>
          </a:p>
          <a:p>
            <a:r>
              <a:rPr lang="en-US" dirty="0">
                <a:solidFill>
                  <a:schemeClr val="accent3"/>
                </a:solidFill>
              </a:rPr>
              <a:t>UNIQUE</a:t>
            </a:r>
            <a:r>
              <a:rPr lang="en-US" dirty="0">
                <a:solidFill>
                  <a:schemeClr val="bg1"/>
                </a:solidFill>
              </a:rPr>
              <a:t> – Ensures that all values in a column are different.</a:t>
            </a:r>
          </a:p>
          <a:p>
            <a:r>
              <a:rPr lang="en-US" dirty="0">
                <a:solidFill>
                  <a:schemeClr val="accent3"/>
                </a:solidFill>
              </a:rPr>
              <a:t>PRIMARY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– A combination of a NOT NULL and UNIQUE. Uniquely identifies each row in a table.</a:t>
            </a:r>
          </a:p>
          <a:p>
            <a:r>
              <a:rPr lang="en-US" dirty="0">
                <a:solidFill>
                  <a:schemeClr val="accent3"/>
                </a:solidFill>
              </a:rPr>
              <a:t>FOREIGN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– Prevents actions that would destroy links between tables.</a:t>
            </a:r>
          </a:p>
          <a:p>
            <a:r>
              <a:rPr lang="en-US" dirty="0">
                <a:solidFill>
                  <a:schemeClr val="accent3"/>
                </a:solidFill>
              </a:rPr>
              <a:t>CHECK</a:t>
            </a:r>
            <a:r>
              <a:rPr lang="en-US" dirty="0">
                <a:solidFill>
                  <a:schemeClr val="bg1"/>
                </a:solidFill>
              </a:rPr>
              <a:t> – Ensures that the values in a column satisfies a specific condition.</a:t>
            </a:r>
          </a:p>
          <a:p>
            <a:r>
              <a:rPr lang="en-US" dirty="0">
                <a:solidFill>
                  <a:schemeClr val="accent3"/>
                </a:solidFill>
              </a:rPr>
              <a:t>DEFAULT</a:t>
            </a:r>
            <a:r>
              <a:rPr lang="en-US" dirty="0">
                <a:solidFill>
                  <a:schemeClr val="bg1"/>
                </a:solidFill>
              </a:rPr>
              <a:t> – Sets a default value for a column if no value is specified. </a:t>
            </a:r>
          </a:p>
          <a:p>
            <a:r>
              <a:rPr lang="en-US" dirty="0">
                <a:solidFill>
                  <a:schemeClr val="accent3"/>
                </a:solidFill>
              </a:rPr>
              <a:t>CREATE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INDEX</a:t>
            </a:r>
            <a:r>
              <a:rPr lang="en-US" dirty="0">
                <a:solidFill>
                  <a:schemeClr val="bg1"/>
                </a:solidFill>
              </a:rPr>
              <a:t> – Used to create and retrieve data from the database very quickly.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7AAFA-9ED0-B513-1A57-F24AAB9D1693}"/>
              </a:ext>
            </a:extLst>
          </p:cNvPr>
          <p:cNvSpPr txBox="1"/>
          <p:nvPr/>
        </p:nvSpPr>
        <p:spPr>
          <a:xfrm>
            <a:off x="2935171" y="1585823"/>
            <a:ext cx="3273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non-comprehensive list of examples:</a:t>
            </a:r>
          </a:p>
        </p:txBody>
      </p:sp>
    </p:spTree>
    <p:extLst>
      <p:ext uri="{BB962C8B-B14F-4D97-AF65-F5344CB8AC3E}">
        <p14:creationId xmlns:p14="http://schemas.microsoft.com/office/powerpoint/2010/main" val="1522929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92846-68FF-AFB6-8769-546D3038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BA4A-1D17-F5DC-019D-D6907D50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SQL Sublanguages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4DDE21-1C70-F1E1-4B58-93CC588E0729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05B9D9E-CD27-D33E-4BD5-4D12672D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312" y="1122365"/>
            <a:ext cx="4354524" cy="356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62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9BCE6696-F6F9-33DA-5243-07572B58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401F25B5-2398-D3C0-91C5-B37E969F924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Database Design</a:t>
            </a:r>
            <a:endParaRPr sz="28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47A025E6-FF94-2F18-1A36-0226EAD198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60FF0F95-6EDC-3080-E2CB-CF4C0E9FA5A5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E612976F-9866-0C91-57EA-9BE15A4AAA44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52DB0172-8045-A0C0-5782-E0C254D5B004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B25EC63C-BC29-22CB-4D0D-E9A2468BD697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6349B870-2F27-D137-44A3-FEA91F938845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3D764722-0410-6CE3-1B24-6D50798A8F65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30915B80-3692-A47C-471F-CC8FF6887C04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AB16F604-7DAD-2490-B05D-F89D3E02094A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D20E186C-DCF8-C1A6-B54F-7791A13EC760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55239AF6-85AF-9E93-03F6-AD1AB46E2E53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238F7FC0-05D2-EB40-2007-6C0DE77E8AC6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2E61F352-DAD8-6E2D-D71F-F16A745926F8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FA58DD81-EA07-734E-0F24-69124DA57F23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69100884-BB20-6F73-B3B3-2FDA6D10541A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D5B8D7FF-C542-56B8-6B27-B38E8B06598E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D3D4D4BB-29C2-A9A8-FD92-72C748224AE8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5EF61A60-6AD7-F566-1E70-70AA6BA69143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F20AA11C-BE98-CC7C-E7D5-0F4AC521C31C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7B530D33-136F-F8FF-6BD2-1507F0581FE3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E0D3B2C3-53E8-0163-D7B6-9B70DE1B22E8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2A979547-960E-567C-6071-76FC35EBEEE4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F0C3264E-C672-811A-5C48-F6779BD9B151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5F898BD8-8529-9B10-738E-EF5CC2422AA8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3AC31DC9-7BA5-EC0E-4ECC-03806CAEAA52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5287DF89-7A53-2236-E920-55EAF8FCF475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AA685131-8393-9911-B773-AACA2F410DBE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4D97418E-892B-CF22-B79D-B60A45762927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7503AA17-60F4-3D1A-D480-8C0B8F25527D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614D71B7-685C-639B-81A6-198377BC49C9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7063F504-6494-09C1-0EC1-24D915DB179E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BC9C084D-8038-AB08-541F-D2CD9BE64FA6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8264E709-17DB-3FB3-EE7C-A976DF09A5C7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8387BDFF-BC16-EFAF-0A4E-5559536C68C8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E20008B8-3A61-1673-CE6F-320B2B59E293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487ED4A0-08F6-2E18-F592-7F09A26C7180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6DA91DDB-7348-7885-C90B-A976248DFDDD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292F149F-07B8-A2D1-6C0F-26168D1ED1D1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6554015F-8476-0728-B024-9F171E4B85F7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A6D5459F-7720-2440-238D-C5156F821C45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D1B4E3BA-E84B-8CB3-5A73-7D7E15975EA4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924534C5-F048-85DC-EC41-C9B1A774F6E5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912BA0BB-FF7B-2BA1-3109-9CFCED078E67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B05B87D5-61C1-6F39-71A2-A6670ED36ED5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ACC5CB9E-F256-460C-6F35-7DF6ABBDD19A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1BAEF7DC-0F1E-38A3-CDFA-7F310261FD2C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8AD64A30-A197-42BD-904A-251A595DC865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57E84087-13F1-B04B-75A7-2EEBBF7A411E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2B3073AA-8FF5-051E-77F6-F0CA51B48401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6CAD192A-AA89-8265-B5F3-0673DECD2771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793DC733-9696-C590-8ACA-5E3B59F6C9BF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68C2E0AA-F2FC-B5F9-4449-0322E8813D22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186D49BF-C4DF-57B5-5C13-4208B9793FF5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78C11CB9-6CE6-E0DB-C132-968FC55BC8F8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70464EB6-83EB-893A-266E-644B8610FE7E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0767FAD0-AC89-0BE5-63C4-25CC29DC7EC2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F1A5A425-8F51-C53C-6D26-A08469CA6FFE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B0038F5D-9058-7A97-5180-2DCF5DB742E3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A611905D-DA5B-018F-3C6C-AEC32393A919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93620074-DDE4-F6B7-E6BE-1E6AFE7A5A2B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0A7E0CC0-ADFB-37BB-D166-ED0F9D3CC2E4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A38DE797-7125-D6A8-B75E-935481CC8BE9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D5E18672-F3A9-8D70-B547-C894E432EFBD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6265990B-CE24-AF52-B07A-E287FBECE0B6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71D9943A-E42E-D38D-4CA3-BCB97057691C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00A9CF1F-FDE7-9EA7-F997-57CE2FB611EE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CBA90F57-DE78-916C-28D8-C3834D28C718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7B0E6A9A-EAB6-F839-2F25-BF1ED8621D04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EAAAE6E4-3456-B972-442E-B6D3F5AECC18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3FC95F13-AD61-14CF-9BF0-FFAB7353D785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93F2B92B-D9E6-5D4E-C737-FF6DDFC43241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FE1929BE-3DE1-7642-2AE8-C0E93B050926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11F12C0C-03D0-0C1C-7896-25F3C8F0B957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FCC924E2-0507-5364-1607-27C8D2D58C8F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A6B33826-D292-8DC9-F0C4-27A068061F59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06D2C18B-524F-E35B-8A94-30EAE973E21F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28196F56-8027-8458-CAE2-85742C568917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D65AE51B-1534-5230-4A72-D7AF9FE6946B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D57281C4-4DFF-7372-5761-F986540F1343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41ECE584-6D53-75FF-C82E-438787572244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CAE29CA3-BF74-729D-1CD6-72E452FB43AD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CDA928F4-41BA-BEE5-B22B-F394F950A9DE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0FE90F48-6C7A-35AC-8D4D-9E50DD67409C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C87EFA9A-D683-A965-8C87-5682369166C7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051CABC0-EFEF-F2E7-7489-1F11D19B83AD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689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49264-3A54-8A18-2D05-05A291D4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BBE4-4132-B660-EEAF-E941EB37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Database Schema?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3D460F-94A9-5BEB-BF4F-93FF0B4D010F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9B8D8BD-311E-7801-862F-AE7D9632E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71" y="1705946"/>
            <a:ext cx="6708808" cy="27290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AF31B6-4B9C-99D0-6B79-1176621E4F9B}"/>
              </a:ext>
            </a:extLst>
          </p:cNvPr>
          <p:cNvSpPr txBox="1"/>
          <p:nvPr/>
        </p:nvSpPr>
        <p:spPr>
          <a:xfrm>
            <a:off x="3055355" y="1251711"/>
            <a:ext cx="3052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According to Google AI Overview….</a:t>
            </a:r>
          </a:p>
        </p:txBody>
      </p:sp>
    </p:spTree>
    <p:extLst>
      <p:ext uri="{BB962C8B-B14F-4D97-AF65-F5344CB8AC3E}">
        <p14:creationId xmlns:p14="http://schemas.microsoft.com/office/powerpoint/2010/main" val="204254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16DBF-E1A0-F330-BE31-4279FCBA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C31-14EB-DCBF-1F4D-8BAB4EF0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Three-Schema Approach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4712A5-C815-5ACE-AE11-C82B16199237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B7D664-E693-2220-2681-D388F6EDDD99}"/>
              </a:ext>
            </a:extLst>
          </p:cNvPr>
          <p:cNvSpPr txBox="1"/>
          <p:nvPr/>
        </p:nvSpPr>
        <p:spPr>
          <a:xfrm>
            <a:off x="402376" y="1335128"/>
            <a:ext cx="31028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External – each one describes part of the database that a particular user group is interested in</a:t>
            </a:r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Conceptual – describes the structure of the whole database including entities, relationships, data types, user operations, and constraints</a:t>
            </a:r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Physical – describes the physical storage structure of the database, i.e. storage medium, exact implementation details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BF6E7-DC26-8607-A2E8-850B12B70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772" y="1321835"/>
            <a:ext cx="4813213" cy="3088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D11D92-8A53-CAE7-1F9C-8FF60BB58CD7}"/>
              </a:ext>
            </a:extLst>
          </p:cNvPr>
          <p:cNvSpPr txBox="1"/>
          <p:nvPr/>
        </p:nvSpPr>
        <p:spPr>
          <a:xfrm>
            <a:off x="2229809" y="4754466"/>
            <a:ext cx="4403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Other specs may use: conceptual &gt; logical &gt; physical</a:t>
            </a:r>
          </a:p>
        </p:txBody>
      </p:sp>
    </p:spTree>
    <p:extLst>
      <p:ext uri="{BB962C8B-B14F-4D97-AF65-F5344CB8AC3E}">
        <p14:creationId xmlns:p14="http://schemas.microsoft.com/office/powerpoint/2010/main" val="132501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142E7-3D3F-ED63-E18C-7EA284A7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456B3-D8E6-F933-8EDB-9066F354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vs UML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026E77-CB8B-A6C2-5192-F264EB106656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F8544CE-31E8-4B8F-FA26-110BB0A834BB}"/>
              </a:ext>
            </a:extLst>
          </p:cNvPr>
          <p:cNvSpPr txBox="1"/>
          <p:nvPr/>
        </p:nvSpPr>
        <p:spPr>
          <a:xfrm>
            <a:off x="1137600" y="1327871"/>
            <a:ext cx="31610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UML = Unified Modeling Language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Broad modeling language for software development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Includes use case diagrams, class diagrams, deployment diagrams, </a:t>
            </a:r>
            <a:r>
              <a:rPr lang="en-US" dirty="0" err="1">
                <a:solidFill>
                  <a:schemeClr val="bg1"/>
                </a:solidFill>
              </a:rPr>
              <a:t>ect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A6C22-2C6F-9B73-A385-9C0F3ACE95FA}"/>
              </a:ext>
            </a:extLst>
          </p:cNvPr>
          <p:cNvSpPr txBox="1"/>
          <p:nvPr/>
        </p:nvSpPr>
        <p:spPr>
          <a:xfrm>
            <a:off x="4809715" y="1327871"/>
            <a:ext cx="31610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ERD = Entity Relationship Diagram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Focused on relational database design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Part of the conceptual/external stage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13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2658-987E-AA11-6FE3-B0D1AEEA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EC90-7E14-9429-EAF8-53867897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Level to Conceptual Level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7B0CB-8184-D7CC-EB5E-5DBC4B416A77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5A3F578-870D-6F2C-E378-459BA1E75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24" y="1505242"/>
            <a:ext cx="3379755" cy="29835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76642D-A10D-C9B8-1FDC-719B56A9A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87" y="1575293"/>
            <a:ext cx="3964307" cy="28434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D37330-D1CC-5E0F-33A4-896A35AB2CD1}"/>
              </a:ext>
            </a:extLst>
          </p:cNvPr>
          <p:cNvSpPr txBox="1"/>
          <p:nvPr/>
        </p:nvSpPr>
        <p:spPr>
          <a:xfrm>
            <a:off x="1153551" y="1160585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ERD: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31998-2B6C-371E-8A52-F94A9A0751A6}"/>
              </a:ext>
            </a:extLst>
          </p:cNvPr>
          <p:cNvSpPr txBox="1"/>
          <p:nvPr/>
        </p:nvSpPr>
        <p:spPr>
          <a:xfrm>
            <a:off x="4750387" y="1197465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Relational Schema:</a:t>
            </a:r>
          </a:p>
        </p:txBody>
      </p:sp>
    </p:spTree>
    <p:extLst>
      <p:ext uri="{BB962C8B-B14F-4D97-AF65-F5344CB8AC3E}">
        <p14:creationId xmlns:p14="http://schemas.microsoft.com/office/powerpoint/2010/main" val="2465071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AFA0-4EEF-3B87-62E5-29614DE0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31F7-0D74-83E1-0FD7-122901C6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Diagram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A37418-7173-A810-85E7-EC533396E8EB}"/>
              </a:ext>
            </a:extLst>
          </p:cNvPr>
          <p:cNvCxnSpPr/>
          <p:nvPr/>
        </p:nvCxnSpPr>
        <p:spPr>
          <a:xfrm>
            <a:off x="7227167" y="2125943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C484828-9EFA-46A1-3228-7D14F041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62" y="1353386"/>
            <a:ext cx="4165945" cy="367755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4C39D6D-CD4F-3067-7DFF-FE490113502D}"/>
              </a:ext>
            </a:extLst>
          </p:cNvPr>
          <p:cNvSpPr/>
          <p:nvPr/>
        </p:nvSpPr>
        <p:spPr>
          <a:xfrm flipH="1">
            <a:off x="4713539" y="2045843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F2E89AE-D2C7-126C-8859-4F462C347DD9}"/>
              </a:ext>
            </a:extLst>
          </p:cNvPr>
          <p:cNvSpPr/>
          <p:nvPr/>
        </p:nvSpPr>
        <p:spPr>
          <a:xfrm flipH="1">
            <a:off x="4644171" y="2345543"/>
            <a:ext cx="472568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55DA382-30E1-C6CA-73B1-66996394EA5B}"/>
              </a:ext>
            </a:extLst>
          </p:cNvPr>
          <p:cNvSpPr/>
          <p:nvPr/>
        </p:nvSpPr>
        <p:spPr>
          <a:xfrm flipH="1">
            <a:off x="4644171" y="2780572"/>
            <a:ext cx="472568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C0D1E-4E96-5007-10AA-8697CCAEDD4E}"/>
              </a:ext>
            </a:extLst>
          </p:cNvPr>
          <p:cNvSpPr txBox="1"/>
          <p:nvPr/>
        </p:nvSpPr>
        <p:spPr>
          <a:xfrm>
            <a:off x="5116739" y="1994225"/>
            <a:ext cx="3853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Keys</a:t>
            </a:r>
            <a:r>
              <a:rPr lang="en-US" dirty="0">
                <a:solidFill>
                  <a:schemeClr val="bg1"/>
                </a:solidFill>
              </a:rPr>
              <a:t> are represented as underlined </a:t>
            </a:r>
            <a:r>
              <a:rPr lang="en-US" dirty="0">
                <a:solidFill>
                  <a:schemeClr val="accent3"/>
                </a:solidFill>
              </a:rPr>
              <a:t>attributes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79EB7-32D5-0A58-5210-A393C72A0B7E}"/>
              </a:ext>
            </a:extLst>
          </p:cNvPr>
          <p:cNvSpPr txBox="1"/>
          <p:nvPr/>
        </p:nvSpPr>
        <p:spPr>
          <a:xfrm>
            <a:off x="5116739" y="2310454"/>
            <a:ext cx="3248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Entities</a:t>
            </a:r>
            <a:r>
              <a:rPr lang="en-US" dirty="0">
                <a:solidFill>
                  <a:schemeClr val="bg1"/>
                </a:solidFill>
              </a:rPr>
              <a:t> are represented as rectangles.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2C67F-5CD1-4765-E35D-61BCD0934D37}"/>
              </a:ext>
            </a:extLst>
          </p:cNvPr>
          <p:cNvSpPr txBox="1"/>
          <p:nvPr/>
        </p:nvSpPr>
        <p:spPr>
          <a:xfrm>
            <a:off x="5111748" y="2733214"/>
            <a:ext cx="3685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Relationships</a:t>
            </a:r>
            <a:r>
              <a:rPr lang="en-US" dirty="0">
                <a:solidFill>
                  <a:schemeClr val="bg1"/>
                </a:solidFill>
              </a:rPr>
              <a:t> are represented as diamonds.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F8D4E-3C7D-73C8-D701-FA163CDBE55C}"/>
              </a:ext>
            </a:extLst>
          </p:cNvPr>
          <p:cNvSpPr txBox="1"/>
          <p:nvPr/>
        </p:nvSpPr>
        <p:spPr>
          <a:xfrm>
            <a:off x="5246914" y="3050304"/>
            <a:ext cx="34152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must have unique values for each individual </a:t>
            </a:r>
            <a:r>
              <a:rPr lang="en-US" dirty="0">
                <a:solidFill>
                  <a:schemeClr val="accent3"/>
                </a:solidFill>
              </a:rPr>
              <a:t>entity</a:t>
            </a:r>
            <a:r>
              <a:rPr lang="en-US" dirty="0">
                <a:solidFill>
                  <a:schemeClr val="bg1"/>
                </a:solidFill>
              </a:rPr>
              <a:t> within the </a:t>
            </a:r>
            <a:r>
              <a:rPr lang="en-US" dirty="0">
                <a:solidFill>
                  <a:schemeClr val="accent3"/>
                </a:solidFill>
              </a:rPr>
              <a:t>entity set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There can be more than one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at a time.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Composite attributes </a:t>
            </a:r>
            <a:r>
              <a:rPr lang="en-US" dirty="0">
                <a:solidFill>
                  <a:schemeClr val="bg1"/>
                </a:solidFill>
              </a:rPr>
              <a:t>can make a key. i.e. a state + Drivers License #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An entity may have NO KEY, these are called </a:t>
            </a:r>
            <a:r>
              <a:rPr lang="en-US" dirty="0">
                <a:solidFill>
                  <a:schemeClr val="accent3"/>
                </a:solidFill>
              </a:rPr>
              <a:t>weak entity types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A5EE9-992A-B390-9B80-0EC7474F2C3F}"/>
              </a:ext>
            </a:extLst>
          </p:cNvPr>
          <p:cNvSpPr txBox="1"/>
          <p:nvPr/>
        </p:nvSpPr>
        <p:spPr>
          <a:xfrm>
            <a:off x="5111748" y="1721215"/>
            <a:ext cx="3045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Attributes</a:t>
            </a:r>
            <a:r>
              <a:rPr lang="en-US" dirty="0">
                <a:solidFill>
                  <a:schemeClr val="bg1"/>
                </a:solidFill>
              </a:rPr>
              <a:t> are represented as ovals.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3D6A463-06BF-D950-27E7-3EA68A352574}"/>
              </a:ext>
            </a:extLst>
          </p:cNvPr>
          <p:cNvSpPr/>
          <p:nvPr/>
        </p:nvSpPr>
        <p:spPr>
          <a:xfrm flipH="1">
            <a:off x="4587650" y="1784564"/>
            <a:ext cx="524098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2533F4-3760-5912-DF8E-5CCF2682A67F}"/>
              </a:ext>
            </a:extLst>
          </p:cNvPr>
          <p:cNvSpPr txBox="1"/>
          <p:nvPr/>
        </p:nvSpPr>
        <p:spPr>
          <a:xfrm>
            <a:off x="2722872" y="932217"/>
            <a:ext cx="4384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ERDs describe entities, relationships, and attributes.</a:t>
            </a:r>
          </a:p>
        </p:txBody>
      </p:sp>
    </p:spTree>
    <p:extLst>
      <p:ext uri="{BB962C8B-B14F-4D97-AF65-F5344CB8AC3E}">
        <p14:creationId xmlns:p14="http://schemas.microsoft.com/office/powerpoint/2010/main" val="3586542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1324-BADD-B76F-4C2A-770D84D2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3905-4043-5D42-60A1-A514CF43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Diagram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536A91-14AD-AB79-FBC6-AA1056CB8CBF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E6E8BE6-18CB-18AF-2595-3DFA231A1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95" y="1106643"/>
            <a:ext cx="4165945" cy="3677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175B52-95A2-E495-EF6D-2F8809952D7C}"/>
              </a:ext>
            </a:extLst>
          </p:cNvPr>
          <p:cNvSpPr txBox="1"/>
          <p:nvPr/>
        </p:nvSpPr>
        <p:spPr>
          <a:xfrm>
            <a:off x="5029343" y="1106643"/>
            <a:ext cx="34804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There are several attribute types: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Simple (atomic) attributes </a:t>
            </a:r>
            <a:r>
              <a:rPr lang="en-US" dirty="0">
                <a:solidFill>
                  <a:schemeClr val="bg1"/>
                </a:solidFill>
              </a:rPr>
              <a:t>– data point that can’t be broken down further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Composite attributes </a:t>
            </a:r>
            <a:r>
              <a:rPr lang="en-US" dirty="0">
                <a:solidFill>
                  <a:schemeClr val="bg1"/>
                </a:solidFill>
              </a:rPr>
              <a:t>– an address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Single-Valued</a:t>
            </a:r>
            <a:r>
              <a:rPr lang="en-US" dirty="0">
                <a:solidFill>
                  <a:schemeClr val="bg1"/>
                </a:solidFill>
              </a:rPr>
              <a:t> – singular value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Multi-Valued</a:t>
            </a:r>
            <a:r>
              <a:rPr lang="en-US" dirty="0">
                <a:solidFill>
                  <a:schemeClr val="bg1"/>
                </a:solidFill>
              </a:rPr>
              <a:t> – multiple values in field, e.g. 2-tone cars may have multiple entries in a COLOR field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Derived </a:t>
            </a:r>
            <a:r>
              <a:rPr lang="en-US" dirty="0">
                <a:solidFill>
                  <a:schemeClr val="bg1"/>
                </a:solidFill>
              </a:rPr>
              <a:t>– Field that gets its value from other fields; e.g. AGE can be calculated from today’s date + BDAY field.</a:t>
            </a:r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Stored </a:t>
            </a:r>
            <a:r>
              <a:rPr lang="en-US" dirty="0">
                <a:solidFill>
                  <a:schemeClr val="bg1"/>
                </a:solidFill>
              </a:rPr>
              <a:t>– Data is stored in database. Contrast to Derived.</a:t>
            </a:r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NULL</a:t>
            </a:r>
            <a:r>
              <a:rPr lang="en-US" dirty="0">
                <a:solidFill>
                  <a:schemeClr val="bg1"/>
                </a:solidFill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4048161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D546-6EF2-3FFA-FD49-C9E79D7B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4D23-8683-98D0-0F5C-926862A9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Attributes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DAD9DE-B5C5-9DAC-6DB9-B4064F7A3C3E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9E3A4F-14BB-5482-76F5-907999BC098B}"/>
              </a:ext>
            </a:extLst>
          </p:cNvPr>
          <p:cNvSpPr txBox="1"/>
          <p:nvPr/>
        </p:nvSpPr>
        <p:spPr>
          <a:xfrm>
            <a:off x="713224" y="1879200"/>
            <a:ext cx="82420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accent3"/>
                </a:solidFill>
              </a:rPr>
              <a:t>Complex attributes </a:t>
            </a:r>
            <a:r>
              <a:rPr lang="en-US" dirty="0">
                <a:solidFill>
                  <a:schemeClr val="bg1"/>
                </a:solidFill>
              </a:rPr>
              <a:t>– muti-valued and composite attributes may be nested arbitrarily: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Address_phone</a:t>
            </a:r>
            <a:r>
              <a:rPr lang="en-US" dirty="0">
                <a:solidFill>
                  <a:schemeClr val="bg1"/>
                </a:solidFill>
              </a:rPr>
              <a:t>( 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		{Phone(</a:t>
            </a:r>
            <a:r>
              <a:rPr lang="en-US" dirty="0" err="1">
                <a:solidFill>
                  <a:schemeClr val="bg1"/>
                </a:solidFill>
              </a:rPr>
              <a:t>Area_code,Phone_number</a:t>
            </a:r>
            <a:r>
              <a:rPr lang="en-US" dirty="0">
                <a:solidFill>
                  <a:schemeClr val="bg1"/>
                </a:solidFill>
              </a:rPr>
              <a:t>)},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		Address(</a:t>
            </a:r>
            <a:r>
              <a:rPr lang="en-US" dirty="0" err="1">
                <a:solidFill>
                  <a:schemeClr val="bg1"/>
                </a:solidFill>
              </a:rPr>
              <a:t>Street_address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Number,Street,Apartment_number</a:t>
            </a:r>
            <a:r>
              <a:rPr lang="en-US" dirty="0">
                <a:solidFill>
                  <a:schemeClr val="bg1"/>
                </a:solidFill>
              </a:rPr>
              <a:t>),</a:t>
            </a:r>
            <a:r>
              <a:rPr lang="en-US" dirty="0" err="1">
                <a:solidFill>
                  <a:schemeClr val="bg1"/>
                </a:solidFill>
              </a:rPr>
              <a:t>City,State,Zip</a:t>
            </a:r>
            <a:r>
              <a:rPr lang="en-US" dirty="0">
                <a:solidFill>
                  <a:schemeClr val="bg1"/>
                </a:solidFill>
              </a:rPr>
              <a:t>) 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	)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E93CB-7024-BFD5-A53A-B06A3A573F1C}"/>
              </a:ext>
            </a:extLst>
          </p:cNvPr>
          <p:cNvSpPr txBox="1"/>
          <p:nvPr/>
        </p:nvSpPr>
        <p:spPr>
          <a:xfrm>
            <a:off x="3724829" y="3998685"/>
            <a:ext cx="2218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{} = Multi-Valued Attribute</a:t>
            </a:r>
          </a:p>
          <a:p>
            <a:r>
              <a:rPr lang="en-US" dirty="0">
                <a:solidFill>
                  <a:schemeClr val="accent3"/>
                </a:solidFill>
              </a:rPr>
              <a:t>() = Composite Attribute</a:t>
            </a:r>
          </a:p>
        </p:txBody>
      </p:sp>
    </p:spTree>
    <p:extLst>
      <p:ext uri="{BB962C8B-B14F-4D97-AF65-F5344CB8AC3E}">
        <p14:creationId xmlns:p14="http://schemas.microsoft.com/office/powerpoint/2010/main" val="1217409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EB22-FCFC-F8FC-9922-1F9D6492A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8EBD-BB18-C550-0AF1-834E16A2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B089D0-BFBB-0714-BF2B-9D604F3303B1}"/>
              </a:ext>
            </a:extLst>
          </p:cNvPr>
          <p:cNvCxnSpPr/>
          <p:nvPr/>
        </p:nvCxnSpPr>
        <p:spPr>
          <a:xfrm>
            <a:off x="7161739" y="1326307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BD1F19F-EF31-1ED4-3921-764E3A6FB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95" y="1403497"/>
            <a:ext cx="3542615" cy="2839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CFAB63-717D-FF21-FD6B-9CB6748D9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309" y="1403498"/>
            <a:ext cx="3542616" cy="29100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A7B2F0-39E4-1BF3-A17F-E4C118C6F674}"/>
              </a:ext>
            </a:extLst>
          </p:cNvPr>
          <p:cNvSpPr txBox="1"/>
          <p:nvPr/>
        </p:nvSpPr>
        <p:spPr>
          <a:xfrm>
            <a:off x="891989" y="1095721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Binary Degree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B9B0E-EC8B-54C6-11C6-3A2AC8180E34}"/>
              </a:ext>
            </a:extLst>
          </p:cNvPr>
          <p:cNvSpPr txBox="1"/>
          <p:nvPr/>
        </p:nvSpPr>
        <p:spPr>
          <a:xfrm>
            <a:off x="5311883" y="1095721"/>
            <a:ext cx="1436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Ternary Degree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6915AF-2EE7-2ED9-0E6A-20DECB5C0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10" y="4160876"/>
            <a:ext cx="3746082" cy="80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29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443D-DE20-FC9B-1C87-6728DB9F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C983-808F-74D8-8CD9-83D253DD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9519B3-5C93-83F6-C095-C27B0991A2B8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001474-53DA-5889-4397-06E44D93438F}"/>
              </a:ext>
            </a:extLst>
          </p:cNvPr>
          <p:cNvSpPr txBox="1"/>
          <p:nvPr/>
        </p:nvSpPr>
        <p:spPr>
          <a:xfrm>
            <a:off x="3349549" y="1136418"/>
            <a:ext cx="2444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Recursive(Self) Relationship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8EA165-84DB-05B8-EACA-E7C64DEA4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00" y="1705937"/>
            <a:ext cx="4050029" cy="30782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15540E-1EB4-12AA-5D7E-2C22A4AA6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319" y="1879200"/>
            <a:ext cx="2993425" cy="275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91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2D7A3-65B5-14CB-03C2-11D3C72F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A7C6-1C5C-B025-35F0-206E493F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Constraints on Binary Relationships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A283A7-FD5D-937B-6585-5D586C6CD070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A96C7E-21DE-4F7E-DD74-49EDBF5894A3}"/>
              </a:ext>
            </a:extLst>
          </p:cNvPr>
          <p:cNvSpPr txBox="1"/>
          <p:nvPr/>
        </p:nvSpPr>
        <p:spPr>
          <a:xfrm>
            <a:off x="3481501" y="907811"/>
            <a:ext cx="1955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Structural Constraints: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11825-8C86-45E0-5361-DFD15A95B8E7}"/>
              </a:ext>
            </a:extLst>
          </p:cNvPr>
          <p:cNvSpPr txBox="1"/>
          <p:nvPr/>
        </p:nvSpPr>
        <p:spPr>
          <a:xfrm>
            <a:off x="1349874" y="1260088"/>
            <a:ext cx="2364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Cardinality Ratio Constraint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D5436-8F7C-3487-ED9B-091E69CAE6E1}"/>
              </a:ext>
            </a:extLst>
          </p:cNvPr>
          <p:cNvSpPr txBox="1"/>
          <p:nvPr/>
        </p:nvSpPr>
        <p:spPr>
          <a:xfrm>
            <a:off x="4894373" y="1265377"/>
            <a:ext cx="203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Participation Constraint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77705-DB26-F940-EFBA-A6EA7D470CEE}"/>
              </a:ext>
            </a:extLst>
          </p:cNvPr>
          <p:cNvSpPr txBox="1"/>
          <p:nvPr/>
        </p:nvSpPr>
        <p:spPr>
          <a:xfrm>
            <a:off x="1206184" y="1567865"/>
            <a:ext cx="26972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Specifies the maximum number of relationship instances that an entity can participate in. Either: </a:t>
            </a:r>
            <a:r>
              <a:rPr lang="en-US" dirty="0">
                <a:solidFill>
                  <a:schemeClr val="accent3"/>
                </a:solidFill>
              </a:rPr>
              <a:t>1:N, N:1, 1:1, M:N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12802-F876-3FEA-BF55-64E63783AD58}"/>
              </a:ext>
            </a:extLst>
          </p:cNvPr>
          <p:cNvSpPr txBox="1"/>
          <p:nvPr/>
        </p:nvSpPr>
        <p:spPr>
          <a:xfrm>
            <a:off x="4680811" y="1601835"/>
            <a:ext cx="26972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Specifies the minimum number of relationship instances that each entity can participate in.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978ED6-E9F6-6526-95E9-30A410CE2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66" y="3036985"/>
            <a:ext cx="4728470" cy="1017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510D1B-4C62-7B90-B935-CF17207E2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66" y="4054504"/>
            <a:ext cx="4728470" cy="8768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819DDD-E4D2-C22E-78E7-811F16070DFE}"/>
              </a:ext>
            </a:extLst>
          </p:cNvPr>
          <p:cNvSpPr txBox="1"/>
          <p:nvPr/>
        </p:nvSpPr>
        <p:spPr>
          <a:xfrm>
            <a:off x="5356436" y="3165285"/>
            <a:ext cx="33315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Total Participation </a:t>
            </a:r>
            <a:r>
              <a:rPr lang="en-US" dirty="0">
                <a:solidFill>
                  <a:schemeClr val="bg1"/>
                </a:solidFill>
              </a:rPr>
              <a:t>– Every dept needs 1 or many employees and every employee must have 1 dept. 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Partial Participation </a:t>
            </a:r>
            <a:r>
              <a:rPr lang="en-US" dirty="0">
                <a:solidFill>
                  <a:schemeClr val="bg1"/>
                </a:solidFill>
              </a:rPr>
              <a:t>– 1 employee must manage each department. But every employee need not be a manager. </a:t>
            </a:r>
          </a:p>
        </p:txBody>
      </p:sp>
    </p:spTree>
    <p:extLst>
      <p:ext uri="{BB962C8B-B14F-4D97-AF65-F5344CB8AC3E}">
        <p14:creationId xmlns:p14="http://schemas.microsoft.com/office/powerpoint/2010/main" val="3872803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1C8AB-37A9-D0C4-F624-9CB0A290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5EF2-63E8-3DE7-C566-24A1B2E6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Attributes of Relationship Types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13162F-F451-729E-7FBC-B2BCC1A02411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7EC201-E73E-E5BC-484C-42C928329569}"/>
              </a:ext>
            </a:extLst>
          </p:cNvPr>
          <p:cNvSpPr txBox="1"/>
          <p:nvPr/>
        </p:nvSpPr>
        <p:spPr>
          <a:xfrm>
            <a:off x="5394251" y="1300564"/>
            <a:ext cx="26972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M:N relationships, the attribute MUST be represented on the relationship.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DE953D-3F1C-4B22-D41E-BD4F7034F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07" y="933965"/>
            <a:ext cx="4069436" cy="1253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AFE6A6-7302-4F9B-F75A-078B373E8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16" y="2296983"/>
            <a:ext cx="4069437" cy="12454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5A0433-4D9F-A392-BB2A-4DC9A23C5000}"/>
              </a:ext>
            </a:extLst>
          </p:cNvPr>
          <p:cNvSpPr txBox="1"/>
          <p:nvPr/>
        </p:nvSpPr>
        <p:spPr>
          <a:xfrm>
            <a:off x="5326995" y="2523171"/>
            <a:ext cx="2959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1:1 relationships, the attribute may be migrated to either of the participating entity types. (Total participation side is preferred)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 1:N relationships, the attribute may be migrated to the N side of the relationship. 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D6DC27D-6417-846E-58D2-DEB2B7570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07" y="3651124"/>
            <a:ext cx="4069437" cy="128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60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E99D8BB9-86E3-9EA6-727D-B37AE353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FF9320BB-214D-CC52-61FA-A40E9E86508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Database Normalization</a:t>
            </a:r>
            <a:endParaRPr sz="28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CB7588AA-0D2A-6E7C-A7D8-266C08DF36C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D62D7005-0354-7CD2-7AFD-4343FF2D2BDE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5AB51B84-635D-C00C-2DA8-A03F847B2829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76BA5F4A-9A51-26B4-6020-0A2EEFB7F19C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4E4483DC-607B-0D9B-B16F-3D42669018CD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1B07C92C-FFC7-45C5-D1A5-8E1CBDC5463F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09C46E00-2B56-4BFE-A553-96F12C417681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2FB80E0E-2F33-C4CF-1526-17662AA30288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051F598A-F58A-0291-362A-5ECC7E0B246C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27E8C7AB-79C9-B605-9962-039345F4ED7F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71878738-254A-D8C7-4197-D079641D7994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D8F9D3B0-30AF-4B21-23B3-E043AC124D92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8AAC2226-B4CF-C443-DA46-C29FD17B8F23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A923B369-1358-BC2B-1720-4B66231C1E8B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08D071A4-8236-6E03-6751-F49EFEE3C3C6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0A937B66-3E67-5AF9-4D7F-5DADC9A409CA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84939E06-A2C6-D55E-F6D0-947916077553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738C7590-2367-0422-A6C0-11DCB54EE228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2BACA038-80AE-7A31-36BF-D9F52A637069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8FE5924C-E4E6-E7DD-62E1-52749BC2AFB2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C738E85C-E259-2234-C5E3-2303DF3093AD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6693CE45-C889-E83A-9ACE-94DF1068E753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158A5D26-F716-35CE-76B1-658324F0AFE1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930A0455-4CAD-4EBC-726B-A81C77A7CFAE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3608B0C3-5B5D-22EB-1F2C-C93C59B44ABB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54AC3348-3FF4-526C-7422-42F7DC587222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282A66D1-27E7-0625-34CE-6191C34C4E8D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38D96BF2-BEDF-1F45-2CA3-9583080EB476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722DA360-23C9-75ED-9A07-BA90AB86314C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E676848B-EDAF-351D-A082-42C411286F27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A05EB720-ADCE-D9B7-F0DC-AFAC7FAF5257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E711FC2A-F3B2-412B-5556-692E330E7E91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B6B0B062-0750-910E-73DE-8FE64AAAD471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AA330B80-1AA0-F58A-74C5-B4E33CEC65E8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9F86AD56-E7EB-7538-EBDF-3158BE48101A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7A94B106-8346-36BE-40DE-55B3B8535597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A4C6F2F3-8D0D-03E3-E212-16EB823EB866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8398926F-5262-0A21-6DCD-A800C83CD3D1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37093730-9D17-9006-3CDF-109636EF4541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18B065F3-30F7-CF5D-6B57-BAD59674D456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BCAAFDBC-7E19-C90E-04B1-9C64D23EBE89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638798E4-ACD7-C1B4-5481-640AB6D6CC33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5E22BE69-6320-F355-B1A0-C4236395CA95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3E192EBC-8EC7-8D51-9933-36746B80001C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7A459DB0-FF9A-A324-5515-8792B15C159B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60EE1CFA-1DC9-82F5-6994-C4BAF4B3FDBF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28C002AC-B1AC-E546-F07B-4E4839C5C1B0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00D2F4C4-B157-81FB-AD2B-EAC0910D7E67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C1AD7518-442B-46A5-35BA-9A3E0AA14E7D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27AFC73E-80EA-0012-D4BD-8A3941F66777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3F7A5F5B-5513-EFE1-55B5-B2E02EE12477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E3FF56BB-2930-D12D-246F-47624AE18D7E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96434627-B06B-4130-8236-8659D01DA65D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21D75E98-7300-940F-47DE-11C3D8C784A4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BF7E2D1F-F406-D4C5-AB68-53113A4D9BDD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074160F4-A954-4C4D-C33E-EDE42EEE0167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58E0237C-700C-50E9-0FF4-A464670C406D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0245EE7D-40D8-8CDC-CB5B-629F9E43E8EB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0D8D69F1-2A58-B997-4515-4BEA6EB7985E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8F68D9C9-5F4B-12AA-18FD-96CE363C0558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84790106-0D77-0AE9-E2E8-039870DEA1CC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3DCC8211-BA70-164C-95E8-75B6709E8DCD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FCD0F460-59B7-A28F-BDD3-EE87DEAE5EFB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493643C1-2254-5179-4945-B77515F1D5AC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D7BB3234-DCD4-A5DF-08A2-1D56A34ACEB1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B007D233-1CB7-203E-9E1F-489EE7D874B3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F819A5AE-DDD7-44AE-BE3D-FBF6685CB99D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29E2A073-6A2A-BF80-F534-080F43EC66A9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71AFBA40-AAF2-C78C-AE00-EAD7F0E9CC17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CEE7D836-0C75-12BD-8803-E6DE57DF66BA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2D28827C-9298-2FC8-50F1-EC2A4279DF9D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5853F25B-C2C0-4F96-1886-D1545590DB82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98854117-1CDE-E798-65A5-30F1B20A179C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CA56DD78-CF2E-B44B-7BF0-D59E82965011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67B2CA57-8BAF-E487-88BB-34F26BA8DA62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5B8E3BF6-0940-D408-37DA-76C18FA4ABA2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89AF5FDA-1AF5-7CE7-419E-DB5D2F61B336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A15291B9-D32B-3692-BBD7-9DCB7C4B0386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5513011D-DC59-9638-E70A-C8FDA6D730C8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9D6217AE-58B5-060B-E395-3D3EA682BB64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D718A377-D8CF-D1A9-FE07-13EA0DED557E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63A01B60-5119-A1DE-31EC-AD985A86BBFE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CA9BB614-DB57-FDA0-F86B-2573AF09463F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DEE1ECD6-6E61-0BE4-C0B7-41B14B15D0D5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4890C5FE-0981-D696-94AC-6E9E7153B101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7313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4797A-4C39-489F-C82D-96ACEB1A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1816-D582-4093-5A81-7E2B9170A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What is normalization &amp; 1rst Normal Form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58AC3A-D634-2AAC-9574-A9C47DA2E889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5B01CBD-C7EE-2F73-ACF4-A4702B4E1E78}"/>
              </a:ext>
            </a:extLst>
          </p:cNvPr>
          <p:cNvSpPr txBox="1"/>
          <p:nvPr/>
        </p:nvSpPr>
        <p:spPr>
          <a:xfrm>
            <a:off x="5344632" y="1352370"/>
            <a:ext cx="32535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domain of an attribute must include only atomic (simple, indivisible) values and that the value of any attribute in a tuple must be a single value from the domain of that attribute.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AF5F1-A7A9-8440-10D7-6D06F4FE8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27" y="1352370"/>
            <a:ext cx="4763386" cy="1425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24614-FA1D-7CA2-9F50-94FED948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766" y="3206354"/>
            <a:ext cx="6648893" cy="15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59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DE75-EF96-5679-63D9-86AA2118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3729-9149-C5DD-0662-B21214D1A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Normal Form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48AAC1-0056-8A57-310F-8589C638C883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29DEDA5-27A2-E1D1-8996-73279C223DE0}"/>
              </a:ext>
            </a:extLst>
          </p:cNvPr>
          <p:cNvSpPr txBox="1"/>
          <p:nvPr/>
        </p:nvSpPr>
        <p:spPr>
          <a:xfrm>
            <a:off x="6550563" y="1329926"/>
            <a:ext cx="2167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Each non-key column in a table is fully dependent on the primary key.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539D32-F76A-158A-F09E-C3CC00217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911" y="2873446"/>
            <a:ext cx="6110177" cy="202361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E14E2E-96AE-6968-19F6-50EBB4EAC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602583"/>
              </p:ext>
            </p:extLst>
          </p:nvPr>
        </p:nvGraphicFramePr>
        <p:xfrm>
          <a:off x="262270" y="979229"/>
          <a:ext cx="6096000" cy="14833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12987874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9062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2638047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84446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Employee_Id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Phone_Number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021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555-555-5555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83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Jane 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555-555-5555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515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Hal Emmerich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777-777-7777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1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88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3F2E1-802B-6C9B-96A0-1BE4422D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5085-32E1-1791-F7E7-D448F93F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3rd Normal Form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35A69A-12F5-4540-690A-7BA419D2FA67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EA20EAA-317D-2A19-C3BF-89B8F81D414E}"/>
              </a:ext>
            </a:extLst>
          </p:cNvPr>
          <p:cNvSpPr txBox="1"/>
          <p:nvPr/>
        </p:nvSpPr>
        <p:spPr>
          <a:xfrm>
            <a:off x="6550563" y="1329926"/>
            <a:ext cx="2167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Each non-key column in a table is not transitively dependent on the primary key.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726729-EDA0-32C4-172D-2BA77824A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4" y="1214217"/>
            <a:ext cx="5331655" cy="16291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B95CCA-24AF-0359-BD3A-5032AB980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76" y="3191851"/>
            <a:ext cx="4346224" cy="14302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98FBB7-412C-A5FD-7898-156E88697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695" y="3191851"/>
            <a:ext cx="4058529" cy="143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F019-1027-0E32-AC95-6271606F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3DD3-CA65-8150-36E5-A2D694EB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140047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04E768-A137-CB3E-31B5-316AB8C349D8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71D071-DC6A-C506-24EF-66534A197F84}"/>
              </a:ext>
            </a:extLst>
          </p:cNvPr>
          <p:cNvSpPr txBox="1"/>
          <p:nvPr/>
        </p:nvSpPr>
        <p:spPr>
          <a:xfrm>
            <a:off x="1123462" y="837229"/>
            <a:ext cx="34581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1: Map Regular Entity Types – create a relation and include all simple attributes of the entity. Choose a Primary Key.</a:t>
            </a:r>
          </a:p>
          <a:p>
            <a:pPr>
              <a:buClr>
                <a:schemeClr val="bg1"/>
              </a:buClr>
            </a:pP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2: Map Weak Entity Types – create a relation and include all simple attributes, also include the foreign key that corresponds to the primary key of the owner entity type.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C4DD40-951D-0A6E-2772-10FC38DE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944" y="3394388"/>
            <a:ext cx="3192589" cy="16090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A4B44B-E638-F582-F07A-DAA24700C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464" y="771015"/>
            <a:ext cx="2947327" cy="257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63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A3FA3-030D-CD52-F421-102DD229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0765-3581-BF68-62AC-218D682E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CF27F1-9C91-39ED-CD08-C3F7FDAB02B6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537366-41C3-8F0E-5CCD-FAD71885C7FD}"/>
              </a:ext>
            </a:extLst>
          </p:cNvPr>
          <p:cNvSpPr txBox="1"/>
          <p:nvPr/>
        </p:nvSpPr>
        <p:spPr>
          <a:xfrm>
            <a:off x="2548405" y="899400"/>
            <a:ext cx="40663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3: Map 1:1 Relationship Types – In general, use the Foreign key approach and use merged relation and cross-reference approaches as required.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57A90-A115-94D4-C178-A60F4218B163}"/>
              </a:ext>
            </a:extLst>
          </p:cNvPr>
          <p:cNvSpPr txBox="1"/>
          <p:nvPr/>
        </p:nvSpPr>
        <p:spPr>
          <a:xfrm>
            <a:off x="203982" y="2028684"/>
            <a:ext cx="34817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Foreign Key Approach </a:t>
            </a:r>
            <a:r>
              <a:rPr lang="en-US" dirty="0">
                <a:solidFill>
                  <a:schemeClr val="bg1"/>
                </a:solidFill>
              </a:rPr>
              <a:t>– For entities S and T, choose a primary key from S and include it as a foreign key in T. It is better to choose an entity type with total participation. Include all simple attributes of the relationship as attributes of 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A06AD-E2DA-11F5-3DB4-2BAA235FD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65" y="3413679"/>
            <a:ext cx="2820573" cy="719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38FB20-D3F3-1E54-BF6C-C1AA83B08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15" y="4505236"/>
            <a:ext cx="4010585" cy="638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659A35-6DA5-26FE-8246-9C349B8B2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5" y="4200232"/>
            <a:ext cx="4503026" cy="3709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868876-AA98-5EEF-00F1-715B8A943DBF}"/>
              </a:ext>
            </a:extLst>
          </p:cNvPr>
          <p:cNvSpPr txBox="1"/>
          <p:nvPr/>
        </p:nvSpPr>
        <p:spPr>
          <a:xfrm>
            <a:off x="5024705" y="2094696"/>
            <a:ext cx="3341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Merged Relation Approach </a:t>
            </a:r>
            <a:r>
              <a:rPr lang="en-US" dirty="0">
                <a:solidFill>
                  <a:schemeClr val="bg1"/>
                </a:solidFill>
              </a:rPr>
              <a:t>– Merges the two entity types and the relation into a single relation. Possible when both participations are total.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6AE554-A080-2B6E-DDC0-7CDC6FB8750F}"/>
              </a:ext>
            </a:extLst>
          </p:cNvPr>
          <p:cNvSpPr txBox="1"/>
          <p:nvPr/>
        </p:nvSpPr>
        <p:spPr>
          <a:xfrm>
            <a:off x="5024704" y="3246125"/>
            <a:ext cx="3341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Cross-Reference Approach </a:t>
            </a:r>
            <a:r>
              <a:rPr lang="en-US" dirty="0">
                <a:solidFill>
                  <a:schemeClr val="bg1"/>
                </a:solidFill>
              </a:rPr>
              <a:t>– Set up a third relation R for the purpose of cross-referencing the primary keys of two tables. Required for M:N relationships. </a:t>
            </a:r>
          </a:p>
        </p:txBody>
      </p:sp>
    </p:spTree>
    <p:extLst>
      <p:ext uri="{BB962C8B-B14F-4D97-AF65-F5344CB8AC3E}">
        <p14:creationId xmlns:p14="http://schemas.microsoft.com/office/powerpoint/2010/main" val="2314908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F18E-4C59-A9C4-683C-C27B01BE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44A69-58B2-BB25-92CF-00828B7A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22430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682320-5E2C-1555-6D64-5487649CD0C1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97E22B-C64C-671E-F751-152ABF180293}"/>
              </a:ext>
            </a:extLst>
          </p:cNvPr>
          <p:cNvSpPr txBox="1"/>
          <p:nvPr/>
        </p:nvSpPr>
        <p:spPr>
          <a:xfrm>
            <a:off x="2548405" y="899400"/>
            <a:ext cx="40663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4: Map 1:N Relationship Types – Use foreign key approach or relationship relation approach.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03282-278B-A310-AB08-5FD38E630F90}"/>
              </a:ext>
            </a:extLst>
          </p:cNvPr>
          <p:cNvSpPr txBox="1"/>
          <p:nvPr/>
        </p:nvSpPr>
        <p:spPr>
          <a:xfrm>
            <a:off x="239150" y="1638064"/>
            <a:ext cx="34817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Foreign Key Approach </a:t>
            </a:r>
            <a:r>
              <a:rPr lang="en-US" dirty="0">
                <a:solidFill>
                  <a:schemeClr val="bg1"/>
                </a:solidFill>
              </a:rPr>
              <a:t>– For each regular binary 1:N relationship type R, identify the side S that represents the N-side of the relationship. Include a foreign key in S the primary key of T, that represents the other entity type.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D10FE-47B5-70A8-A578-8C38C057075C}"/>
              </a:ext>
            </a:extLst>
          </p:cNvPr>
          <p:cNvSpPr txBox="1"/>
          <p:nvPr/>
        </p:nvSpPr>
        <p:spPr>
          <a:xfrm>
            <a:off x="203981" y="3068754"/>
            <a:ext cx="33410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Cross-Reference Approach </a:t>
            </a:r>
            <a:r>
              <a:rPr lang="en-US" dirty="0">
                <a:solidFill>
                  <a:schemeClr val="bg1"/>
                </a:solidFill>
              </a:rPr>
              <a:t>– Create a separate relation R whose attributes are the primary keys of entities T and S, which will also be foreign keys to S and T. The primary key of R is the same as the primary key of S. This options can be used if few tuples in S participate in the relationship to avoid excessive NULL values in the foreign key.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9A988F-B2C6-4234-B2E1-9EBAC7B84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334" y="1882705"/>
            <a:ext cx="3858776" cy="10332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AF0209-BA64-F7FA-543E-525FB98C1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750" y="2947226"/>
            <a:ext cx="4617474" cy="12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00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54D7-A282-A3C9-2284-058099D6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60AC-EBCD-74AB-AD08-F451A592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22430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2E60E71-0C19-AD5D-13F3-306386731A25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B87A34-660F-50C8-135C-A597E0CA3BFB}"/>
              </a:ext>
            </a:extLst>
          </p:cNvPr>
          <p:cNvSpPr txBox="1"/>
          <p:nvPr/>
        </p:nvSpPr>
        <p:spPr>
          <a:xfrm>
            <a:off x="2199153" y="925830"/>
            <a:ext cx="4745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5: Map M:N Relationship Types – Traditional relational models don’t allow for multivalued attributes, the only option for M:N relationships is the cross-reference approach. Cascade delete should be enabled on the foreign keys.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FC2F8-AB65-3318-00A8-C887A855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57" y="2095381"/>
            <a:ext cx="3723633" cy="2389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E14A2B-0A21-E4DE-2023-0CE22E36E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512" y="2095381"/>
            <a:ext cx="4064541" cy="23892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1008F0-5977-6831-9637-5C89CC84F483}"/>
              </a:ext>
            </a:extLst>
          </p:cNvPr>
          <p:cNvSpPr txBox="1"/>
          <p:nvPr/>
        </p:nvSpPr>
        <p:spPr>
          <a:xfrm>
            <a:off x="4823226" y="4613293"/>
            <a:ext cx="3583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Essn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Pno</a:t>
            </a:r>
            <a:r>
              <a:rPr lang="en-US" dirty="0">
                <a:solidFill>
                  <a:schemeClr val="bg1"/>
                </a:solidFill>
              </a:rPr>
              <a:t> = Primary Key of WORKS_ON</a:t>
            </a:r>
          </a:p>
        </p:txBody>
      </p:sp>
    </p:spTree>
    <p:extLst>
      <p:ext uri="{BB962C8B-B14F-4D97-AF65-F5344CB8AC3E}">
        <p14:creationId xmlns:p14="http://schemas.microsoft.com/office/powerpoint/2010/main" val="990317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5997-9815-FAC6-81A8-0125AA37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9E2A-6195-0FF2-4982-13B690B1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22430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91BEFB-CE86-3B08-5D02-0C9B6C077972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089309D-9AE5-BA46-6655-1DD2A38B1A98}"/>
              </a:ext>
            </a:extLst>
          </p:cNvPr>
          <p:cNvSpPr txBox="1"/>
          <p:nvPr/>
        </p:nvSpPr>
        <p:spPr>
          <a:xfrm>
            <a:off x="3155756" y="950665"/>
            <a:ext cx="47456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6: Map multivalued attributes.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507D7-BF48-5E89-93A3-C48DC163E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96" y="2762843"/>
            <a:ext cx="3048425" cy="1886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B799B-9D34-1E67-CAB1-06A593D29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752" y="2798973"/>
            <a:ext cx="4582164" cy="18195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0528E9-6398-6E76-E6BC-27E9EBCB52A5}"/>
              </a:ext>
            </a:extLst>
          </p:cNvPr>
          <p:cNvSpPr txBox="1"/>
          <p:nvPr/>
        </p:nvSpPr>
        <p:spPr>
          <a:xfrm>
            <a:off x="1479913" y="1318145"/>
            <a:ext cx="63023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 each multivalued attribute A, create a new relation R. This relation R will include an attribute corresponding to A, plus the primary key attribute K—as a foreign key in R—of the relation that represents the entity type or relationship type that has A as a multivalued attribute. The primary key of R is the combination of A and K. If the multivalued attribute is composite, we include its simple components.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43152C-BAC0-6359-D2D8-FBB2A9BC74C2}"/>
              </a:ext>
            </a:extLst>
          </p:cNvPr>
          <p:cNvSpPr txBox="1"/>
          <p:nvPr/>
        </p:nvSpPr>
        <p:spPr>
          <a:xfrm>
            <a:off x="3950270" y="4701607"/>
            <a:ext cx="4915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Dnumber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Dlocation</a:t>
            </a:r>
            <a:r>
              <a:rPr lang="en-US" dirty="0">
                <a:solidFill>
                  <a:schemeClr val="bg1"/>
                </a:solidFill>
              </a:rPr>
              <a:t> = Primary Key of DEPT_LOCATIONS</a:t>
            </a:r>
          </a:p>
        </p:txBody>
      </p:sp>
    </p:spTree>
    <p:extLst>
      <p:ext uri="{BB962C8B-B14F-4D97-AF65-F5344CB8AC3E}">
        <p14:creationId xmlns:p14="http://schemas.microsoft.com/office/powerpoint/2010/main" val="3386408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FEB9-05FB-484D-79E4-62F28C0D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don’t always want normalization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245DD-C67C-DE5D-7AAF-C01E0A8F5BEC}"/>
              </a:ext>
            </a:extLst>
          </p:cNvPr>
          <p:cNvSpPr txBox="1"/>
          <p:nvPr/>
        </p:nvSpPr>
        <p:spPr>
          <a:xfrm>
            <a:off x="713225" y="1332411"/>
            <a:ext cx="796051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OLTP = Online Transaction Processing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APIs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Usually very normalized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OLAP = Online Analytical Processing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fewer, wider tables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Usually denormalized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200CF-A8D3-609A-F0B8-FD5B89DCBC77}"/>
              </a:ext>
            </a:extLst>
          </p:cNvPr>
          <p:cNvSpPr txBox="1"/>
          <p:nvPr/>
        </p:nvSpPr>
        <p:spPr>
          <a:xfrm>
            <a:off x="1666814" y="2932849"/>
            <a:ext cx="5829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order_id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en-US" dirty="0" err="1">
                <a:solidFill>
                  <a:schemeClr val="bg1"/>
                </a:solidFill>
              </a:rPr>
              <a:t>order_date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en-US" dirty="0" err="1">
                <a:solidFill>
                  <a:schemeClr val="bg1"/>
                </a:solidFill>
              </a:rPr>
              <a:t>user_country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en-US" dirty="0" err="1">
                <a:solidFill>
                  <a:schemeClr val="bg1"/>
                </a:solidFill>
              </a:rPr>
              <a:t>product_category</a:t>
            </a:r>
            <a:r>
              <a:rPr lang="en-US" dirty="0">
                <a:solidFill>
                  <a:schemeClr val="bg1"/>
                </a:solidFill>
              </a:rPr>
              <a:t> | revenue</a:t>
            </a:r>
          </a:p>
        </p:txBody>
      </p:sp>
    </p:spTree>
    <p:extLst>
      <p:ext uri="{BB962C8B-B14F-4D97-AF65-F5344CB8AC3E}">
        <p14:creationId xmlns:p14="http://schemas.microsoft.com/office/powerpoint/2010/main" val="3658273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C503-EB95-78C6-2828-AF8C0404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OLAP Schema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06FA3-8E11-33CC-A808-4F76F45A4436}"/>
              </a:ext>
            </a:extLst>
          </p:cNvPr>
          <p:cNvSpPr txBox="1"/>
          <p:nvPr/>
        </p:nvSpPr>
        <p:spPr>
          <a:xfrm>
            <a:off x="713225" y="932000"/>
            <a:ext cx="7908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Star Schema = one big fact table in the center, small dimension tables around it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944DB-A8ED-B361-EF37-3061F52CAB97}"/>
              </a:ext>
            </a:extLst>
          </p:cNvPr>
          <p:cNvSpPr txBox="1"/>
          <p:nvPr/>
        </p:nvSpPr>
        <p:spPr>
          <a:xfrm>
            <a:off x="418011" y="1481108"/>
            <a:ext cx="29652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Fact Table = numbers you analyze</a:t>
            </a:r>
          </a:p>
          <a:p>
            <a:r>
              <a:rPr lang="en-US" dirty="0" err="1">
                <a:solidFill>
                  <a:schemeClr val="bg1"/>
                </a:solidFill>
              </a:rPr>
              <a:t>fact_orders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order_id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user_id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product_id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date_id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revenue</a:t>
            </a:r>
          </a:p>
          <a:p>
            <a:r>
              <a:rPr lang="en-US" dirty="0">
                <a:solidFill>
                  <a:schemeClr val="bg1"/>
                </a:solidFill>
              </a:rPr>
              <a:t>- quantity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057EC-1B20-D841-0993-899DA1FB1253}"/>
              </a:ext>
            </a:extLst>
          </p:cNvPr>
          <p:cNvSpPr txBox="1"/>
          <p:nvPr/>
        </p:nvSpPr>
        <p:spPr>
          <a:xfrm>
            <a:off x="95355" y="3688281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Dimension tables: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dim_users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user_id</a:t>
            </a:r>
            <a:r>
              <a:rPr lang="en-US" dirty="0">
                <a:solidFill>
                  <a:schemeClr val="bg1"/>
                </a:solidFill>
              </a:rPr>
              <a:t>, country, age)</a:t>
            </a:r>
          </a:p>
          <a:p>
            <a:r>
              <a:rPr lang="en-US" dirty="0" err="1">
                <a:solidFill>
                  <a:schemeClr val="bg1"/>
                </a:solidFill>
              </a:rPr>
              <a:t>dim_products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product_id</a:t>
            </a:r>
            <a:r>
              <a:rPr lang="en-US" dirty="0">
                <a:solidFill>
                  <a:schemeClr val="bg1"/>
                </a:solidFill>
              </a:rPr>
              <a:t>, category, brand)</a:t>
            </a:r>
          </a:p>
          <a:p>
            <a:r>
              <a:rPr lang="en-US" dirty="0" err="1">
                <a:solidFill>
                  <a:schemeClr val="bg1"/>
                </a:solidFill>
              </a:rPr>
              <a:t>dim_time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date_id</a:t>
            </a:r>
            <a:r>
              <a:rPr lang="en-US" dirty="0">
                <a:solidFill>
                  <a:schemeClr val="bg1"/>
                </a:solidFill>
              </a:rPr>
              <a:t>, day, month, year)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9AAAE6-13DC-D438-A114-36FE1E97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491" y="1510736"/>
            <a:ext cx="4454434" cy="327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75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5BA7-1CCE-3425-C704-7F9BDD4F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OLAP Schema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9AE01-3DBD-2CE5-7194-14D058D57260}"/>
              </a:ext>
            </a:extLst>
          </p:cNvPr>
          <p:cNvSpPr txBox="1"/>
          <p:nvPr/>
        </p:nvSpPr>
        <p:spPr>
          <a:xfrm>
            <a:off x="1157362" y="1232446"/>
            <a:ext cx="71375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Wide Fact Tables – ‘flatten everything into one big table’ (takes more storage space)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order_id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en-US" dirty="0" err="1">
                <a:solidFill>
                  <a:schemeClr val="bg1"/>
                </a:solidFill>
              </a:rPr>
              <a:t>order_date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en-US" dirty="0" err="1">
                <a:solidFill>
                  <a:schemeClr val="bg1"/>
                </a:solidFill>
              </a:rPr>
              <a:t>user_id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en-US" dirty="0" err="1">
                <a:solidFill>
                  <a:schemeClr val="bg1"/>
                </a:solidFill>
              </a:rPr>
              <a:t>user_country</a:t>
            </a:r>
            <a:r>
              <a:rPr lang="en-US" dirty="0">
                <a:solidFill>
                  <a:schemeClr val="bg1"/>
                </a:solidFill>
              </a:rPr>
              <a:t> |</a:t>
            </a:r>
          </a:p>
          <a:p>
            <a:r>
              <a:rPr lang="en-US" dirty="0" err="1">
                <a:solidFill>
                  <a:schemeClr val="bg1"/>
                </a:solidFill>
              </a:rPr>
              <a:t>product_id</a:t>
            </a:r>
            <a:r>
              <a:rPr lang="en-US" dirty="0">
                <a:solidFill>
                  <a:schemeClr val="bg1"/>
                </a:solidFill>
              </a:rPr>
              <a:t> | </a:t>
            </a:r>
            <a:r>
              <a:rPr lang="en-US" dirty="0" err="1">
                <a:solidFill>
                  <a:schemeClr val="bg1"/>
                </a:solidFill>
              </a:rPr>
              <a:t>product_category</a:t>
            </a:r>
            <a:r>
              <a:rPr lang="en-US" dirty="0">
                <a:solidFill>
                  <a:schemeClr val="bg1"/>
                </a:solidFill>
              </a:rPr>
              <a:t> | price | quantity | revenue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040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2B62-0D66-7DAF-BC63-389E471E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OLAP Schema Patterns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53872-6562-AB1B-FE38-E02FD6B09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88" y="932000"/>
            <a:ext cx="5955573" cy="393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06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F324-4966-8818-1874-14FD7E35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18A5-3CBC-F423-3B0C-B01D04E2F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Chinook DB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A7F657-A753-A9A0-9402-F4E11FEB0B67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3EB42C-3375-E99F-926B-97FA5D331D2C}"/>
              </a:ext>
            </a:extLst>
          </p:cNvPr>
          <p:cNvSpPr txBox="1"/>
          <p:nvPr/>
        </p:nvSpPr>
        <p:spPr>
          <a:xfrm>
            <a:off x="2785403" y="470093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https://github.com/lerocha/chinook-database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765098-6DD8-C42E-643A-C8A6087D1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42" y="940837"/>
            <a:ext cx="5096064" cy="342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9C53-C1E1-6378-998D-C1C80B44C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POSTGRESQL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A84A1-F316-4280-6B19-A8BCAB823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860" y="1482840"/>
            <a:ext cx="5401429" cy="523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F3DBB9-ED0B-366F-EDE5-3649CCD5A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864" y="2637866"/>
            <a:ext cx="5344271" cy="590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829901-5E15-A063-69E1-51BD3094F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992" y="3388062"/>
            <a:ext cx="3677163" cy="1238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4571B7-CD51-5216-51B3-B15B61F9B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235" y="2210319"/>
            <a:ext cx="2905530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232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DEB3-BF0C-3F9C-0502-A387799F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POSTGRESQL UUID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F2EEE-9329-6CD1-D44F-318625C5F9F4}"/>
              </a:ext>
            </a:extLst>
          </p:cNvPr>
          <p:cNvSpPr txBox="1"/>
          <p:nvPr/>
        </p:nvSpPr>
        <p:spPr>
          <a:xfrm>
            <a:off x="2214438" y="1211022"/>
            <a:ext cx="6476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EXTENSION IF NOT EXISTS "</a:t>
            </a:r>
            <a:r>
              <a:rPr lang="en-US" dirty="0" err="1">
                <a:solidFill>
                  <a:schemeClr val="bg1"/>
                </a:solidFill>
              </a:rPr>
              <a:t>pgcrypto</a:t>
            </a:r>
            <a:r>
              <a:rPr lang="en-US" dirty="0">
                <a:solidFill>
                  <a:schemeClr val="bg1"/>
                </a:solidFill>
              </a:rPr>
              <a:t>";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A4B48-8A8D-7507-33CB-913B434A9B75}"/>
              </a:ext>
            </a:extLst>
          </p:cNvPr>
          <p:cNvSpPr txBox="1"/>
          <p:nvPr/>
        </p:nvSpPr>
        <p:spPr>
          <a:xfrm>
            <a:off x="2214438" y="1518579"/>
            <a:ext cx="63650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TABLE customers (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customer_id</a:t>
            </a:r>
            <a:r>
              <a:rPr lang="en-US" dirty="0">
                <a:solidFill>
                  <a:schemeClr val="bg1"/>
                </a:solidFill>
              </a:rPr>
              <a:t> UUID PRIMARY KEY DEFAULT </a:t>
            </a:r>
            <a:r>
              <a:rPr lang="en-US" dirty="0" err="1">
                <a:solidFill>
                  <a:schemeClr val="bg1"/>
                </a:solidFill>
              </a:rPr>
              <a:t>gen_random_uuid</a:t>
            </a:r>
            <a:r>
              <a:rPr lang="en-US" dirty="0">
                <a:solidFill>
                  <a:schemeClr val="bg1"/>
                </a:solidFill>
              </a:rPr>
              <a:t>(),</a:t>
            </a:r>
          </a:p>
          <a:p>
            <a:r>
              <a:rPr lang="en-US" dirty="0">
                <a:solidFill>
                  <a:schemeClr val="bg1"/>
                </a:solidFill>
              </a:rPr>
              <a:t>  name TEXT NOT NULL</a:t>
            </a:r>
          </a:p>
          <a:p>
            <a:r>
              <a:rPr lang="en-US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BAC5C-7CCA-8112-8E9B-6724DA9383F5}"/>
              </a:ext>
            </a:extLst>
          </p:cNvPr>
          <p:cNvSpPr txBox="1"/>
          <p:nvPr/>
        </p:nvSpPr>
        <p:spPr>
          <a:xfrm>
            <a:off x="2214438" y="3183762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EXTENSION IF NOT EXISTS "</a:t>
            </a:r>
            <a:r>
              <a:rPr lang="en-US" dirty="0" err="1">
                <a:solidFill>
                  <a:schemeClr val="bg1"/>
                </a:solidFill>
              </a:rPr>
              <a:t>uuid-ossp</a:t>
            </a:r>
            <a:r>
              <a:rPr lang="en-US" dirty="0">
                <a:solidFill>
                  <a:schemeClr val="bg1"/>
                </a:solidFill>
              </a:rPr>
              <a:t>";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TABLE customers (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customer_id</a:t>
            </a:r>
            <a:r>
              <a:rPr lang="en-US" dirty="0">
                <a:solidFill>
                  <a:schemeClr val="bg1"/>
                </a:solidFill>
              </a:rPr>
              <a:t> UUID PRIMARY KEY DEFAULT uuid_generate_v4(),</a:t>
            </a:r>
          </a:p>
          <a:p>
            <a:r>
              <a:rPr lang="en-US" dirty="0">
                <a:solidFill>
                  <a:schemeClr val="bg1"/>
                </a:solidFill>
              </a:rPr>
              <a:t>    name TEXT NOT NULL</a:t>
            </a:r>
          </a:p>
          <a:p>
            <a:r>
              <a:rPr lang="en-US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34172-F096-3E0A-240C-976E9CD23D44}"/>
              </a:ext>
            </a:extLst>
          </p:cNvPr>
          <p:cNvSpPr txBox="1"/>
          <p:nvPr/>
        </p:nvSpPr>
        <p:spPr>
          <a:xfrm>
            <a:off x="6122504" y="1220574"/>
            <a:ext cx="2679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2533792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623D5B-D2A0-FAE9-1C6A-F472DDF1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C1D5-8456-51BF-4848-14A24275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EF setup with SQL Server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C1E321-C254-6511-89E6-0F49AF65DAEF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660EA09-E79A-FBAA-15D5-2D8009569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3897" y="769491"/>
            <a:ext cx="7343335" cy="6751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85109E-D47D-FBC3-6555-1060E203E6EA}"/>
              </a:ext>
            </a:extLst>
          </p:cNvPr>
          <p:cNvSpPr txBox="1"/>
          <p:nvPr/>
        </p:nvSpPr>
        <p:spPr>
          <a:xfrm>
            <a:off x="2004482" y="1420932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dirty="0"/>
              <a:t>In persistane/repo project</a:t>
            </a:r>
            <a:br>
              <a:rPr lang="nn-NO" dirty="0"/>
            </a:br>
            <a:r>
              <a:rPr lang="nn-NO" dirty="0"/>
              <a:t>dotnet add package Microsoft.EntityFrameworkCore.SqlServer --version 9.0.4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833B8-6C8C-9B32-A565-CDCCC5CFF788}"/>
              </a:ext>
            </a:extLst>
          </p:cNvPr>
          <p:cNvSpPr txBox="1"/>
          <p:nvPr/>
        </p:nvSpPr>
        <p:spPr>
          <a:xfrm>
            <a:off x="1847942" y="1855641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In API project</a:t>
            </a:r>
            <a:b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dotnet add package 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Microsoft.EntityFrameworkCore.Design</a:t>
            </a:r>
            <a:br>
              <a:rPr lang="en-US" dirty="0"/>
            </a:b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AC8945-5C9F-09D6-5E29-8DE0F2D4C373}"/>
              </a:ext>
            </a:extLst>
          </p:cNvPr>
          <p:cNvSpPr txBox="1"/>
          <p:nvPr/>
        </p:nvSpPr>
        <p:spPr>
          <a:xfrm>
            <a:off x="248722" y="1993439"/>
            <a:ext cx="14419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Setup models and </a:t>
            </a:r>
            <a:r>
              <a:rPr lang="en-US" dirty="0" err="1"/>
              <a:t>db</a:t>
            </a:r>
            <a:r>
              <a:rPr lang="en-US" dirty="0"/>
              <a:t> contexts before running migration commands. Also add fluent </a:t>
            </a:r>
            <a:r>
              <a:rPr lang="en-US" dirty="0" err="1"/>
              <a:t>api</a:t>
            </a:r>
            <a:r>
              <a:rPr lang="en-US" dirty="0"/>
              <a:t> vs data annotations VVV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13C58-8910-E3E6-CC95-5471A14EB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62647"/>
            <a:ext cx="3639512" cy="109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F193D-FA6B-59A4-F9A1-714B4CA9C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459" y="4451991"/>
            <a:ext cx="5913050" cy="6266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259DE3-E4CB-609F-DFCA-79164C3FB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196" y="2557357"/>
            <a:ext cx="6281225" cy="1232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D54B5E-DACA-D3D4-3C83-00752A404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5459" y="3893477"/>
            <a:ext cx="7574478" cy="50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68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70FFD8-53CE-B277-3F30-1909A5ED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2484-3789-2529-F8BB-887EBE2B6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EF setup with SQL Server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333189-DBF5-0A80-971A-01EA53963C61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AEF6574-B718-FA5B-DC10-1FDD31C33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871178"/>
            <a:ext cx="7537450" cy="3383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1C03EC-DE36-E486-1368-49C8EA1AB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1229141"/>
            <a:ext cx="7981950" cy="3696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EC20DF-710F-5F6B-CE07-50049A98B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2" y="2403177"/>
            <a:ext cx="2896004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5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60CFE8-3BB5-83A5-6EE0-C19F8234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5A69-C8CF-A2AD-1335-39A19E2E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SQL Misc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23A4CF-6BB6-9653-6A10-2384AC51ED1D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EA1EC7D-1BC4-1DE1-72A3-647443BF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64" y="1153154"/>
            <a:ext cx="4489956" cy="164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71D506-4C5E-D69B-F851-97D14E13F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64" y="2943898"/>
            <a:ext cx="3629532" cy="4477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5FB496-E6FF-0260-199F-0C9C0499E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793" y="1323290"/>
            <a:ext cx="3357199" cy="1202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47DCA-D92F-742D-AB59-D8DAE60F2E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799" y="2722273"/>
            <a:ext cx="3902522" cy="18408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0432C6-BFFE-CDDE-5DC8-ED6175F73425}"/>
              </a:ext>
            </a:extLst>
          </p:cNvPr>
          <p:cNvSpPr txBox="1"/>
          <p:nvPr/>
        </p:nvSpPr>
        <p:spPr>
          <a:xfrm>
            <a:off x="569343" y="3648974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Both of these can use CRUD</a:t>
            </a:r>
          </a:p>
          <a:p>
            <a:r>
              <a:rPr lang="en-US" dirty="0"/>
              <a:t>Procedures can take in a value</a:t>
            </a:r>
          </a:p>
        </p:txBody>
      </p:sp>
    </p:spTree>
    <p:extLst>
      <p:ext uri="{BB962C8B-B14F-4D97-AF65-F5344CB8AC3E}">
        <p14:creationId xmlns:p14="http://schemas.microsoft.com/office/powerpoint/2010/main" val="3864218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FAE8E0-F10C-8493-9130-23B794E1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21AB-373E-1948-7442-B342FC9C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SQL Misc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4AFD78-BDA0-EDDE-A6B6-090A52E152D7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A1072D1-B813-5C85-CB58-4CBAA0D5B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21" y="1413978"/>
            <a:ext cx="3805915" cy="3352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E13687-8897-CE2A-90BF-61A64E067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118" y="1413978"/>
            <a:ext cx="4102784" cy="25471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891188-C717-BDD4-1855-14EE716DE365}"/>
              </a:ext>
            </a:extLst>
          </p:cNvPr>
          <p:cNvSpPr txBox="1"/>
          <p:nvPr/>
        </p:nvSpPr>
        <p:spPr>
          <a:xfrm>
            <a:off x="1127660" y="824306"/>
            <a:ext cx="5727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Scalar functions – returns </a:t>
            </a:r>
            <a:r>
              <a:rPr lang="en-US" dirty="0" err="1"/>
              <a:t>singlular</a:t>
            </a:r>
            <a:r>
              <a:rPr lang="en-US" dirty="0"/>
              <a:t> value; can’t CRUD; can be nested  </a:t>
            </a:r>
          </a:p>
        </p:txBody>
      </p:sp>
    </p:spTree>
    <p:extLst>
      <p:ext uri="{BB962C8B-B14F-4D97-AF65-F5344CB8AC3E}">
        <p14:creationId xmlns:p14="http://schemas.microsoft.com/office/powerpoint/2010/main" val="37374710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B4BE5F-90D9-B6C8-7F61-4974B711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23E6-3594-8BA4-72D8-8C638229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SQL Misc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B6B1EA-67E7-F495-B9F9-154C4795BA8B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720FE40-70D2-BF8C-065B-50E26E571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4" y="1121141"/>
            <a:ext cx="3502763" cy="35088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0556F8-7B64-D138-413E-E006C3E14804}"/>
              </a:ext>
            </a:extLst>
          </p:cNvPr>
          <p:cNvSpPr txBox="1"/>
          <p:nvPr/>
        </p:nvSpPr>
        <p:spPr>
          <a:xfrm>
            <a:off x="4856672" y="1630392"/>
            <a:ext cx="3830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 than procedure in that it can’t take in a value and can’t execute CRUD operations </a:t>
            </a:r>
          </a:p>
        </p:txBody>
      </p:sp>
    </p:spTree>
    <p:extLst>
      <p:ext uri="{BB962C8B-B14F-4D97-AF65-F5344CB8AC3E}">
        <p14:creationId xmlns:p14="http://schemas.microsoft.com/office/powerpoint/2010/main" val="41762434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A89C84-E706-24CF-2475-F2E2ACFAD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32C2-0255-5918-71A8-341322BF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REST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A6082D-0D42-0188-41A7-CB5C78E7F31E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19C11E-E850-AF61-FE0B-C11EE33C2A0D}"/>
              </a:ext>
            </a:extLst>
          </p:cNvPr>
          <p:cNvSpPr txBox="1"/>
          <p:nvPr/>
        </p:nvSpPr>
        <p:spPr>
          <a:xfrm>
            <a:off x="4856672" y="1630392"/>
            <a:ext cx="3830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 than procedure in that it can’t take in a value and can’t execute CRUD operations </a:t>
            </a:r>
          </a:p>
        </p:txBody>
      </p:sp>
    </p:spTree>
    <p:extLst>
      <p:ext uri="{BB962C8B-B14F-4D97-AF65-F5344CB8AC3E}">
        <p14:creationId xmlns:p14="http://schemas.microsoft.com/office/powerpoint/2010/main" val="36180488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230739-04E8-C7BF-23C0-30611F7C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680A8-99CA-3E01-6096-1F79FAE4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ASP.NET Week 3 Stuff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F4A40B-9AE7-C03D-1C1F-F53CD6D2B6FB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66CB4AC-3B1C-D3BD-6E61-08FB2437E853}"/>
              </a:ext>
            </a:extLst>
          </p:cNvPr>
          <p:cNvSpPr txBox="1"/>
          <p:nvPr/>
        </p:nvSpPr>
        <p:spPr>
          <a:xfrm>
            <a:off x="382560" y="971312"/>
            <a:ext cx="71866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HTTP Request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API Layer, </a:t>
            </a:r>
            <a:r>
              <a:rPr lang="en-US" dirty="0" err="1">
                <a:solidFill>
                  <a:schemeClr val="bg1"/>
                </a:solidFill>
              </a:rPr>
              <a:t>Program.cs</a:t>
            </a:r>
            <a:r>
              <a:rPr lang="en-US" dirty="0">
                <a:solidFill>
                  <a:schemeClr val="bg1"/>
                </a:solidFill>
              </a:rPr>
              <a:t> calls a service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Service Layer – one or more </a:t>
            </a:r>
            <a:r>
              <a:rPr lang="en-US" dirty="0" err="1">
                <a:solidFill>
                  <a:schemeClr val="bg1"/>
                </a:solidFill>
              </a:rPr>
              <a:t>service.cs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impelentations</a:t>
            </a:r>
            <a:r>
              <a:rPr lang="en-US" dirty="0">
                <a:solidFill>
                  <a:schemeClr val="bg1"/>
                </a:solidFill>
              </a:rPr>
              <a:t> execute business logic, calls units of work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Repo Layer – Unit Of Work relay repository </a:t>
            </a:r>
            <a:r>
              <a:rPr lang="en-US" dirty="0" err="1">
                <a:solidFill>
                  <a:schemeClr val="bg1"/>
                </a:solidFill>
              </a:rPr>
              <a:t>implemenations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Repo Layer – Repo Implementation Class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Repo Layer – </a:t>
            </a:r>
            <a:r>
              <a:rPr lang="en-US" dirty="0" err="1">
                <a:solidFill>
                  <a:schemeClr val="bg1"/>
                </a:solidFill>
              </a:rPr>
              <a:t>DbContext</a:t>
            </a:r>
            <a:r>
              <a:rPr lang="en-US" dirty="0">
                <a:solidFill>
                  <a:schemeClr val="bg1"/>
                </a:solidFill>
              </a:rPr>
              <a:t> Access </a:t>
            </a:r>
          </a:p>
        </p:txBody>
      </p:sp>
    </p:spTree>
    <p:extLst>
      <p:ext uri="{BB962C8B-B14F-4D97-AF65-F5344CB8AC3E}">
        <p14:creationId xmlns:p14="http://schemas.microsoft.com/office/powerpoint/2010/main" val="8095383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746204-1392-DBE8-3E78-C1B531C5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4CD4-A9C2-5DC0-3FAE-19B87179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ASP.NET Week 3 Stuff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3266ABA-D8FB-4842-8673-C7009F781678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680DA7B-165A-1032-D320-0999F2108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82" y="919001"/>
            <a:ext cx="6525536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28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3;p40">
            <a:extLst>
              <a:ext uri="{FF2B5EF4-FFF2-40B4-BE49-F238E27FC236}">
                <a16:creationId xmlns:a16="http://schemas.microsoft.com/office/drawing/2014/main" id="{1EDE0B88-BABD-B977-D0AC-23BD3EF6DAB2}"/>
              </a:ext>
            </a:extLst>
          </p:cNvPr>
          <p:cNvSpPr/>
          <p:nvPr/>
        </p:nvSpPr>
        <p:spPr>
          <a:xfrm>
            <a:off x="4803725" y="2927775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40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Multi-Tenant Architecture</a:t>
            </a:r>
            <a:endParaRPr dirty="0"/>
          </a:p>
        </p:txBody>
      </p:sp>
      <p:sp>
        <p:nvSpPr>
          <p:cNvPr id="991" name="Google Shape;991;p40"/>
          <p:cNvSpPr/>
          <p:nvPr/>
        </p:nvSpPr>
        <p:spPr>
          <a:xfrm>
            <a:off x="713225" y="1146325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0"/>
          <p:cNvSpPr/>
          <p:nvPr/>
        </p:nvSpPr>
        <p:spPr>
          <a:xfrm>
            <a:off x="713325" y="2934150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0"/>
          <p:cNvSpPr/>
          <p:nvPr/>
        </p:nvSpPr>
        <p:spPr>
          <a:xfrm>
            <a:off x="4794524" y="1124800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40"/>
          <p:cNvSpPr txBox="1"/>
          <p:nvPr/>
        </p:nvSpPr>
        <p:spPr>
          <a:xfrm>
            <a:off x="904575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 Salesforce customer orgs are in the cloud, so they share server space.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Google Shape;996;p40"/>
          <p:cNvSpPr txBox="1"/>
          <p:nvPr/>
        </p:nvSpPr>
        <p:spPr>
          <a:xfrm>
            <a:off x="5486596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Limits are in place so that no one org can overuse resources and degrade the performance for everyone else.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Google Shape;997;p40"/>
          <p:cNvSpPr txBox="1"/>
          <p:nvPr/>
        </p:nvSpPr>
        <p:spPr>
          <a:xfrm>
            <a:off x="6105525" y="3153625"/>
            <a:ext cx="21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Governor Limits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8" name="Google Shape;998;p40"/>
          <p:cNvSpPr txBox="1"/>
          <p:nvPr/>
        </p:nvSpPr>
        <p:spPr>
          <a:xfrm>
            <a:off x="904575" y="1417075"/>
            <a:ext cx="22386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Servers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9" name="Google Shape;999;p40"/>
          <p:cNvSpPr txBox="1"/>
          <p:nvPr/>
        </p:nvSpPr>
        <p:spPr>
          <a:xfrm>
            <a:off x="904575" y="3153625"/>
            <a:ext cx="2343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Resources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0" name="Google Shape;1000;p40"/>
          <p:cNvSpPr txBox="1"/>
          <p:nvPr/>
        </p:nvSpPr>
        <p:spPr>
          <a:xfrm>
            <a:off x="904575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Because orgs share server space, they also share the physical hardware that keeps the server running. i.e. ram,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cpu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time,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ect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1" name="Google Shape;1001;p40"/>
          <p:cNvSpPr txBox="1"/>
          <p:nvPr/>
        </p:nvSpPr>
        <p:spPr>
          <a:xfrm>
            <a:off x="5705475" y="1417075"/>
            <a:ext cx="25248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Isolated Environment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2" name="Google Shape;1002;p40"/>
          <p:cNvSpPr txBox="1"/>
          <p:nvPr/>
        </p:nvSpPr>
        <p:spPr>
          <a:xfrm>
            <a:off x="5486576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Each org is an isolated environment from other orgs on the cloud.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03" name="Google Shape;1003;p40"/>
          <p:cNvGrpSpPr/>
          <p:nvPr/>
        </p:nvGrpSpPr>
        <p:grpSpPr>
          <a:xfrm>
            <a:off x="3834600" y="2118225"/>
            <a:ext cx="1474800" cy="1474800"/>
            <a:chOff x="3834600" y="2118225"/>
            <a:chExt cx="1474800" cy="1474800"/>
          </a:xfrm>
        </p:grpSpPr>
        <p:sp>
          <p:nvSpPr>
            <p:cNvPr id="1004" name="Google Shape;1004;p40"/>
            <p:cNvSpPr/>
            <p:nvPr/>
          </p:nvSpPr>
          <p:spPr>
            <a:xfrm>
              <a:off x="3834600" y="2118225"/>
              <a:ext cx="1474800" cy="147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3932450" y="2216075"/>
              <a:ext cx="1279200" cy="127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4325516" y="2616789"/>
              <a:ext cx="492984" cy="491645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40" y="2048"/>
                  </a:cubicBezTo>
                  <a:lnTo>
                    <a:pt x="1386" y="2048"/>
                  </a:lnTo>
                  <a:lnTo>
                    <a:pt x="1386" y="2426"/>
                  </a:lnTo>
                  <a:cubicBezTo>
                    <a:pt x="1386" y="2993"/>
                    <a:pt x="1859" y="3434"/>
                    <a:pt x="2426" y="3434"/>
                  </a:cubicBezTo>
                  <a:lnTo>
                    <a:pt x="5577" y="3434"/>
                  </a:lnTo>
                  <a:lnTo>
                    <a:pt x="5577" y="4159"/>
                  </a:lnTo>
                  <a:lnTo>
                    <a:pt x="4537" y="4159"/>
                  </a:lnTo>
                  <a:cubicBezTo>
                    <a:pt x="3938" y="4159"/>
                    <a:pt x="3466" y="4632"/>
                    <a:pt x="3466" y="5167"/>
                  </a:cubicBezTo>
                  <a:lnTo>
                    <a:pt x="3466" y="6585"/>
                  </a:lnTo>
                  <a:cubicBezTo>
                    <a:pt x="3466" y="7183"/>
                    <a:pt x="3938" y="7625"/>
                    <a:pt x="4537" y="7625"/>
                  </a:cubicBezTo>
                  <a:lnTo>
                    <a:pt x="5577" y="7625"/>
                  </a:lnTo>
                  <a:lnTo>
                    <a:pt x="5577" y="8318"/>
                  </a:lnTo>
                  <a:lnTo>
                    <a:pt x="2426" y="8318"/>
                  </a:lnTo>
                  <a:cubicBezTo>
                    <a:pt x="1828" y="8318"/>
                    <a:pt x="1386" y="8790"/>
                    <a:pt x="1386" y="9357"/>
                  </a:cubicBezTo>
                  <a:lnTo>
                    <a:pt x="1386" y="9704"/>
                  </a:lnTo>
                  <a:lnTo>
                    <a:pt x="1040" y="9704"/>
                  </a:lnTo>
                  <a:cubicBezTo>
                    <a:pt x="441" y="9704"/>
                    <a:pt x="0" y="10176"/>
                    <a:pt x="0" y="10744"/>
                  </a:cubicBezTo>
                  <a:cubicBezTo>
                    <a:pt x="0" y="11311"/>
                    <a:pt x="473" y="11752"/>
                    <a:pt x="1040" y="11752"/>
                  </a:cubicBezTo>
                  <a:lnTo>
                    <a:pt x="2426" y="11752"/>
                  </a:lnTo>
                  <a:cubicBezTo>
                    <a:pt x="2993" y="11752"/>
                    <a:pt x="3434" y="11279"/>
                    <a:pt x="3434" y="10744"/>
                  </a:cubicBezTo>
                  <a:cubicBezTo>
                    <a:pt x="3434" y="10145"/>
                    <a:pt x="2962" y="9704"/>
                    <a:pt x="2426" y="9704"/>
                  </a:cubicBezTo>
                  <a:lnTo>
                    <a:pt x="2048" y="9704"/>
                  </a:lnTo>
                  <a:lnTo>
                    <a:pt x="2048" y="9357"/>
                  </a:lnTo>
                  <a:cubicBezTo>
                    <a:pt x="2048" y="9168"/>
                    <a:pt x="2206" y="9011"/>
                    <a:pt x="2426" y="9011"/>
                  </a:cubicBezTo>
                  <a:lnTo>
                    <a:pt x="5577" y="9011"/>
                  </a:lnTo>
                  <a:lnTo>
                    <a:pt x="5577" y="9704"/>
                  </a:lnTo>
                  <a:lnTo>
                    <a:pt x="5199" y="9704"/>
                  </a:lnTo>
                  <a:cubicBezTo>
                    <a:pt x="4631" y="9704"/>
                    <a:pt x="4190" y="10176"/>
                    <a:pt x="4190" y="10744"/>
                  </a:cubicBezTo>
                  <a:cubicBezTo>
                    <a:pt x="4190" y="11311"/>
                    <a:pt x="4663" y="11752"/>
                    <a:pt x="5199" y="11752"/>
                  </a:cubicBezTo>
                  <a:lnTo>
                    <a:pt x="6585" y="11752"/>
                  </a:lnTo>
                  <a:cubicBezTo>
                    <a:pt x="7183" y="11752"/>
                    <a:pt x="7593" y="11279"/>
                    <a:pt x="7593" y="10744"/>
                  </a:cubicBezTo>
                  <a:cubicBezTo>
                    <a:pt x="7593" y="10145"/>
                    <a:pt x="7120" y="9704"/>
                    <a:pt x="6585" y="9704"/>
                  </a:cubicBezTo>
                  <a:lnTo>
                    <a:pt x="6238" y="9704"/>
                  </a:lnTo>
                  <a:lnTo>
                    <a:pt x="6238" y="9011"/>
                  </a:lnTo>
                  <a:lnTo>
                    <a:pt x="9389" y="9011"/>
                  </a:lnTo>
                  <a:cubicBezTo>
                    <a:pt x="9578" y="9011"/>
                    <a:pt x="9735" y="9168"/>
                    <a:pt x="9735" y="9357"/>
                  </a:cubicBezTo>
                  <a:lnTo>
                    <a:pt x="9735" y="9704"/>
                  </a:lnTo>
                  <a:lnTo>
                    <a:pt x="9389" y="9704"/>
                  </a:lnTo>
                  <a:cubicBezTo>
                    <a:pt x="8790" y="9704"/>
                    <a:pt x="8349" y="10176"/>
                    <a:pt x="8349" y="10744"/>
                  </a:cubicBezTo>
                  <a:cubicBezTo>
                    <a:pt x="8349" y="11311"/>
                    <a:pt x="8822" y="11752"/>
                    <a:pt x="9389" y="11752"/>
                  </a:cubicBezTo>
                  <a:lnTo>
                    <a:pt x="10743" y="11752"/>
                  </a:lnTo>
                  <a:cubicBezTo>
                    <a:pt x="11342" y="11752"/>
                    <a:pt x="11783" y="11279"/>
                    <a:pt x="11783" y="10744"/>
                  </a:cubicBezTo>
                  <a:cubicBezTo>
                    <a:pt x="11783" y="10145"/>
                    <a:pt x="11311" y="9704"/>
                    <a:pt x="10743" y="9704"/>
                  </a:cubicBezTo>
                  <a:lnTo>
                    <a:pt x="10397" y="9704"/>
                  </a:lnTo>
                  <a:lnTo>
                    <a:pt x="10397" y="9357"/>
                  </a:lnTo>
                  <a:cubicBezTo>
                    <a:pt x="10397" y="8759"/>
                    <a:pt x="9924" y="8318"/>
                    <a:pt x="9389" y="8318"/>
                  </a:cubicBezTo>
                  <a:lnTo>
                    <a:pt x="6238" y="8318"/>
                  </a:lnTo>
                  <a:lnTo>
                    <a:pt x="6238" y="7625"/>
                  </a:lnTo>
                  <a:lnTo>
                    <a:pt x="7246" y="7625"/>
                  </a:lnTo>
                  <a:cubicBezTo>
                    <a:pt x="7845" y="7625"/>
                    <a:pt x="8318" y="7152"/>
                    <a:pt x="8318" y="6585"/>
                  </a:cubicBezTo>
                  <a:lnTo>
                    <a:pt x="8318" y="5167"/>
                  </a:lnTo>
                  <a:cubicBezTo>
                    <a:pt x="8318" y="4569"/>
                    <a:pt x="7845" y="4159"/>
                    <a:pt x="7246" y="4159"/>
                  </a:cubicBezTo>
                  <a:lnTo>
                    <a:pt x="6238" y="4159"/>
                  </a:lnTo>
                  <a:lnTo>
                    <a:pt x="6238" y="3434"/>
                  </a:lnTo>
                  <a:lnTo>
                    <a:pt x="9389" y="3434"/>
                  </a:lnTo>
                  <a:cubicBezTo>
                    <a:pt x="9956" y="3434"/>
                    <a:pt x="10397" y="2962"/>
                    <a:pt x="10397" y="2426"/>
                  </a:cubicBezTo>
                  <a:lnTo>
                    <a:pt x="10397" y="2048"/>
                  </a:lnTo>
                  <a:lnTo>
                    <a:pt x="10743" y="2048"/>
                  </a:lnTo>
                  <a:cubicBezTo>
                    <a:pt x="11342" y="2048"/>
                    <a:pt x="11783" y="1576"/>
                    <a:pt x="11783" y="1040"/>
                  </a:cubicBezTo>
                  <a:cubicBezTo>
                    <a:pt x="11783" y="441"/>
                    <a:pt x="11311" y="0"/>
                    <a:pt x="10743" y="0"/>
                  </a:cubicBezTo>
                  <a:lnTo>
                    <a:pt x="9389" y="0"/>
                  </a:lnTo>
                  <a:cubicBezTo>
                    <a:pt x="8790" y="0"/>
                    <a:pt x="8349" y="473"/>
                    <a:pt x="8349" y="1040"/>
                  </a:cubicBezTo>
                  <a:cubicBezTo>
                    <a:pt x="8349" y="1639"/>
                    <a:pt x="8822" y="2048"/>
                    <a:pt x="9389" y="2048"/>
                  </a:cubicBezTo>
                  <a:lnTo>
                    <a:pt x="9735" y="2048"/>
                  </a:lnTo>
                  <a:lnTo>
                    <a:pt x="9735" y="2426"/>
                  </a:lnTo>
                  <a:cubicBezTo>
                    <a:pt x="9735" y="2615"/>
                    <a:pt x="9578" y="2773"/>
                    <a:pt x="9389" y="2773"/>
                  </a:cubicBezTo>
                  <a:lnTo>
                    <a:pt x="6238" y="2773"/>
                  </a:lnTo>
                  <a:lnTo>
                    <a:pt x="6238" y="2048"/>
                  </a:lnTo>
                  <a:lnTo>
                    <a:pt x="6585" y="2048"/>
                  </a:lnTo>
                  <a:cubicBezTo>
                    <a:pt x="7183" y="2048"/>
                    <a:pt x="7593" y="1576"/>
                    <a:pt x="7593" y="1040"/>
                  </a:cubicBezTo>
                  <a:cubicBezTo>
                    <a:pt x="7593" y="441"/>
                    <a:pt x="7120" y="0"/>
                    <a:pt x="6585" y="0"/>
                  </a:cubicBezTo>
                  <a:lnTo>
                    <a:pt x="5199" y="0"/>
                  </a:lnTo>
                  <a:cubicBezTo>
                    <a:pt x="4631" y="0"/>
                    <a:pt x="4190" y="473"/>
                    <a:pt x="4190" y="1040"/>
                  </a:cubicBezTo>
                  <a:cubicBezTo>
                    <a:pt x="4190" y="1639"/>
                    <a:pt x="4663" y="2048"/>
                    <a:pt x="5199" y="2048"/>
                  </a:cubicBezTo>
                  <a:lnTo>
                    <a:pt x="5577" y="2048"/>
                  </a:lnTo>
                  <a:lnTo>
                    <a:pt x="5577" y="2773"/>
                  </a:lnTo>
                  <a:lnTo>
                    <a:pt x="2426" y="2773"/>
                  </a:lnTo>
                  <a:cubicBezTo>
                    <a:pt x="2206" y="2773"/>
                    <a:pt x="2048" y="2615"/>
                    <a:pt x="2048" y="2426"/>
                  </a:cubicBezTo>
                  <a:lnTo>
                    <a:pt x="2048" y="2048"/>
                  </a:lnTo>
                  <a:lnTo>
                    <a:pt x="2426" y="2048"/>
                  </a:lnTo>
                  <a:cubicBezTo>
                    <a:pt x="2993" y="2048"/>
                    <a:pt x="3434" y="1576"/>
                    <a:pt x="3434" y="1040"/>
                  </a:cubicBezTo>
                  <a:cubicBezTo>
                    <a:pt x="3434" y="441"/>
                    <a:pt x="2962" y="0"/>
                    <a:pt x="2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4;p33">
            <a:extLst>
              <a:ext uri="{FF2B5EF4-FFF2-40B4-BE49-F238E27FC236}">
                <a16:creationId xmlns:a16="http://schemas.microsoft.com/office/drawing/2014/main" id="{8828DA78-2ED5-71BC-7188-37D38010366C}"/>
              </a:ext>
            </a:extLst>
          </p:cNvPr>
          <p:cNvSpPr/>
          <p:nvPr/>
        </p:nvSpPr>
        <p:spPr>
          <a:xfrm>
            <a:off x="6027096" y="1204485"/>
            <a:ext cx="802800" cy="802800"/>
          </a:xfrm>
          <a:prstGeom prst="ellipse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>
                  <a:lumMod val="90000"/>
                </a:schemeClr>
              </a:solidFill>
            </a:endParaRPr>
          </a:p>
        </p:txBody>
      </p:sp>
      <p:sp>
        <p:nvSpPr>
          <p:cNvPr id="603" name="Google Shape;603;p33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MVC</a:t>
            </a:r>
            <a:endParaRPr dirty="0"/>
          </a:p>
        </p:txBody>
      </p:sp>
      <p:sp>
        <p:nvSpPr>
          <p:cNvPr id="605" name="Google Shape;605;p33"/>
          <p:cNvSpPr txBox="1"/>
          <p:nvPr/>
        </p:nvSpPr>
        <p:spPr>
          <a:xfrm>
            <a:off x="1671054" y="3202950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Database Tables, field definitions, ect.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7" name="Google Shape;607;p33"/>
          <p:cNvSpPr txBox="1"/>
          <p:nvPr/>
        </p:nvSpPr>
        <p:spPr>
          <a:xfrm>
            <a:off x="5577065" y="3273845"/>
            <a:ext cx="16653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Logic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3634872" y="3276324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UI elements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624" name="Google Shape;624;p33"/>
          <p:cNvGrpSpPr/>
          <p:nvPr/>
        </p:nvGrpSpPr>
        <p:grpSpPr>
          <a:xfrm>
            <a:off x="3535006" y="1128150"/>
            <a:ext cx="3107051" cy="1820950"/>
            <a:chOff x="2641232" y="1228513"/>
            <a:chExt cx="3107051" cy="1820950"/>
          </a:xfrm>
        </p:grpSpPr>
        <p:grpSp>
          <p:nvGrpSpPr>
            <p:cNvPr id="625" name="Google Shape;625;p33"/>
            <p:cNvGrpSpPr/>
            <p:nvPr/>
          </p:nvGrpSpPr>
          <p:grpSpPr>
            <a:xfrm>
              <a:off x="2641232" y="2672063"/>
              <a:ext cx="1930800" cy="377400"/>
              <a:chOff x="2641232" y="2672063"/>
              <a:chExt cx="1930800" cy="377400"/>
            </a:xfrm>
          </p:grpSpPr>
          <p:sp>
            <p:nvSpPr>
              <p:cNvPr id="626" name="Google Shape;626;p33"/>
              <p:cNvSpPr/>
              <p:nvPr/>
            </p:nvSpPr>
            <p:spPr>
              <a:xfrm rot="-5400000">
                <a:off x="3417932" y="1895363"/>
                <a:ext cx="377400" cy="19308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 txBox="1"/>
              <p:nvPr/>
            </p:nvSpPr>
            <p:spPr>
              <a:xfrm>
                <a:off x="2803232" y="2672063"/>
                <a:ext cx="1606800" cy="377400"/>
              </a:xfrm>
              <a:prstGeom prst="rect">
                <a:avLst/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View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sp>
          <p:nvSpPr>
            <p:cNvPr id="628" name="Google Shape;628;p33"/>
            <p:cNvSpPr/>
            <p:nvPr/>
          </p:nvSpPr>
          <p:spPr>
            <a:xfrm>
              <a:off x="3126332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9" name="Google Shape;629;p33"/>
            <p:cNvCxnSpPr>
              <a:stCxn id="628" idx="4"/>
              <a:endCxn id="627" idx="0"/>
            </p:cNvCxnSpPr>
            <p:nvPr/>
          </p:nvCxnSpPr>
          <p:spPr>
            <a:xfrm>
              <a:off x="3606632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30" name="Google Shape;630;p33"/>
            <p:cNvGrpSpPr/>
            <p:nvPr/>
          </p:nvGrpSpPr>
          <p:grpSpPr>
            <a:xfrm>
              <a:off x="3205232" y="1307413"/>
              <a:ext cx="2543051" cy="802800"/>
              <a:chOff x="3205232" y="1307413"/>
              <a:chExt cx="2543051" cy="802800"/>
            </a:xfrm>
          </p:grpSpPr>
          <p:sp>
            <p:nvSpPr>
              <p:cNvPr id="631" name="Google Shape;631;p33"/>
              <p:cNvSpPr/>
              <p:nvPr/>
            </p:nvSpPr>
            <p:spPr>
              <a:xfrm>
                <a:off x="3205232" y="1307413"/>
                <a:ext cx="802800" cy="802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32" name="Google Shape;632;p33"/>
              <p:cNvGrpSpPr/>
              <p:nvPr/>
            </p:nvGrpSpPr>
            <p:grpSpPr>
              <a:xfrm>
                <a:off x="5396343" y="1493481"/>
                <a:ext cx="351940" cy="379218"/>
                <a:chOff x="3335390" y="3948115"/>
                <a:chExt cx="297750" cy="320828"/>
              </a:xfrm>
            </p:grpSpPr>
            <p:sp>
              <p:nvSpPr>
                <p:cNvPr id="633" name="Google Shape;633;p33"/>
                <p:cNvSpPr/>
                <p:nvPr/>
              </p:nvSpPr>
              <p:spPr>
                <a:xfrm>
                  <a:off x="3436573" y="3948115"/>
                  <a:ext cx="86675" cy="87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4" name="Google Shape;634;p33"/>
                <p:cNvSpPr/>
                <p:nvPr/>
              </p:nvSpPr>
              <p:spPr>
                <a:xfrm>
                  <a:off x="3335390" y="4083043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5" name="Google Shape;635;p33"/>
                <p:cNvSpPr/>
                <p:nvPr/>
              </p:nvSpPr>
              <p:spPr>
                <a:xfrm>
                  <a:off x="3440927" y="4048380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33"/>
          <p:cNvGrpSpPr/>
          <p:nvPr/>
        </p:nvGrpSpPr>
        <p:grpSpPr>
          <a:xfrm>
            <a:off x="1604071" y="1128150"/>
            <a:ext cx="1930800" cy="1820950"/>
            <a:chOff x="710297" y="1228513"/>
            <a:chExt cx="1930800" cy="1820950"/>
          </a:xfrm>
        </p:grpSpPr>
        <p:grpSp>
          <p:nvGrpSpPr>
            <p:cNvPr id="637" name="Google Shape;637;p33"/>
            <p:cNvGrpSpPr/>
            <p:nvPr/>
          </p:nvGrpSpPr>
          <p:grpSpPr>
            <a:xfrm>
              <a:off x="710297" y="2672063"/>
              <a:ext cx="1930800" cy="377400"/>
              <a:chOff x="710297" y="2672063"/>
              <a:chExt cx="1930800" cy="377400"/>
            </a:xfrm>
          </p:grpSpPr>
          <p:sp>
            <p:nvSpPr>
              <p:cNvPr id="638" name="Google Shape;638;p33"/>
              <p:cNvSpPr/>
              <p:nvPr/>
            </p:nvSpPr>
            <p:spPr>
              <a:xfrm rot="-5400000">
                <a:off x="1486997" y="1895363"/>
                <a:ext cx="377400" cy="1930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/>
              <p:cNvSpPr txBox="1"/>
              <p:nvPr/>
            </p:nvSpPr>
            <p:spPr>
              <a:xfrm>
                <a:off x="872297" y="2672063"/>
                <a:ext cx="1606800" cy="377400"/>
              </a:xfrm>
              <a:prstGeom prst="rect">
                <a:avLst/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Model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grpSp>
          <p:nvGrpSpPr>
            <p:cNvPr id="640" name="Google Shape;640;p33"/>
            <p:cNvGrpSpPr/>
            <p:nvPr/>
          </p:nvGrpSpPr>
          <p:grpSpPr>
            <a:xfrm>
              <a:off x="1195397" y="1228513"/>
              <a:ext cx="960600" cy="1443550"/>
              <a:chOff x="1195397" y="1228513"/>
              <a:chExt cx="960600" cy="1443550"/>
            </a:xfrm>
          </p:grpSpPr>
          <p:sp>
            <p:nvSpPr>
              <p:cNvPr id="641" name="Google Shape;641;p33"/>
              <p:cNvSpPr/>
              <p:nvPr/>
            </p:nvSpPr>
            <p:spPr>
              <a:xfrm>
                <a:off x="1195397" y="1228513"/>
                <a:ext cx="960600" cy="960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42" name="Google Shape;642;p33"/>
              <p:cNvCxnSpPr>
                <a:endCxn id="639" idx="0"/>
              </p:cNvCxnSpPr>
              <p:nvPr/>
            </p:nvCxnSpPr>
            <p:spPr>
              <a:xfrm>
                <a:off x="1675697" y="2189063"/>
                <a:ext cx="0" cy="483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643" name="Google Shape;643;p33"/>
              <p:cNvGrpSpPr/>
              <p:nvPr/>
            </p:nvGrpSpPr>
            <p:grpSpPr>
              <a:xfrm>
                <a:off x="1274297" y="1307413"/>
                <a:ext cx="802800" cy="802800"/>
                <a:chOff x="1274297" y="1307413"/>
                <a:chExt cx="802800" cy="802800"/>
              </a:xfrm>
            </p:grpSpPr>
            <p:sp>
              <p:nvSpPr>
                <p:cNvPr id="644" name="Google Shape;644;p33"/>
                <p:cNvSpPr/>
                <p:nvPr/>
              </p:nvSpPr>
              <p:spPr>
                <a:xfrm>
                  <a:off x="1274297" y="1307413"/>
                  <a:ext cx="802800" cy="802800"/>
                </a:xfrm>
                <a:prstGeom prst="ellipse">
                  <a:avLst/>
                </a:prstGeom>
                <a:solidFill>
                  <a:srgbClr val="7BD9C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45" name="Google Shape;645;p33"/>
                <p:cNvGrpSpPr/>
                <p:nvPr/>
              </p:nvGrpSpPr>
              <p:grpSpPr>
                <a:xfrm>
                  <a:off x="1453395" y="1498533"/>
                  <a:ext cx="444605" cy="420559"/>
                  <a:chOff x="-6338550" y="3272950"/>
                  <a:chExt cx="308775" cy="292075"/>
                </a:xfrm>
              </p:grpSpPr>
              <p:sp>
                <p:nvSpPr>
                  <p:cNvPr id="646" name="Google Shape;646;p33"/>
                  <p:cNvSpPr/>
                  <p:nvPr/>
                </p:nvSpPr>
                <p:spPr>
                  <a:xfrm>
                    <a:off x="-6338550" y="3272950"/>
                    <a:ext cx="308775" cy="11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1" h="4790" extrusionOk="0">
                        <a:moveTo>
                          <a:pt x="6144" y="2017"/>
                        </a:moveTo>
                        <a:cubicBezTo>
                          <a:pt x="6333" y="2017"/>
                          <a:pt x="6491" y="2206"/>
                          <a:pt x="6491" y="2395"/>
                        </a:cubicBezTo>
                        <a:cubicBezTo>
                          <a:pt x="6459" y="2584"/>
                          <a:pt x="6333" y="2742"/>
                          <a:pt x="6144" y="2742"/>
                        </a:cubicBezTo>
                        <a:cubicBezTo>
                          <a:pt x="5955" y="2742"/>
                          <a:pt x="5797" y="2584"/>
                          <a:pt x="5797" y="2395"/>
                        </a:cubicBezTo>
                        <a:cubicBezTo>
                          <a:pt x="5797" y="2206"/>
                          <a:pt x="5955" y="2017"/>
                          <a:pt x="6144" y="2017"/>
                        </a:cubicBezTo>
                        <a:close/>
                        <a:moveTo>
                          <a:pt x="6144" y="1"/>
                        </a:moveTo>
                        <a:cubicBezTo>
                          <a:pt x="4789" y="1"/>
                          <a:pt x="3750" y="1040"/>
                          <a:pt x="3750" y="2395"/>
                        </a:cubicBezTo>
                        <a:cubicBezTo>
                          <a:pt x="3750" y="2521"/>
                          <a:pt x="3750" y="2616"/>
                          <a:pt x="3781" y="2742"/>
                        </a:cubicBezTo>
                        <a:lnTo>
                          <a:pt x="1324" y="2742"/>
                        </a:lnTo>
                        <a:cubicBezTo>
                          <a:pt x="1" y="2742"/>
                          <a:pt x="1" y="4790"/>
                          <a:pt x="1324" y="4790"/>
                        </a:cubicBezTo>
                        <a:lnTo>
                          <a:pt x="10996" y="4790"/>
                        </a:lnTo>
                        <a:cubicBezTo>
                          <a:pt x="12351" y="4790"/>
                          <a:pt x="12351" y="2742"/>
                          <a:pt x="10996" y="2742"/>
                        </a:cubicBezTo>
                        <a:lnTo>
                          <a:pt x="8507" y="2742"/>
                        </a:lnTo>
                        <a:cubicBezTo>
                          <a:pt x="8507" y="2616"/>
                          <a:pt x="8538" y="2521"/>
                          <a:pt x="8538" y="2395"/>
                        </a:cubicBezTo>
                        <a:cubicBezTo>
                          <a:pt x="8538" y="1040"/>
                          <a:pt x="7467" y="1"/>
                          <a:pt x="61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7" name="Google Shape;647;p33"/>
                  <p:cNvSpPr/>
                  <p:nvPr/>
                </p:nvSpPr>
                <p:spPr>
                  <a:xfrm>
                    <a:off x="-6228275" y="3479325"/>
                    <a:ext cx="86650" cy="85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66" h="3428" extrusionOk="0">
                        <a:moveTo>
                          <a:pt x="32" y="0"/>
                        </a:moveTo>
                        <a:lnTo>
                          <a:pt x="32" y="3088"/>
                        </a:lnTo>
                        <a:lnTo>
                          <a:pt x="0" y="3088"/>
                        </a:lnTo>
                        <a:cubicBezTo>
                          <a:pt x="0" y="3268"/>
                          <a:pt x="190" y="3428"/>
                          <a:pt x="380" y="3428"/>
                        </a:cubicBezTo>
                        <a:cubicBezTo>
                          <a:pt x="422" y="3428"/>
                          <a:pt x="464" y="3420"/>
                          <a:pt x="504" y="3403"/>
                        </a:cubicBezTo>
                        <a:lnTo>
                          <a:pt x="3277" y="2016"/>
                        </a:lnTo>
                        <a:cubicBezTo>
                          <a:pt x="3371" y="1985"/>
                          <a:pt x="3466" y="1859"/>
                          <a:pt x="3466" y="1701"/>
                        </a:cubicBezTo>
                        <a:lnTo>
                          <a:pt x="3466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8" name="Google Shape;648;p33"/>
                  <p:cNvSpPr/>
                  <p:nvPr/>
                </p:nvSpPr>
                <p:spPr>
                  <a:xfrm>
                    <a:off x="-6292075" y="3410800"/>
                    <a:ext cx="212675" cy="50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07" h="2017" extrusionOk="0">
                        <a:moveTo>
                          <a:pt x="0" y="0"/>
                        </a:moveTo>
                        <a:lnTo>
                          <a:pt x="2048" y="2016"/>
                        </a:lnTo>
                        <a:lnTo>
                          <a:pt x="6459" y="2016"/>
                        </a:lnTo>
                        <a:lnTo>
                          <a:pt x="850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649" name="Google Shape;649;p33"/>
          <p:cNvGrpSpPr/>
          <p:nvPr/>
        </p:nvGrpSpPr>
        <p:grpSpPr>
          <a:xfrm>
            <a:off x="4304642" y="1128150"/>
            <a:ext cx="2606999" cy="1443600"/>
            <a:chOff x="3410868" y="1228513"/>
            <a:chExt cx="2606999" cy="1443600"/>
          </a:xfrm>
        </p:grpSpPr>
        <p:sp>
          <p:nvSpPr>
            <p:cNvPr id="653" name="Google Shape;653;p33"/>
            <p:cNvSpPr/>
            <p:nvPr/>
          </p:nvSpPr>
          <p:spPr>
            <a:xfrm>
              <a:off x="5057267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4" name="Google Shape;654;p33"/>
            <p:cNvCxnSpPr>
              <a:cxnSpLocks/>
              <a:stCxn id="653" idx="4"/>
            </p:cNvCxnSpPr>
            <p:nvPr/>
          </p:nvCxnSpPr>
          <p:spPr>
            <a:xfrm>
              <a:off x="5537567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7" name="Google Shape;657;p33"/>
            <p:cNvGrpSpPr/>
            <p:nvPr/>
          </p:nvGrpSpPr>
          <p:grpSpPr>
            <a:xfrm>
              <a:off x="3410868" y="1522347"/>
              <a:ext cx="421942" cy="397034"/>
              <a:chOff x="-2922793" y="3966548"/>
              <a:chExt cx="293036" cy="275738"/>
            </a:xfrm>
          </p:grpSpPr>
          <p:sp>
            <p:nvSpPr>
              <p:cNvPr id="658" name="Google Shape;658;p33"/>
              <p:cNvSpPr/>
              <p:nvPr/>
            </p:nvSpPr>
            <p:spPr>
              <a:xfrm>
                <a:off x="-2922793" y="3966548"/>
                <a:ext cx="2922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42" extrusionOk="0">
                    <a:moveTo>
                      <a:pt x="9894" y="1355"/>
                    </a:moveTo>
                    <a:cubicBezTo>
                      <a:pt x="10335" y="1355"/>
                      <a:pt x="10366" y="2017"/>
                      <a:pt x="9894" y="2017"/>
                    </a:cubicBezTo>
                    <a:lnTo>
                      <a:pt x="5798" y="2017"/>
                    </a:lnTo>
                    <a:cubicBezTo>
                      <a:pt x="5778" y="2019"/>
                      <a:pt x="5759" y="2021"/>
                      <a:pt x="5741" y="2021"/>
                    </a:cubicBezTo>
                    <a:cubicBezTo>
                      <a:pt x="5326" y="2021"/>
                      <a:pt x="5345" y="1355"/>
                      <a:pt x="5798" y="1355"/>
                    </a:cubicBezTo>
                    <a:close/>
                    <a:moveTo>
                      <a:pt x="1671" y="1355"/>
                    </a:moveTo>
                    <a:cubicBezTo>
                      <a:pt x="1860" y="1355"/>
                      <a:pt x="2017" y="1513"/>
                      <a:pt x="2017" y="1702"/>
                    </a:cubicBezTo>
                    <a:cubicBezTo>
                      <a:pt x="2017" y="1891"/>
                      <a:pt x="1860" y="2048"/>
                      <a:pt x="1671" y="2048"/>
                    </a:cubicBezTo>
                    <a:cubicBezTo>
                      <a:pt x="1482" y="2048"/>
                      <a:pt x="1324" y="1891"/>
                      <a:pt x="1324" y="1702"/>
                    </a:cubicBezTo>
                    <a:cubicBezTo>
                      <a:pt x="1356" y="1513"/>
                      <a:pt x="1513" y="1355"/>
                      <a:pt x="1671" y="1355"/>
                    </a:cubicBezTo>
                    <a:close/>
                    <a:moveTo>
                      <a:pt x="3057" y="1355"/>
                    </a:moveTo>
                    <a:cubicBezTo>
                      <a:pt x="3246" y="1355"/>
                      <a:pt x="3404" y="1513"/>
                      <a:pt x="3404" y="1702"/>
                    </a:cubicBezTo>
                    <a:cubicBezTo>
                      <a:pt x="3404" y="1891"/>
                      <a:pt x="3246" y="2048"/>
                      <a:pt x="3057" y="2048"/>
                    </a:cubicBezTo>
                    <a:cubicBezTo>
                      <a:pt x="2836" y="2048"/>
                      <a:pt x="2679" y="1891"/>
                      <a:pt x="2679" y="1702"/>
                    </a:cubicBezTo>
                    <a:cubicBezTo>
                      <a:pt x="2679" y="1513"/>
                      <a:pt x="2836" y="1355"/>
                      <a:pt x="3057" y="1355"/>
                    </a:cubicBezTo>
                    <a:close/>
                    <a:moveTo>
                      <a:pt x="4412" y="1355"/>
                    </a:moveTo>
                    <a:cubicBezTo>
                      <a:pt x="4632" y="1355"/>
                      <a:pt x="4790" y="1513"/>
                      <a:pt x="4790" y="1702"/>
                    </a:cubicBezTo>
                    <a:cubicBezTo>
                      <a:pt x="4790" y="1891"/>
                      <a:pt x="4632" y="2048"/>
                      <a:pt x="4412" y="2048"/>
                    </a:cubicBezTo>
                    <a:cubicBezTo>
                      <a:pt x="4223" y="2048"/>
                      <a:pt x="4065" y="1891"/>
                      <a:pt x="4065" y="1702"/>
                    </a:cubicBezTo>
                    <a:cubicBezTo>
                      <a:pt x="4065" y="1513"/>
                      <a:pt x="4223" y="1355"/>
                      <a:pt x="4412" y="1355"/>
                    </a:cubicBezTo>
                    <a:close/>
                    <a:moveTo>
                      <a:pt x="1041" y="0"/>
                    </a:moveTo>
                    <a:cubicBezTo>
                      <a:pt x="474" y="0"/>
                      <a:pt x="1" y="473"/>
                      <a:pt x="1" y="1040"/>
                    </a:cubicBezTo>
                    <a:lnTo>
                      <a:pt x="1" y="2741"/>
                    </a:lnTo>
                    <a:lnTo>
                      <a:pt x="11689" y="2741"/>
                    </a:lnTo>
                    <a:lnTo>
                      <a:pt x="11689" y="1040"/>
                    </a:lnTo>
                    <a:cubicBezTo>
                      <a:pt x="11689" y="505"/>
                      <a:pt x="11154" y="0"/>
                      <a:pt x="10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-2921207" y="4052423"/>
                <a:ext cx="291450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869" extrusionOk="0">
                    <a:moveTo>
                      <a:pt x="0" y="0"/>
                    </a:moveTo>
                    <a:lnTo>
                      <a:pt x="0" y="5829"/>
                    </a:lnTo>
                    <a:cubicBezTo>
                      <a:pt x="0" y="6396"/>
                      <a:pt x="473" y="6869"/>
                      <a:pt x="1040" y="6869"/>
                    </a:cubicBezTo>
                    <a:lnTo>
                      <a:pt x="2867" y="6869"/>
                    </a:lnTo>
                    <a:lnTo>
                      <a:pt x="2647" y="6616"/>
                    </a:lnTo>
                    <a:cubicBezTo>
                      <a:pt x="2521" y="6522"/>
                      <a:pt x="2521" y="6270"/>
                      <a:pt x="2647" y="6144"/>
                    </a:cubicBezTo>
                    <a:lnTo>
                      <a:pt x="2993" y="5797"/>
                    </a:lnTo>
                    <a:cubicBezTo>
                      <a:pt x="2962" y="5734"/>
                      <a:pt x="2930" y="5608"/>
                      <a:pt x="2867" y="5482"/>
                    </a:cubicBezTo>
                    <a:lnTo>
                      <a:pt x="2363" y="5482"/>
                    </a:lnTo>
                    <a:cubicBezTo>
                      <a:pt x="2174" y="5482"/>
                      <a:pt x="2017" y="5325"/>
                      <a:pt x="2017" y="5136"/>
                    </a:cubicBezTo>
                    <a:lnTo>
                      <a:pt x="2017" y="3750"/>
                    </a:lnTo>
                    <a:cubicBezTo>
                      <a:pt x="2017" y="3561"/>
                      <a:pt x="2174" y="3403"/>
                      <a:pt x="2363" y="3403"/>
                    </a:cubicBezTo>
                    <a:lnTo>
                      <a:pt x="2867" y="3403"/>
                    </a:lnTo>
                    <a:cubicBezTo>
                      <a:pt x="2930" y="3277"/>
                      <a:pt x="2962" y="3214"/>
                      <a:pt x="2993" y="3088"/>
                    </a:cubicBezTo>
                    <a:lnTo>
                      <a:pt x="2647" y="2741"/>
                    </a:lnTo>
                    <a:cubicBezTo>
                      <a:pt x="2521" y="2615"/>
                      <a:pt x="2521" y="2363"/>
                      <a:pt x="2647" y="2269"/>
                    </a:cubicBezTo>
                    <a:lnTo>
                      <a:pt x="3624" y="1261"/>
                    </a:lnTo>
                    <a:cubicBezTo>
                      <a:pt x="3687" y="1213"/>
                      <a:pt x="3773" y="1190"/>
                      <a:pt x="3860" y="1190"/>
                    </a:cubicBezTo>
                    <a:cubicBezTo>
                      <a:pt x="3946" y="1190"/>
                      <a:pt x="4033" y="1213"/>
                      <a:pt x="4096" y="1261"/>
                    </a:cubicBezTo>
                    <a:lnTo>
                      <a:pt x="4443" y="1639"/>
                    </a:lnTo>
                    <a:cubicBezTo>
                      <a:pt x="4537" y="1576"/>
                      <a:pt x="4663" y="1544"/>
                      <a:pt x="4758" y="1513"/>
                    </a:cubicBezTo>
                    <a:lnTo>
                      <a:pt x="4758" y="1009"/>
                    </a:lnTo>
                    <a:cubicBezTo>
                      <a:pt x="4758" y="788"/>
                      <a:pt x="4915" y="631"/>
                      <a:pt x="5136" y="631"/>
                    </a:cubicBezTo>
                    <a:lnTo>
                      <a:pt x="6490" y="631"/>
                    </a:lnTo>
                    <a:cubicBezTo>
                      <a:pt x="6711" y="631"/>
                      <a:pt x="6869" y="788"/>
                      <a:pt x="6869" y="1009"/>
                    </a:cubicBezTo>
                    <a:lnTo>
                      <a:pt x="6869" y="1513"/>
                    </a:lnTo>
                    <a:cubicBezTo>
                      <a:pt x="6963" y="1544"/>
                      <a:pt x="7058" y="1576"/>
                      <a:pt x="7184" y="1639"/>
                    </a:cubicBezTo>
                    <a:lnTo>
                      <a:pt x="7530" y="1261"/>
                    </a:lnTo>
                    <a:cubicBezTo>
                      <a:pt x="7593" y="1213"/>
                      <a:pt x="7680" y="1190"/>
                      <a:pt x="7766" y="1190"/>
                    </a:cubicBezTo>
                    <a:cubicBezTo>
                      <a:pt x="7853" y="1190"/>
                      <a:pt x="7940" y="1213"/>
                      <a:pt x="8003" y="1261"/>
                    </a:cubicBezTo>
                    <a:lnTo>
                      <a:pt x="8979" y="2269"/>
                    </a:lnTo>
                    <a:cubicBezTo>
                      <a:pt x="9105" y="2363"/>
                      <a:pt x="9105" y="2615"/>
                      <a:pt x="8979" y="2741"/>
                    </a:cubicBezTo>
                    <a:lnTo>
                      <a:pt x="8633" y="3088"/>
                    </a:lnTo>
                    <a:cubicBezTo>
                      <a:pt x="8664" y="3151"/>
                      <a:pt x="8696" y="3277"/>
                      <a:pt x="8759" y="3403"/>
                    </a:cubicBezTo>
                    <a:lnTo>
                      <a:pt x="9263" y="3403"/>
                    </a:lnTo>
                    <a:cubicBezTo>
                      <a:pt x="9452" y="3403"/>
                      <a:pt x="9609" y="3561"/>
                      <a:pt x="9609" y="3750"/>
                    </a:cubicBezTo>
                    <a:lnTo>
                      <a:pt x="9609" y="5136"/>
                    </a:lnTo>
                    <a:cubicBezTo>
                      <a:pt x="9609" y="5325"/>
                      <a:pt x="9452" y="5482"/>
                      <a:pt x="9263" y="5482"/>
                    </a:cubicBezTo>
                    <a:lnTo>
                      <a:pt x="8759" y="5482"/>
                    </a:lnTo>
                    <a:cubicBezTo>
                      <a:pt x="8727" y="5608"/>
                      <a:pt x="8664" y="5671"/>
                      <a:pt x="8633" y="5797"/>
                    </a:cubicBezTo>
                    <a:lnTo>
                      <a:pt x="8979" y="6144"/>
                    </a:lnTo>
                    <a:cubicBezTo>
                      <a:pt x="9105" y="6270"/>
                      <a:pt x="9105" y="6522"/>
                      <a:pt x="8979" y="6616"/>
                    </a:cubicBezTo>
                    <a:lnTo>
                      <a:pt x="8759" y="6869"/>
                    </a:lnTo>
                    <a:lnTo>
                      <a:pt x="10586" y="6869"/>
                    </a:lnTo>
                    <a:cubicBezTo>
                      <a:pt x="11153" y="6869"/>
                      <a:pt x="11657" y="6396"/>
                      <a:pt x="11657" y="5829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-2802281" y="4138285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009" y="1"/>
                    </a:moveTo>
                    <a:cubicBezTo>
                      <a:pt x="442" y="1"/>
                      <a:pt x="1" y="473"/>
                      <a:pt x="1" y="1009"/>
                    </a:cubicBezTo>
                    <a:cubicBezTo>
                      <a:pt x="1" y="1576"/>
                      <a:pt x="442" y="2048"/>
                      <a:pt x="1009" y="2048"/>
                    </a:cubicBezTo>
                    <a:cubicBezTo>
                      <a:pt x="1576" y="2048"/>
                      <a:pt x="2049" y="1576"/>
                      <a:pt x="2049" y="1009"/>
                    </a:cubicBezTo>
                    <a:cubicBezTo>
                      <a:pt x="2049" y="473"/>
                      <a:pt x="1576" y="1"/>
                      <a:pt x="10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-2855056" y="4085511"/>
                <a:ext cx="156775" cy="156775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6271" extrusionOk="0">
                    <a:moveTo>
                      <a:pt x="3183" y="1418"/>
                    </a:moveTo>
                    <a:cubicBezTo>
                      <a:pt x="4128" y="1418"/>
                      <a:pt x="4884" y="2175"/>
                      <a:pt x="4884" y="3120"/>
                    </a:cubicBezTo>
                    <a:cubicBezTo>
                      <a:pt x="4884" y="4033"/>
                      <a:pt x="4128" y="4821"/>
                      <a:pt x="3183" y="4821"/>
                    </a:cubicBezTo>
                    <a:cubicBezTo>
                      <a:pt x="2238" y="4821"/>
                      <a:pt x="1482" y="4065"/>
                      <a:pt x="1482" y="3120"/>
                    </a:cubicBezTo>
                    <a:cubicBezTo>
                      <a:pt x="1482" y="2175"/>
                      <a:pt x="2238" y="1418"/>
                      <a:pt x="3183" y="1418"/>
                    </a:cubicBezTo>
                    <a:close/>
                    <a:moveTo>
                      <a:pt x="2805" y="1"/>
                    </a:moveTo>
                    <a:lnTo>
                      <a:pt x="2805" y="442"/>
                    </a:lnTo>
                    <a:cubicBezTo>
                      <a:pt x="2805" y="599"/>
                      <a:pt x="2679" y="725"/>
                      <a:pt x="2521" y="757"/>
                    </a:cubicBezTo>
                    <a:cubicBezTo>
                      <a:pt x="2332" y="788"/>
                      <a:pt x="2080" y="914"/>
                      <a:pt x="1891" y="1040"/>
                    </a:cubicBezTo>
                    <a:cubicBezTo>
                      <a:pt x="1847" y="1063"/>
                      <a:pt x="1794" y="1073"/>
                      <a:pt x="1739" y="1073"/>
                    </a:cubicBezTo>
                    <a:cubicBezTo>
                      <a:pt x="1639" y="1073"/>
                      <a:pt x="1531" y="1038"/>
                      <a:pt x="1450" y="977"/>
                    </a:cubicBezTo>
                    <a:lnTo>
                      <a:pt x="1135" y="662"/>
                    </a:lnTo>
                    <a:lnTo>
                      <a:pt x="662" y="1135"/>
                    </a:lnTo>
                    <a:lnTo>
                      <a:pt x="978" y="1450"/>
                    </a:lnTo>
                    <a:cubicBezTo>
                      <a:pt x="1104" y="1576"/>
                      <a:pt x="1104" y="1733"/>
                      <a:pt x="1041" y="1891"/>
                    </a:cubicBezTo>
                    <a:cubicBezTo>
                      <a:pt x="915" y="2080"/>
                      <a:pt x="820" y="2301"/>
                      <a:pt x="757" y="2521"/>
                    </a:cubicBezTo>
                    <a:cubicBezTo>
                      <a:pt x="726" y="2679"/>
                      <a:pt x="599" y="2805"/>
                      <a:pt x="442" y="2805"/>
                    </a:cubicBezTo>
                    <a:lnTo>
                      <a:pt x="1" y="2805"/>
                    </a:lnTo>
                    <a:lnTo>
                      <a:pt x="1" y="3466"/>
                    </a:lnTo>
                    <a:lnTo>
                      <a:pt x="442" y="3466"/>
                    </a:lnTo>
                    <a:cubicBezTo>
                      <a:pt x="599" y="3466"/>
                      <a:pt x="726" y="3592"/>
                      <a:pt x="757" y="3750"/>
                    </a:cubicBezTo>
                    <a:cubicBezTo>
                      <a:pt x="789" y="3939"/>
                      <a:pt x="915" y="4191"/>
                      <a:pt x="1041" y="4380"/>
                    </a:cubicBezTo>
                    <a:cubicBezTo>
                      <a:pt x="1104" y="4506"/>
                      <a:pt x="1072" y="4695"/>
                      <a:pt x="978" y="4821"/>
                    </a:cubicBezTo>
                    <a:lnTo>
                      <a:pt x="662" y="5136"/>
                    </a:lnTo>
                    <a:lnTo>
                      <a:pt x="1135" y="5609"/>
                    </a:lnTo>
                    <a:lnTo>
                      <a:pt x="1450" y="5294"/>
                    </a:lnTo>
                    <a:cubicBezTo>
                      <a:pt x="1524" y="5220"/>
                      <a:pt x="1609" y="5189"/>
                      <a:pt x="1698" y="5189"/>
                    </a:cubicBezTo>
                    <a:cubicBezTo>
                      <a:pt x="1761" y="5189"/>
                      <a:pt x="1826" y="5204"/>
                      <a:pt x="1891" y="5230"/>
                    </a:cubicBezTo>
                    <a:cubicBezTo>
                      <a:pt x="2080" y="5357"/>
                      <a:pt x="2301" y="5451"/>
                      <a:pt x="2521" y="5514"/>
                    </a:cubicBezTo>
                    <a:cubicBezTo>
                      <a:pt x="2679" y="5546"/>
                      <a:pt x="2805" y="5672"/>
                      <a:pt x="2805" y="5829"/>
                    </a:cubicBezTo>
                    <a:lnTo>
                      <a:pt x="2805" y="6270"/>
                    </a:lnTo>
                    <a:lnTo>
                      <a:pt x="3466" y="6270"/>
                    </a:lnTo>
                    <a:lnTo>
                      <a:pt x="3466" y="5829"/>
                    </a:lnTo>
                    <a:cubicBezTo>
                      <a:pt x="3466" y="5672"/>
                      <a:pt x="3592" y="5546"/>
                      <a:pt x="3750" y="5514"/>
                    </a:cubicBezTo>
                    <a:cubicBezTo>
                      <a:pt x="3939" y="5483"/>
                      <a:pt x="4160" y="5357"/>
                      <a:pt x="4380" y="5230"/>
                    </a:cubicBezTo>
                    <a:cubicBezTo>
                      <a:pt x="4414" y="5208"/>
                      <a:pt x="4463" y="5198"/>
                      <a:pt x="4517" y="5198"/>
                    </a:cubicBezTo>
                    <a:cubicBezTo>
                      <a:pt x="4615" y="5198"/>
                      <a:pt x="4729" y="5232"/>
                      <a:pt x="4790" y="5294"/>
                    </a:cubicBezTo>
                    <a:lnTo>
                      <a:pt x="5105" y="5609"/>
                    </a:lnTo>
                    <a:lnTo>
                      <a:pt x="5577" y="5136"/>
                    </a:lnTo>
                    <a:lnTo>
                      <a:pt x="5262" y="4821"/>
                    </a:lnTo>
                    <a:cubicBezTo>
                      <a:pt x="5168" y="4695"/>
                      <a:pt x="5168" y="4537"/>
                      <a:pt x="5231" y="4380"/>
                    </a:cubicBezTo>
                    <a:cubicBezTo>
                      <a:pt x="5357" y="4191"/>
                      <a:pt x="5420" y="3970"/>
                      <a:pt x="5514" y="3750"/>
                    </a:cubicBezTo>
                    <a:cubicBezTo>
                      <a:pt x="5546" y="3592"/>
                      <a:pt x="5672" y="3466"/>
                      <a:pt x="5829" y="3466"/>
                    </a:cubicBezTo>
                    <a:lnTo>
                      <a:pt x="6270" y="3466"/>
                    </a:lnTo>
                    <a:lnTo>
                      <a:pt x="6270" y="2773"/>
                    </a:lnTo>
                    <a:lnTo>
                      <a:pt x="5829" y="2773"/>
                    </a:lnTo>
                    <a:cubicBezTo>
                      <a:pt x="5672" y="2773"/>
                      <a:pt x="5546" y="2647"/>
                      <a:pt x="5514" y="2490"/>
                    </a:cubicBezTo>
                    <a:cubicBezTo>
                      <a:pt x="5483" y="2301"/>
                      <a:pt x="5357" y="2049"/>
                      <a:pt x="5231" y="1859"/>
                    </a:cubicBezTo>
                    <a:cubicBezTo>
                      <a:pt x="5168" y="1733"/>
                      <a:pt x="5199" y="1544"/>
                      <a:pt x="5262" y="1418"/>
                    </a:cubicBezTo>
                    <a:lnTo>
                      <a:pt x="5577" y="1103"/>
                    </a:lnTo>
                    <a:lnTo>
                      <a:pt x="5105" y="631"/>
                    </a:lnTo>
                    <a:lnTo>
                      <a:pt x="4790" y="946"/>
                    </a:lnTo>
                    <a:cubicBezTo>
                      <a:pt x="4739" y="1013"/>
                      <a:pt x="4670" y="1045"/>
                      <a:pt x="4593" y="1045"/>
                    </a:cubicBezTo>
                    <a:cubicBezTo>
                      <a:pt x="4526" y="1045"/>
                      <a:pt x="4453" y="1021"/>
                      <a:pt x="4380" y="977"/>
                    </a:cubicBezTo>
                    <a:cubicBezTo>
                      <a:pt x="4160" y="883"/>
                      <a:pt x="3971" y="788"/>
                      <a:pt x="3750" y="725"/>
                    </a:cubicBezTo>
                    <a:cubicBezTo>
                      <a:pt x="3592" y="662"/>
                      <a:pt x="3466" y="568"/>
                      <a:pt x="3466" y="410"/>
                    </a:cubicBezTo>
                    <a:lnTo>
                      <a:pt x="346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638;p33">
            <a:extLst>
              <a:ext uri="{FF2B5EF4-FFF2-40B4-BE49-F238E27FC236}">
                <a16:creationId xmlns:a16="http://schemas.microsoft.com/office/drawing/2014/main" id="{39A7DF4A-0C7D-BEFD-DD79-88AFA751597A}"/>
              </a:ext>
            </a:extLst>
          </p:cNvPr>
          <p:cNvSpPr/>
          <p:nvPr/>
        </p:nvSpPr>
        <p:spPr>
          <a:xfrm rot="5400000">
            <a:off x="6242640" y="1788610"/>
            <a:ext cx="377400" cy="193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639;p33">
            <a:extLst>
              <a:ext uri="{FF2B5EF4-FFF2-40B4-BE49-F238E27FC236}">
                <a16:creationId xmlns:a16="http://schemas.microsoft.com/office/drawing/2014/main" id="{04CAB467-23D7-C92A-5609-7EFA9A5836B3}"/>
              </a:ext>
            </a:extLst>
          </p:cNvPr>
          <p:cNvSpPr txBox="1"/>
          <p:nvPr/>
        </p:nvSpPr>
        <p:spPr>
          <a:xfrm>
            <a:off x="5625096" y="2565310"/>
            <a:ext cx="1606800" cy="377400"/>
          </a:xfrm>
          <a:prstGeom prst="rect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800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5"/>
          <p:cNvSpPr/>
          <p:nvPr/>
        </p:nvSpPr>
        <p:spPr>
          <a:xfrm>
            <a:off x="1255162" y="1194476"/>
            <a:ext cx="1973370" cy="866999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Objects, fields, relatioships</a:t>
            </a:r>
            <a:endParaRPr sz="16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5915469" y="1194475"/>
            <a:ext cx="1973370" cy="86699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APIs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5" name="Google Shape;715;p3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MVC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3892632" y="1194475"/>
            <a:ext cx="1358736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Model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1255162" y="3567496"/>
            <a:ext cx="1973370" cy="866997"/>
          </a:xfrm>
          <a:prstGeom prst="roundRect">
            <a:avLst>
              <a:gd name="adj" fmla="val 50000"/>
            </a:avLst>
          </a:prstGeom>
          <a:solidFill>
            <a:srgbClr val="2F9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Flows, approvals, validation rules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4" name="Google Shape;724;p35"/>
          <p:cNvSpPr/>
          <p:nvPr/>
        </p:nvSpPr>
        <p:spPr>
          <a:xfrm>
            <a:off x="5907542" y="3567495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16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Apex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1255162" y="2399375"/>
            <a:ext cx="1973370" cy="866998"/>
          </a:xfrm>
          <a:prstGeom prst="roundRect">
            <a:avLst>
              <a:gd name="adj" fmla="val 5000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Apps, Pages, Actions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5915469" y="2380986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FC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Visualforce, LWC, Aura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" name="Google Shape;717;p35">
            <a:extLst>
              <a:ext uri="{FF2B5EF4-FFF2-40B4-BE49-F238E27FC236}">
                <a16:creationId xmlns:a16="http://schemas.microsoft.com/office/drawing/2014/main" id="{A0EDD9AA-1033-FD0C-607F-B45D84AF37BA}"/>
              </a:ext>
            </a:extLst>
          </p:cNvPr>
          <p:cNvSpPr/>
          <p:nvPr/>
        </p:nvSpPr>
        <p:spPr>
          <a:xfrm>
            <a:off x="3892631" y="2438021"/>
            <a:ext cx="1358737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View</a:t>
            </a:r>
            <a:endParaRPr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" name="Google Shape;717;p35">
            <a:extLst>
              <a:ext uri="{FF2B5EF4-FFF2-40B4-BE49-F238E27FC236}">
                <a16:creationId xmlns:a16="http://schemas.microsoft.com/office/drawing/2014/main" id="{7BFB89DF-241E-1989-A518-57B5172ECA8E}"/>
              </a:ext>
            </a:extLst>
          </p:cNvPr>
          <p:cNvSpPr/>
          <p:nvPr/>
        </p:nvSpPr>
        <p:spPr>
          <a:xfrm>
            <a:off x="3888668" y="3567495"/>
            <a:ext cx="1358738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" name="Google Shape;713;p35">
            <a:extLst>
              <a:ext uri="{FF2B5EF4-FFF2-40B4-BE49-F238E27FC236}">
                <a16:creationId xmlns:a16="http://schemas.microsoft.com/office/drawing/2014/main" id="{61B6CB95-E806-0D30-B738-71F5A36E6F6D}"/>
              </a:ext>
            </a:extLst>
          </p:cNvPr>
          <p:cNvSpPr/>
          <p:nvPr/>
        </p:nvSpPr>
        <p:spPr>
          <a:xfrm>
            <a:off x="1591946" y="743842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5" name="Google Shape;713;p35">
            <a:extLst>
              <a:ext uri="{FF2B5EF4-FFF2-40B4-BE49-F238E27FC236}">
                <a16:creationId xmlns:a16="http://schemas.microsoft.com/office/drawing/2014/main" id="{C8C0EC38-C9AC-42FE-7346-AFCB6A25D5C6}"/>
              </a:ext>
            </a:extLst>
          </p:cNvPr>
          <p:cNvSpPr/>
          <p:nvPr/>
        </p:nvSpPr>
        <p:spPr>
          <a:xfrm>
            <a:off x="6244325" y="748049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5"/>
          <p:cNvSpPr/>
          <p:nvPr/>
        </p:nvSpPr>
        <p:spPr>
          <a:xfrm rot="10800000" flipH="1">
            <a:off x="5239167" y="1621025"/>
            <a:ext cx="3175800" cy="31110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45"/>
          <p:cNvSpPr/>
          <p:nvPr/>
        </p:nvSpPr>
        <p:spPr>
          <a:xfrm flipH="1">
            <a:off x="729108" y="1347125"/>
            <a:ext cx="3175800" cy="30882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45"/>
          <p:cNvSpPr/>
          <p:nvPr/>
        </p:nvSpPr>
        <p:spPr>
          <a:xfrm>
            <a:off x="4562600" y="13471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2F9C80"/>
          </a:solidFill>
          <a:ln w="9525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45"/>
          <p:cNvSpPr/>
          <p:nvPr/>
        </p:nvSpPr>
        <p:spPr>
          <a:xfrm flipH="1">
            <a:off x="4230564" y="12380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4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No-Code vs Pro-Code</a:t>
            </a:r>
            <a:endParaRPr dirty="0"/>
          </a:p>
        </p:txBody>
      </p:sp>
      <p:sp>
        <p:nvSpPr>
          <p:cNvPr id="1365" name="Google Shape;1365;p45"/>
          <p:cNvSpPr txBox="1"/>
          <p:nvPr/>
        </p:nvSpPr>
        <p:spPr>
          <a:xfrm flipH="1">
            <a:off x="5952652" y="2224559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Flexibility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6" name="Google Shape;1366;p45"/>
          <p:cNvSpPr txBox="1"/>
          <p:nvPr/>
        </p:nvSpPr>
        <p:spPr>
          <a:xfrm flipH="1">
            <a:off x="5483538" y="20528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7" name="Google Shape;1367;p45"/>
          <p:cNvSpPr txBox="1"/>
          <p:nvPr/>
        </p:nvSpPr>
        <p:spPr>
          <a:xfrm>
            <a:off x="5612850" y="1475675"/>
            <a:ext cx="25245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9" name="Google Shape;1369;p45"/>
          <p:cNvSpPr txBox="1"/>
          <p:nvPr/>
        </p:nvSpPr>
        <p:spPr>
          <a:xfrm flipH="1">
            <a:off x="5952652" y="3247047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Pixel perfect UI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0" name="Google Shape;1370;p45"/>
          <p:cNvSpPr txBox="1"/>
          <p:nvPr/>
        </p:nvSpPr>
        <p:spPr>
          <a:xfrm flipH="1">
            <a:off x="5483538" y="30260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2" name="Google Shape;1372;p45"/>
          <p:cNvSpPr txBox="1"/>
          <p:nvPr/>
        </p:nvSpPr>
        <p:spPr>
          <a:xfrm flipH="1">
            <a:off x="5952652" y="4108013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Integrations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3" name="Google Shape;1373;p45"/>
          <p:cNvSpPr txBox="1"/>
          <p:nvPr/>
        </p:nvSpPr>
        <p:spPr>
          <a:xfrm flipH="1">
            <a:off x="5483538" y="39550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4" name="Google Shape;1374;p45"/>
          <p:cNvSpPr/>
          <p:nvPr/>
        </p:nvSpPr>
        <p:spPr>
          <a:xfrm rot="10800000">
            <a:off x="720227" y="42505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7BD9C1"/>
          </a:solidFill>
          <a:ln w="9525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45"/>
          <p:cNvSpPr/>
          <p:nvPr/>
        </p:nvSpPr>
        <p:spPr>
          <a:xfrm flipH="1">
            <a:off x="4230577" y="41414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45"/>
          <p:cNvSpPr txBox="1"/>
          <p:nvPr/>
        </p:nvSpPr>
        <p:spPr>
          <a:xfrm>
            <a:off x="1431756" y="4379075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5" name="Google Shape;1385;p45"/>
          <p:cNvSpPr txBox="1"/>
          <p:nvPr/>
        </p:nvSpPr>
        <p:spPr>
          <a:xfrm flipH="1">
            <a:off x="1431756" y="1828625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Faster than coding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6" name="Google Shape;1386;p45"/>
          <p:cNvSpPr txBox="1"/>
          <p:nvPr/>
        </p:nvSpPr>
        <p:spPr>
          <a:xfrm flipH="1">
            <a:off x="941088" y="15623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8" name="Google Shape;1388;p45"/>
          <p:cNvSpPr txBox="1"/>
          <p:nvPr/>
        </p:nvSpPr>
        <p:spPr>
          <a:xfrm flipH="1">
            <a:off x="1431756" y="2627387"/>
            <a:ext cx="1800454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Easy to maintain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9" name="Google Shape;1389;p45"/>
          <p:cNvSpPr txBox="1"/>
          <p:nvPr/>
        </p:nvSpPr>
        <p:spPr>
          <a:xfrm flipH="1">
            <a:off x="941088" y="25355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1" name="Google Shape;1391;p45"/>
          <p:cNvSpPr txBox="1"/>
          <p:nvPr/>
        </p:nvSpPr>
        <p:spPr>
          <a:xfrm flipH="1">
            <a:off x="1431756" y="3606838"/>
            <a:ext cx="1821951" cy="42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Automatic Updates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2" name="Google Shape;1392;p45"/>
          <p:cNvSpPr txBox="1"/>
          <p:nvPr/>
        </p:nvSpPr>
        <p:spPr>
          <a:xfrm flipH="1">
            <a:off x="941088" y="34645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e Sales Strategy by Slidesgo">
  <a:themeElements>
    <a:clrScheme name="Simple Light">
      <a:dk1>
        <a:srgbClr val="EEEEEE"/>
      </a:dk1>
      <a:lt1>
        <a:srgbClr val="FFFFFF"/>
      </a:lt1>
      <a:dk2>
        <a:srgbClr val="216755"/>
      </a:dk2>
      <a:lt2>
        <a:srgbClr val="2F9C80"/>
      </a:lt2>
      <a:accent1>
        <a:srgbClr val="594C6F"/>
      </a:accent1>
      <a:accent2>
        <a:srgbClr val="2FC09B"/>
      </a:accent2>
      <a:accent3>
        <a:srgbClr val="FF8B7B"/>
      </a:accent3>
      <a:accent4>
        <a:srgbClr val="B7B7B7"/>
      </a:accent4>
      <a:accent5>
        <a:srgbClr val="7BD9C1"/>
      </a:accent5>
      <a:accent6>
        <a:srgbClr val="C3FFF0"/>
      </a:accent6>
      <a:hlink>
        <a:srgbClr val="FFFE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47674</TotalTime>
  <Words>2368</Words>
  <Application>Microsoft Office PowerPoint</Application>
  <PresentationFormat>On-screen Show (16:9)</PresentationFormat>
  <Paragraphs>313</Paragraphs>
  <Slides>52</Slides>
  <Notes>37</Notes>
  <HiddenSlides>12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Source Sans Pro</vt:lpstr>
      <vt:lpstr>Cascadia Mono</vt:lpstr>
      <vt:lpstr>Arial</vt:lpstr>
      <vt:lpstr>Wingdings</vt:lpstr>
      <vt:lpstr>Hammersmith One</vt:lpstr>
      <vt:lpstr>Creative Sales Strategy by Slidesgo</vt:lpstr>
      <vt:lpstr>SQL</vt:lpstr>
      <vt:lpstr>Agenda</vt:lpstr>
      <vt:lpstr>What is a Database?</vt:lpstr>
      <vt:lpstr>Types of Databases</vt:lpstr>
      <vt:lpstr>SQL Evironment Setup</vt:lpstr>
      <vt:lpstr>Database Setup for Development</vt:lpstr>
      <vt:lpstr>Database Setup for Development</vt:lpstr>
      <vt:lpstr>SQL Starting Commands</vt:lpstr>
      <vt:lpstr>SQL Starting Commands</vt:lpstr>
      <vt:lpstr>SQL Challenge 1</vt:lpstr>
      <vt:lpstr>SQL Constraints</vt:lpstr>
      <vt:lpstr>SQL Sublanguages</vt:lpstr>
      <vt:lpstr>Database Design</vt:lpstr>
      <vt:lpstr>What is a Database Schema?</vt:lpstr>
      <vt:lpstr>Three-Schema Approach</vt:lpstr>
      <vt:lpstr>ERD vs UML</vt:lpstr>
      <vt:lpstr>External Level to Conceptual Level </vt:lpstr>
      <vt:lpstr>Entity Relationship Diagram</vt:lpstr>
      <vt:lpstr>Entity Relationship Diagram</vt:lpstr>
      <vt:lpstr>Complex Attributes</vt:lpstr>
      <vt:lpstr>Relationships</vt:lpstr>
      <vt:lpstr>Relationships</vt:lpstr>
      <vt:lpstr>Constraints on Binary Relationships</vt:lpstr>
      <vt:lpstr>Attributes of Relationship Types</vt:lpstr>
      <vt:lpstr>Database Normalization</vt:lpstr>
      <vt:lpstr>What is normalization &amp; 1rst Normal Form </vt:lpstr>
      <vt:lpstr>2nd Normal Form</vt:lpstr>
      <vt:lpstr>3rd Normal Form</vt:lpstr>
      <vt:lpstr>Data Mapping Algorithm</vt:lpstr>
      <vt:lpstr>Data Mapping Algorithm</vt:lpstr>
      <vt:lpstr>Data Mapping Algorithm</vt:lpstr>
      <vt:lpstr>Data Mapping Algorithm</vt:lpstr>
      <vt:lpstr>Data Mapping Algorithm</vt:lpstr>
      <vt:lpstr>We don’t always want normalization</vt:lpstr>
      <vt:lpstr>Common OLAP Schema Patterns</vt:lpstr>
      <vt:lpstr>Common OLAP Schema Patterns</vt:lpstr>
      <vt:lpstr>Common OLAP Schema Patterns</vt:lpstr>
      <vt:lpstr>Chinook DB</vt:lpstr>
      <vt:lpstr>POSTGRESQL</vt:lpstr>
      <vt:lpstr>POSTGRESQL UUID Support</vt:lpstr>
      <vt:lpstr>EF setup with SQL Server</vt:lpstr>
      <vt:lpstr>EF setup with SQL Server</vt:lpstr>
      <vt:lpstr>SQL Misc</vt:lpstr>
      <vt:lpstr>SQL Misc</vt:lpstr>
      <vt:lpstr>SQL Misc</vt:lpstr>
      <vt:lpstr>REST</vt:lpstr>
      <vt:lpstr>ASP.NET Week 3 Stuff</vt:lpstr>
      <vt:lpstr>ASP.NET Week 3 Stuff</vt:lpstr>
      <vt:lpstr>Multi-Tenant Architecture</vt:lpstr>
      <vt:lpstr>MVC</vt:lpstr>
      <vt:lpstr>MVC</vt:lpstr>
      <vt:lpstr>No-Code vs Pro-Code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17</cp:revision>
  <dcterms:modified xsi:type="dcterms:W3CDTF">2026-02-05T22:02:27Z</dcterms:modified>
</cp:coreProperties>
</file>