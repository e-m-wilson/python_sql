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1e524c83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31e524c83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31e524c8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31e524c83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31e524c83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31e524c83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31e524c83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31e524c83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1e524c8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31e524c8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31e524c8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31e524c8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31e524c83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31e524c83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31e524c83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31e524c83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31e524c83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31e524c83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31e524c83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31e524c83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Docker, Alembic, FastAPI, Logging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Docker</a:t>
            </a:r>
            <a:r>
              <a:rPr lang="en"/>
              <a:t> lets us package apps + its OS level environment into a reproducible box.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Those boxes are called </a:t>
            </a:r>
            <a:r>
              <a:rPr lang="en" b="1">
                <a:solidFill>
                  <a:schemeClr val="dk1"/>
                </a:solidFill>
              </a:rPr>
              <a:t>images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you run an </a:t>
            </a:r>
            <a:r>
              <a:rPr lang="en" b="1">
                <a:solidFill>
                  <a:schemeClr val="dk1"/>
                </a:solidFill>
              </a:rPr>
              <a:t>image</a:t>
            </a:r>
            <a:r>
              <a:rPr lang="en"/>
              <a:t> you get a </a:t>
            </a:r>
            <a:r>
              <a:rPr lang="en" b="1">
                <a:solidFill>
                  <a:schemeClr val="dk1"/>
                </a:solidFill>
              </a:rPr>
              <a:t>container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</a:t>
            </a:r>
            <a:r>
              <a:rPr lang="en" b="1">
                <a:solidFill>
                  <a:schemeClr val="dk1"/>
                </a:solidFill>
              </a:rPr>
              <a:t>Dockerfile</a:t>
            </a:r>
            <a:r>
              <a:rPr lang="en"/>
              <a:t> is a recipe for building </a:t>
            </a:r>
            <a:r>
              <a:rPr lang="en" b="1">
                <a:solidFill>
                  <a:schemeClr val="dk1"/>
                </a:solidFill>
              </a:rPr>
              <a:t>images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your version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175" y="2308175"/>
            <a:ext cx="2560750" cy="2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678000" y="2047375"/>
            <a:ext cx="37302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Python doesn’t do “LTS” releases.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38" y="2571744"/>
            <a:ext cx="3969725" cy="19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5376600" y="1792775"/>
            <a:ext cx="24579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Docker Hub: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Packages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471900" y="1794100"/>
            <a:ext cx="8222100" cy="3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Pyproject.toml new dependencies: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Sqlalchemy - maps python objects to database tables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Psycopg[binary] - driver to communicate with postressql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Sqlalchemy-utils - misc utilities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- managed db schema migrations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Python-dotenv - work with env variables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Fastapi - routes HTTP request to python code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Uvicorn - runs your web app and handles network traffic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Pydantic - provides serialization, DTO-like functionality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‘poetry run alembic init alembic’ to generate folders/files for migrations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vs Multi-Stage Dockerfiles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594625" y="22463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node:20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WORKDIR /app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. 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npm install &amp;&amp; npm run build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CMD ["npm", "start"]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4743750" y="2246350"/>
            <a:ext cx="34491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node:20 AS builder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WORKDIR /app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. 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npm install &amp;&amp; npm run build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node:20-slim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WORKDIR /app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--from=builder /app/dist ./dist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--from=builder /app/node_modules ./node_modules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CMD ["node", "dist/index.js"]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502125" y="1810300"/>
            <a:ext cx="82221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Ships Everything:                                           Only ships what’s needed: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Multi-Stage Image - Python App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339750" y="25717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1: builder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Install system deps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Install Poetry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Set PATH to Poetry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Turn off venv generation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Install Python dependencies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Add Alembic/uvicorn to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Copy source code/migrations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3528100" y="1823525"/>
            <a:ext cx="6897000" cy="29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python:3.12-slim AS builder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apt-get update &amp;&amp; apt-get install -y curl build-essential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curl -sSL https://install.python-poetry.org | python3 -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ENV PATH="/root/.local/bin:$PATH"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pyproject.toml poetry.lock /app/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poetry config virtualenvs.create false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 poetry install --without dev --no-interaction --no-ansi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ENV PATH="/usr/local/bin:/root/.local/bin:$PATH"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src /app/src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src/repl.py /app/repl.py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alembic.ini /app/alembic.ini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COPY alembic /app/alembic</a:t>
            </a:r>
            <a:endParaRPr sz="10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Multi-Stage Image - Python App</a:t>
            </a:r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3048625" y="2024750"/>
            <a:ext cx="64125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FROM python:3.12-slim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--from=builder /usr/local/lib/python3.12 /usr/local/lib/python3.12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--from=builder /app /app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--from=builder /usr/local/bin /usr/local/bin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ENV PYTHONUNBUFFERED=1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ENV PATH=”/usr/local/bin:/root/.local/bin:$PATH”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CMD ["uvicorn", "src.main:app", "--host", "0.0.0.0", "--port", "8000"]</a:t>
            </a:r>
            <a:endParaRPr sz="105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264250" y="2024750"/>
            <a:ext cx="26031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Stage 2: runtime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We start with clean Python image - no curl, no build tools, no poetry install script, much smaller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Copy only built artifacts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Python Packages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Source Code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Poetry Binary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Run the app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</a:t>
            </a: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Docker Compose</a:t>
            </a:r>
            <a:r>
              <a:rPr lang="en"/>
              <a:t> is a tool to define and run multi-container applications.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Spin up multiple containers at once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Define dependencies between services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Share environment variables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Manage volumes (persist data between restarts)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body" idx="4294967295"/>
          </p:nvPr>
        </p:nvSpPr>
        <p:spPr>
          <a:xfrm>
            <a:off x="92850" y="750750"/>
            <a:ext cx="53553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services: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app: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build: .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container_name: myapp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env_file: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.env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#volumes:  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# - .:/app 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depends_on: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db: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condition: service_healthy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ports: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"8000:8000"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command: ["uvicorn", "src.main:app", "--host", "0.0.0.0", "--port", "8000"]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5121175" y="802775"/>
            <a:ext cx="37662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db: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image: postgres:15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container_name: mydb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env_file: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.env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environment: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POSTGRES_USER: ${POSTGRES_USER}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POSTGRES_PASSWORD: ${POSTGRES_PASSWORD}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POSTGRES_DB: ${POSTGRES_DB}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ports: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"5432:5432"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volumes: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- postgres_data:/var/lib/postgresql/data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healthcheck: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test: ["CMD-SHELL", "pg_isready -U ${POSTGRES_USER} -d ${POSTGRES_DB}"]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interval: 5s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timeout: 5s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retries: 5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volumes: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postgres_data:</a:t>
            </a:r>
            <a:endParaRPr sz="1000">
              <a:solidFill>
                <a:srgbClr val="1F1F1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89875" y="81750"/>
            <a:ext cx="84807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Super Ugly Docker Compose Slide :) sorry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Migration / Build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800" y="2126400"/>
            <a:ext cx="60102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3038" y="2668375"/>
            <a:ext cx="62579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200825"/>
            <a:ext cx="8839200" cy="1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4988" y="4190000"/>
            <a:ext cx="5734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300" y="3677225"/>
            <a:ext cx="81153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2150700" y="1780375"/>
            <a:ext cx="467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Helpful Commands</a:t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427350" y="2238775"/>
            <a:ext cx="8289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upgrade &lt;revision&gt; = Applies migrations up to the specified revision. head applies all pending migrations.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downgrade &lt;revision&gt;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Rolls back migrations. Examples: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alembic downgrade -1 → step back 1 revision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alembic downgrade base → go back to the initial state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history = Shows the list of all migrations and their revision IDs.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current = Displays the current revision(s) applied to the database.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heads = Shows the latest revision(s) in the migration tree (useful if you have multiple heads/branches).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alembic branches = Lists any branching points in your migration history.</a:t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650" y="1991125"/>
            <a:ext cx="61626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6EA8-3D1D-792E-7FBC-B857BCEA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CE2BA-ADED-8B89-5954-62A1DCD94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Logs help us audit issues</a:t>
            </a:r>
          </a:p>
          <a:p>
            <a:pPr algn="ctr"/>
            <a:r>
              <a:rPr lang="en-US" dirty="0"/>
              <a:t>Logs help us audit events</a:t>
            </a:r>
          </a:p>
          <a:p>
            <a:pPr algn="ctr"/>
            <a:r>
              <a:rPr lang="en-US" dirty="0"/>
              <a:t>Logs may be required due to compliance</a:t>
            </a:r>
          </a:p>
          <a:p>
            <a:pPr algn="ctr"/>
            <a:r>
              <a:rPr lang="en-US" dirty="0"/>
              <a:t>Logs are a good practice</a:t>
            </a:r>
          </a:p>
          <a:p>
            <a:pPr algn="ctr"/>
            <a:r>
              <a:rPr lang="en-US" dirty="0"/>
              <a:t>We can print to files (not recommended) </a:t>
            </a:r>
          </a:p>
          <a:p>
            <a:pPr algn="ctr"/>
            <a:r>
              <a:rPr lang="en-US" dirty="0"/>
              <a:t>More common: logs print to stderr or </a:t>
            </a:r>
            <a:r>
              <a:rPr lang="en-US" dirty="0" err="1"/>
              <a:t>stdout</a:t>
            </a:r>
            <a:endParaRPr lang="en-US" dirty="0"/>
          </a:p>
          <a:p>
            <a:pPr algn="ctr"/>
            <a:r>
              <a:rPr lang="en-US" dirty="0" err="1"/>
              <a:t>Sys.stderr</a:t>
            </a:r>
            <a:r>
              <a:rPr lang="en-US" dirty="0"/>
              <a:t> = Pythons error output stream</a:t>
            </a:r>
          </a:p>
          <a:p>
            <a:pPr algn="ctr"/>
            <a:r>
              <a:rPr lang="en-US" dirty="0" err="1"/>
              <a:t>Sys.stdout</a:t>
            </a:r>
            <a:r>
              <a:rPr lang="en-US" dirty="0"/>
              <a:t> = Pythons normal output stream</a:t>
            </a:r>
          </a:p>
        </p:txBody>
      </p:sp>
    </p:spTree>
    <p:extLst>
      <p:ext uri="{BB962C8B-B14F-4D97-AF65-F5344CB8AC3E}">
        <p14:creationId xmlns:p14="http://schemas.microsoft.com/office/powerpoint/2010/main" val="51335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5A01-683C-1B25-C568-7D3B64ED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9F3E1-C615-551D-69A3-167AEBC92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4400" y="1919075"/>
            <a:ext cx="5259600" cy="2710200"/>
          </a:xfrm>
        </p:spPr>
        <p:txBody>
          <a:bodyPr>
            <a:normAutofit fontScale="92500"/>
          </a:bodyPr>
          <a:lstStyle/>
          <a:p>
            <a:r>
              <a:rPr lang="en-US" dirty="0"/>
              <a:t>logging_config.py – sets up our settings for log level and how logs actually print</a:t>
            </a:r>
          </a:p>
          <a:p>
            <a:r>
              <a:rPr lang="en-US" dirty="0"/>
              <a:t>Default Log Levels in Python logger:</a:t>
            </a:r>
          </a:p>
          <a:p>
            <a:pPr lvl="1"/>
            <a:r>
              <a:rPr lang="en-US" dirty="0"/>
              <a:t>DEBUG – detailed info, only for development</a:t>
            </a:r>
          </a:p>
          <a:p>
            <a:pPr lvl="1"/>
            <a:r>
              <a:rPr lang="en-US" dirty="0"/>
              <a:t>INFO – Confirmations things are working</a:t>
            </a:r>
          </a:p>
          <a:p>
            <a:pPr lvl="1"/>
            <a:r>
              <a:rPr lang="en-US" dirty="0"/>
              <a:t>WARNING – still working as expected, but indication something unexpected happened</a:t>
            </a:r>
          </a:p>
          <a:p>
            <a:pPr lvl="1"/>
            <a:r>
              <a:rPr lang="en-US" dirty="0"/>
              <a:t>ERROR – Due to a more serious issue, the app was not able to perform a function at all</a:t>
            </a:r>
          </a:p>
          <a:p>
            <a:pPr lvl="1"/>
            <a:r>
              <a:rPr lang="en-US" dirty="0"/>
              <a:t>CRITICAL – A serious error that may crash the entire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98E0B-7C1B-9FBD-D7F1-7DB69EE5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984" y="1919075"/>
            <a:ext cx="1447012" cy="30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98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4AB2-C619-911C-4C4C-34F7CD8A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logging_config.py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A80-FBC5-F01B-13A0-CF469AED8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900" y="2070275"/>
            <a:ext cx="3884100" cy="2710200"/>
          </a:xfrm>
        </p:spPr>
        <p:txBody>
          <a:bodyPr>
            <a:normAutofit/>
          </a:bodyPr>
          <a:lstStyle/>
          <a:p>
            <a:r>
              <a:rPr lang="en-US" sz="1200" dirty="0" err="1"/>
              <a:t>setup_logging</a:t>
            </a:r>
            <a:r>
              <a:rPr lang="en-US" sz="1200" dirty="0"/>
              <a:t>() – will only run once at startup</a:t>
            </a:r>
          </a:p>
          <a:p>
            <a:r>
              <a:rPr lang="en-US" sz="1200" dirty="0"/>
              <a:t>level=logging.INFO – means that only INFO messages and more severe will be captured</a:t>
            </a:r>
          </a:p>
          <a:p>
            <a:r>
              <a:rPr lang="en-US" sz="1200" dirty="0"/>
              <a:t>C-style string formatting is preferred for logs (lazy formatting performance boost)</a:t>
            </a:r>
          </a:p>
          <a:p>
            <a:r>
              <a:rPr lang="en-US" sz="1200" dirty="0"/>
              <a:t>%()s &lt;- ‘s’ format as string</a:t>
            </a:r>
          </a:p>
          <a:p>
            <a:r>
              <a:rPr lang="en-US" sz="1200" dirty="0"/>
              <a:t>There is also d=int, f=float, r=</a:t>
            </a:r>
            <a:r>
              <a:rPr lang="en-US" sz="1200" dirty="0" err="1"/>
              <a:t>repr</a:t>
            </a:r>
            <a:r>
              <a:rPr lang="en-US" sz="1200" dirty="0"/>
              <a:t>(), x=hex</a:t>
            </a:r>
          </a:p>
          <a:p>
            <a:r>
              <a:rPr lang="en-US" sz="1200" dirty="0"/>
              <a:t>Again, we SHOULD NOT print logs to files. Once our app is hosted, host providers typically read from </a:t>
            </a:r>
            <a:r>
              <a:rPr lang="en-US" sz="1200" dirty="0" err="1"/>
              <a:t>stdout</a:t>
            </a:r>
            <a:r>
              <a:rPr lang="en-US" sz="1200" dirty="0"/>
              <a:t> and stderr.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77ACA-E199-DE06-AB25-827C9BF53D8D}"/>
              </a:ext>
            </a:extLst>
          </p:cNvPr>
          <p:cNvSpPr txBox="1"/>
          <p:nvPr/>
        </p:nvSpPr>
        <p:spPr>
          <a:xfrm>
            <a:off x="3816000" y="2150149"/>
            <a:ext cx="5252100" cy="2248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setup_logging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basicConfig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asctime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)s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levelname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)s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%(name)s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%(message)s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filename='app.log'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</p:spTree>
    <p:extLst>
      <p:ext uri="{BB962C8B-B14F-4D97-AF65-F5344CB8AC3E}">
        <p14:creationId xmlns:p14="http://schemas.microsoft.com/office/powerpoint/2010/main" val="3353594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213F-FCB4-9A6A-9BDB-468784A6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our setup file (main.py)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380F9-D39E-ADDE-9074-8F626F727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0" y="1918202"/>
            <a:ext cx="4763165" cy="523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64198F-FBD2-CC9D-9ACC-48823BFC4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73" y="2656211"/>
            <a:ext cx="3953427" cy="1095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AF0FFA-EC2E-F42F-0395-5B5319FE7F3C}"/>
              </a:ext>
            </a:extLst>
          </p:cNvPr>
          <p:cNvSpPr txBox="1"/>
          <p:nvPr/>
        </p:nvSpPr>
        <p:spPr>
          <a:xfrm>
            <a:off x="5387882" y="1918202"/>
            <a:ext cx="35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setup_logging</a:t>
            </a:r>
            <a:r>
              <a:rPr lang="en-US" dirty="0"/>
              <a:t>() is only called once!</a:t>
            </a:r>
          </a:p>
          <a:p>
            <a:r>
              <a:rPr lang="en-US" dirty="0"/>
              <a:t>But we initiate loggers for each module!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5F01ED-2FAA-F7D1-BFC0-791201586529}"/>
              </a:ext>
            </a:extLst>
          </p:cNvPr>
          <p:cNvSpPr txBox="1"/>
          <p:nvPr/>
        </p:nvSpPr>
        <p:spPr>
          <a:xfrm>
            <a:off x="4696857" y="2775388"/>
            <a:ext cx="4137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__name__ gets resolved to the module location. Each module gets its own copy (this gives us flexibility later to control what log levels print for each module)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1709A4-33AA-6E17-9A73-EB2AFE317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62" y="4544625"/>
            <a:ext cx="5978838" cy="3616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D4FBC9-3E9A-7A27-C3F8-F2A0AD827792}"/>
              </a:ext>
            </a:extLst>
          </p:cNvPr>
          <p:cNvSpPr txBox="1"/>
          <p:nvPr/>
        </p:nvSpPr>
        <p:spPr>
          <a:xfrm>
            <a:off x="6722518" y="4125015"/>
            <a:ext cx="2421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 automatically shows WHERE it came from!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30D23A-7777-F5CC-70BF-BB7839FBD435}"/>
              </a:ext>
            </a:extLst>
          </p:cNvPr>
          <p:cNvCxnSpPr/>
          <p:nvPr/>
        </p:nvCxnSpPr>
        <p:spPr>
          <a:xfrm flipH="1">
            <a:off x="6242400" y="4386625"/>
            <a:ext cx="410400" cy="15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8FEB7A1-3167-863D-5B12-6CF27455D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62" y="4084977"/>
            <a:ext cx="5978838" cy="27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22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8FC6-12A2-345E-8B7E-374503F4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7D201-B2EC-6D1D-05C3-4056C4350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4400" y="1919075"/>
            <a:ext cx="3639600" cy="2710200"/>
          </a:xfrm>
        </p:spPr>
        <p:txBody>
          <a:bodyPr/>
          <a:lstStyle/>
          <a:p>
            <a:r>
              <a:rPr lang="en-US" dirty="0"/>
              <a:t>The service layer is responsible for checking and handling known business exceptions, NOT DOMAIN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42CE7-0CD4-A8F0-5AB1-CF6A7FBD0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799" y="2155102"/>
            <a:ext cx="2695619" cy="1040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3C1C2E-0C13-6370-FA5E-3A7ABFC3B3F0}"/>
              </a:ext>
            </a:extLst>
          </p:cNvPr>
          <p:cNvSpPr txBox="1"/>
          <p:nvPr/>
        </p:nvSpPr>
        <p:spPr>
          <a:xfrm>
            <a:off x="535318" y="1765186"/>
            <a:ext cx="4036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 Exceptions in </a:t>
            </a:r>
            <a:r>
              <a:rPr lang="en-US" dirty="0" err="1"/>
              <a:t>src</a:t>
            </a:r>
            <a:r>
              <a:rPr lang="en-US" dirty="0"/>
              <a:t>/domain/exceptions.py: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EDFEE6-DCA8-B5FF-F323-C45DA95C2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00" y="3558310"/>
            <a:ext cx="5205600" cy="12827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89C9D-EE4D-5693-3A61-5FE13DDEF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680" y="3375715"/>
            <a:ext cx="2982520" cy="158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92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C38C-3168-4FBC-3148-EE2D976F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HTTPExceptions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1D0C7-F6D2-0A80-CFC1-6DB2CA2D6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64" y="2035181"/>
            <a:ext cx="6249272" cy="266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F85624-6D37-6C0A-3A80-0EF2FF1BA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50" y="2435374"/>
            <a:ext cx="5083200" cy="2501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56BC88-8E35-58F0-F3B4-D1325E67A2D3}"/>
              </a:ext>
            </a:extLst>
          </p:cNvPr>
          <p:cNvSpPr txBox="1"/>
          <p:nvPr/>
        </p:nvSpPr>
        <p:spPr>
          <a:xfrm>
            <a:off x="5738400" y="2498400"/>
            <a:ext cx="3168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The service layer throws exceptions if needed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These are caught here at our endpoint and then:</a:t>
            </a:r>
          </a:p>
          <a:p>
            <a:pPr marL="285750" lvl="3" indent="-285750">
              <a:buFontTx/>
              <a:buChar char="-"/>
            </a:pPr>
            <a:r>
              <a:rPr lang="en-US" dirty="0"/>
              <a:t>Logged</a:t>
            </a:r>
          </a:p>
          <a:p>
            <a:pPr marL="285750" lvl="3" indent="-285750">
              <a:buFontTx/>
              <a:buChar char="-"/>
            </a:pPr>
            <a:r>
              <a:rPr lang="en-US" dirty="0" err="1"/>
              <a:t>HTTPException</a:t>
            </a:r>
            <a:r>
              <a:rPr lang="en-US" dirty="0"/>
              <a:t> is raised to let the user know and not crash our app</a:t>
            </a:r>
          </a:p>
        </p:txBody>
      </p:sp>
    </p:spTree>
    <p:extLst>
      <p:ext uri="{BB962C8B-B14F-4D97-AF65-F5344CB8AC3E}">
        <p14:creationId xmlns:p14="http://schemas.microsoft.com/office/powerpoint/2010/main" val="1239486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AFBB-BD54-1D24-5CA0-5017A998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Global Exception Handlers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D1E566-8923-C3D2-E192-99B4C9E22A6D}"/>
              </a:ext>
            </a:extLst>
          </p:cNvPr>
          <p:cNvSpPr txBox="1"/>
          <p:nvPr/>
        </p:nvSpPr>
        <p:spPr>
          <a:xfrm>
            <a:off x="97200" y="2911887"/>
            <a:ext cx="4572000" cy="188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.exception_handler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http_exception_handler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 Exception occurred."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safe to return detail here - this is intentional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"detail"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detail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1ED84-B685-4496-8140-8C04B7054DC6}"/>
              </a:ext>
            </a:extLst>
          </p:cNvPr>
          <p:cNvSpPr txBox="1"/>
          <p:nvPr/>
        </p:nvSpPr>
        <p:spPr>
          <a:xfrm>
            <a:off x="4474800" y="2921762"/>
            <a:ext cx="4572000" cy="187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.exception_handler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global_exception_handler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exc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"Unhandled exception"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here we give a vague message; we are NOT exposing execution details to the client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"detail"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"Internal server error"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149CB-E140-7B3A-E5E9-DB27001061AA}"/>
              </a:ext>
            </a:extLst>
          </p:cNvPr>
          <p:cNvSpPr txBox="1"/>
          <p:nvPr/>
        </p:nvSpPr>
        <p:spPr>
          <a:xfrm>
            <a:off x="147600" y="1813719"/>
            <a:ext cx="865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ORDER MATTERS – </a:t>
            </a:r>
            <a:r>
              <a:rPr lang="en-US" sz="1200" dirty="0" err="1"/>
              <a:t>HTTPException</a:t>
            </a:r>
            <a:r>
              <a:rPr lang="en-US" sz="1200" dirty="0"/>
              <a:t> handler is DECLARED FIRST in main.py. MORE SPECIFIC &gt; MORE GENERAL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3C63A9-3AD7-EFD8-D6DB-8ADC8D9B7896}"/>
              </a:ext>
            </a:extLst>
          </p:cNvPr>
          <p:cNvSpPr txBox="1"/>
          <p:nvPr/>
        </p:nvSpPr>
        <p:spPr>
          <a:xfrm>
            <a:off x="97200" y="2665666"/>
            <a:ext cx="374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This catches all the </a:t>
            </a:r>
            <a:r>
              <a:rPr lang="en-US" sz="1000" dirty="0" err="1"/>
              <a:t>HTTPExceptions</a:t>
            </a:r>
            <a:r>
              <a:rPr lang="en-US" sz="1000" dirty="0"/>
              <a:t> we raise, and handles it: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9975F9-BAD5-F863-0714-A335F1DD4533}"/>
              </a:ext>
            </a:extLst>
          </p:cNvPr>
          <p:cNvSpPr txBox="1"/>
          <p:nvPr/>
        </p:nvSpPr>
        <p:spPr>
          <a:xfrm>
            <a:off x="4474800" y="2660728"/>
            <a:ext cx="374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This catches all UNEXPECTED and UNKNOWN exceptions:</a:t>
            </a:r>
          </a:p>
        </p:txBody>
      </p:sp>
    </p:spTree>
    <p:extLst>
      <p:ext uri="{BB962C8B-B14F-4D97-AF65-F5344CB8AC3E}">
        <p14:creationId xmlns:p14="http://schemas.microsoft.com/office/powerpoint/2010/main" val="4255234990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1531</Words>
  <Application>Microsoft Office PowerPoint</Application>
  <PresentationFormat>On-screen Show (16:9)</PresentationFormat>
  <Paragraphs>198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Roboto</vt:lpstr>
      <vt:lpstr>Courier New</vt:lpstr>
      <vt:lpstr>Consolas</vt:lpstr>
      <vt:lpstr>Arial</vt:lpstr>
      <vt:lpstr>Material</vt:lpstr>
      <vt:lpstr>Docker, Alembic, FastAPI, Logging</vt:lpstr>
      <vt:lpstr>Docker</vt:lpstr>
      <vt:lpstr>Consider your version</vt:lpstr>
      <vt:lpstr>Packages</vt:lpstr>
      <vt:lpstr>Single vs Multi-Stage Dockerfiles</vt:lpstr>
      <vt:lpstr>Multi-Stage Image - Python App</vt:lpstr>
      <vt:lpstr>Multi-Stage Image - Python App</vt:lpstr>
      <vt:lpstr>Docker Compose</vt:lpstr>
      <vt:lpstr>PowerPoint Presentation</vt:lpstr>
      <vt:lpstr>First Migration / Build</vt:lpstr>
      <vt:lpstr>Other Helpful Commands</vt:lpstr>
      <vt:lpstr>Logging</vt:lpstr>
      <vt:lpstr>Logging Structure</vt:lpstr>
      <vt:lpstr>logging_config.py</vt:lpstr>
      <vt:lpstr>Initializing our setup file (main.py)</vt:lpstr>
      <vt:lpstr>Exceptions</vt:lpstr>
      <vt:lpstr>FastAPI HTTPExceptions</vt:lpstr>
      <vt:lpstr>FastAPI Global Exception Handlers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Wilson</cp:lastModifiedBy>
  <cp:revision>1</cp:revision>
  <dcterms:modified xsi:type="dcterms:W3CDTF">2026-02-12T15:13:34Z</dcterms:modified>
</cp:coreProperties>
</file>